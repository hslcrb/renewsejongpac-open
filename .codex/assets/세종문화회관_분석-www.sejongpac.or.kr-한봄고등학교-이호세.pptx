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4"/>
  </p:notesMasterIdLst>
  <p:sldIdLst>
    <p:sldId id="256" r:id="rId2"/>
    <p:sldId id="29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97" r:id="rId22"/>
    <p:sldId id="274" r:id="rId23"/>
    <p:sldId id="293" r:id="rId24"/>
    <p:sldId id="276" r:id="rId25"/>
    <p:sldId id="291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8" r:id="rId34"/>
    <p:sldId id="284" r:id="rId35"/>
    <p:sldId id="285" r:id="rId36"/>
    <p:sldId id="286" r:id="rId37"/>
    <p:sldId id="292" r:id="rId38"/>
    <p:sldId id="287" r:id="rId39"/>
    <p:sldId id="288" r:id="rId40"/>
    <p:sldId id="289" r:id="rId41"/>
    <p:sldId id="290" r:id="rId42"/>
    <p:sldId id="295" r:id="rId43"/>
    <p:sldId id="296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7" r:id="rId55"/>
    <p:sldId id="309" r:id="rId56"/>
    <p:sldId id="311" r:id="rId57"/>
    <p:sldId id="312" r:id="rId58"/>
    <p:sldId id="313" r:id="rId59"/>
    <p:sldId id="314" r:id="rId60"/>
    <p:sldId id="315" r:id="rId61"/>
    <p:sldId id="316" r:id="rId62"/>
    <p:sldId id="318" r:id="rId63"/>
  </p:sldIdLst>
  <p:sldSz cx="12192000" cy="6858000"/>
  <p:notesSz cx="6858000" cy="9144000"/>
  <p:embeddedFontLst>
    <p:embeddedFont>
      <p:font typeface="PKS 붓글체" panose="00000400000000000000" pitchFamily="2" charset="-127"/>
      <p:regular r:id="rId65"/>
    </p:embeddedFont>
    <p:embeddedFont>
      <p:font typeface="PKS 붓글체-가는" panose="00000400000000000000" pitchFamily="2" charset="-127"/>
      <p:regular r:id="rId66"/>
    </p:embeddedFont>
    <p:embeddedFont>
      <p:font typeface="PKS 붓글체-굵은" panose="00000400000000000000" pitchFamily="2" charset="-127"/>
      <p:regular r:id="rId67"/>
    </p:embeddedFont>
    <p:embeddedFont>
      <p:font typeface="PKS 장고직체-가는" panose="00000400000000000000" pitchFamily="2" charset="-127"/>
      <p:regular r:id="rId68"/>
    </p:embeddedFont>
    <p:embeddedFont>
      <p:font typeface="PKS 제목명조체" panose="00000400000000000000" pitchFamily="2" charset="-127"/>
      <p:regular r:id="rId69"/>
    </p:embeddedFont>
    <p:embeddedFont>
      <p:font typeface="PKS 흘림체-흑" panose="00000400000000000000" pitchFamily="2" charset="-127"/>
      <p:regular r:id="rId70"/>
    </p:embeddedFont>
    <p:embeddedFont>
      <p:font typeface="PnPCheonRiMaChe LB" panose="02010600000101010101" pitchFamily="2" charset="-120"/>
      <p:regular r:id="rId71"/>
    </p:embeddedFont>
    <p:embeddedFont>
      <p:font typeface="PnPCheonRiMaChe SB" panose="02010600000101010101" pitchFamily="2" charset="-120"/>
      <p:regular r:id="rId72"/>
    </p:embeddedFont>
    <p:embeddedFont>
      <p:font typeface="PnPCheonRiMaChe UB" panose="02010600000101010101" pitchFamily="2" charset="-120"/>
      <p:regular r:id="rId73"/>
    </p:embeddedFont>
    <p:embeddedFont>
      <p:font typeface="맑은 고딕" panose="020B0503020000020004" pitchFamily="50" charset="-127"/>
      <p:regular r:id="rId74"/>
      <p:bold r:id="rId75"/>
    </p:embeddedFont>
    <p:embeddedFont>
      <p:font typeface="페이퍼로지 6 SemiBold" pitchFamily="2" charset="-127"/>
      <p:bold r:id="rId7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37C"/>
    <a:srgbClr val="ECCF20"/>
    <a:srgbClr val="FFEC02"/>
    <a:srgbClr val="FFFFFF"/>
    <a:srgbClr val="CE5DA1"/>
    <a:srgbClr val="FFAE0D"/>
    <a:srgbClr val="F6E998"/>
    <a:srgbClr val="D9D9D9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3400" autoAdjust="0"/>
  </p:normalViewPr>
  <p:slideViewPr>
    <p:cSldViewPr snapToGrid="0">
      <p:cViewPr varScale="1">
        <p:scale>
          <a:sx n="100" d="100"/>
          <a:sy n="100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A5739-6ABF-42A2-A332-0CA203AD6F7F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9D41A-A6BC-4FEE-9185-8F8B76A052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0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93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3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5B43-9390-EDAF-CAA5-973B5A88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CC4E20-EE28-178B-97B9-30EB40004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23CE2B-BF6E-ABE7-4198-9F329BC5F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C9F9B0-707E-F008-2601-8DD829C53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460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340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3003-29C8-0894-26A1-7371A9A8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9ACFC-93C6-423A-754C-1B2E8383E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349D95-A93B-06E1-910F-3B80043F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AD8C09-6934-F569-4EB3-7D1D21772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53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AA04-527E-C18B-4AEB-9A07C348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C0700D-A82D-01FF-2ED8-3D286AD1C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8F084F-4B48-ED93-B168-4E5670E4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41782-4228-508E-2FE3-05A65C83D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59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9E94-2927-408F-CE98-7BD721B3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9BFBBE-B7E8-E637-74C6-40E0205F0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A367AA-7A87-BA57-DEE1-29C653A74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0E37E-E203-559B-31FF-959897F9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00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3A8E0-7BE8-0BE4-AD17-FDC88905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6B1183-45F4-E4F2-03E4-983FD66E3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7F24C2-0EC1-1623-2153-E8E4A3BB4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E7045-7862-10BD-590C-0BE18DCA6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09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EE4B-53C0-B51B-D161-12D131D6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28962-75F1-CF78-8A9A-73A14B5AF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AA6286-59B2-87CA-D0E7-2DEABB9B4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56DF3-13EE-42FB-1D5C-E29533130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465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B9E4-DA3A-66C7-B5AF-BFB7E9A8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8B0749-A97E-35DC-E431-9486F82DB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3DFF32-5CE6-8944-B163-CCDE64BF4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78429-27B5-8CC4-AA50-D84312631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9D41A-A6BC-4FEE-9185-8F8B76A052D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8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D1271-CEB6-2364-0041-6D2442078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9BB6D5-17F2-44A8-92C1-978B60F98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5BC60-539D-27C7-5041-90EA0120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981BF-DF76-B01A-6F68-8AB7E145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DCACD-B4F2-77B6-F054-976400FE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7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375BD-BA6B-31CC-CFEC-BE0CF572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EF537-C8E7-5459-550A-4CF6BFC33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1BD060-427E-6D65-BF34-1027DE2E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B21316-131D-A1A8-9891-3FF55A0C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CBF05-A9CF-8FE3-FAF7-44C7FBF9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93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27531-70D5-4997-BB0C-E8B59296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5E3182-999C-8825-3066-88DC2B2B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3FBF5-78FE-BB0E-B87B-0C6C5B7F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48962-9592-B153-8FD1-BC7FC96A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EC89D-3B9B-7CF7-B6C9-71DDB7E1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08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CCE0-A020-7E1D-D971-5958BB1C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6E5D1-00AC-38AC-FFC5-B0D346741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E31437-94FA-4438-A926-824D43BD0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58D348-389F-54D2-5532-F1396C2A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CB7F9C-542B-A7FA-89D5-8F58CF60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FDCFC0-C3CD-108E-F76D-8CD7E336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30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C2EC6-9415-7276-2284-883790C5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E7BE18-E7BF-C027-DF38-78D72FFF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0A8759-15A0-9A5D-4503-625418EA4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A293B5-9850-2521-FC23-BA9E70AB2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2F7336-5C00-BE9F-CD39-F7A3D1E7C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0CEB8B-D504-A20C-AEAB-60C2F2F8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29DC02-CA8A-C5B0-B644-99698BAC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D1F339-991D-D106-2A16-24AEC021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34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9A635-96CD-9DDD-3EC2-671E115D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E46F9B-3388-31C4-A7F8-FA7850E3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DBD3C3-9222-2DA3-3488-2926FE64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96EDB6-42CD-202B-DB80-72E82374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7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BA781B-4108-BFEC-3C74-595A257F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E02D90-7E7B-658F-1C04-6CE327B3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D8E3-33C2-EAFD-53FF-C6243EC4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48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74AC-58C9-AD81-E2F6-A34BD6DE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77E093-D8A7-A182-F182-597396E3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EB61B3-6C54-07DB-34C5-97AF02570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EA4E51-6D8E-CB59-028A-0079212C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FBC7F7-A5BD-DAAB-EB48-859B95D8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B48494-350E-3577-5471-52E82BE5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43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1E073-9281-FF90-5F69-A208A54C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ABCCB9-B488-E39C-2546-363B23FC6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26F668-CCDC-1AEE-17FF-06FEECF6A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CB83AB-9CA0-F83E-C0FD-2C9A5420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42130E-EC89-1580-E0CA-95B5F0AF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26E7F4-E258-0C3A-893F-ABC8731F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1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62C52-10D7-DD08-2B61-404C9EF3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A507D4-D516-D268-6C21-A4069C8F0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B9477-E1DD-A4AE-7887-BEBED39A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6FEB6-4F71-9B03-0A68-8BE87981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013D04-E862-4710-A250-9CEEA79B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90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B76221-DF9F-54C0-ECD9-4E5914C83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FE5A1-378E-7B48-A542-249D30F45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0D735-943A-7785-7D6D-C5E3A967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9D6DB2-8AD2-24CF-A502-3FA0C24D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4A6CC-853C-29CC-C7F4-600663B4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67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3CF39F-DF25-F52F-834A-4A82AD15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5B17B8-3E6B-1627-D615-ECBA20E3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D25037-0D89-6478-DB63-BC11C1EAA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B9C7B-2CD0-49D3-B624-3DB4351D860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A685CE-68DE-F2B0-A5F6-200A675B7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65ADE-B43E-73E5-141F-2E3D707E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B5CA8-EDB1-46F8-893D-C0F3A0E2C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uarttheater.or.kr/" TargetMode="External"/><Relationship Id="rId2" Type="http://schemas.openxmlformats.org/officeDocument/2006/relationships/hyperlink" Target="http://www.moduarttheater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.sv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://www.pams.or.kr/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hyperlink" Target="http://www.gangjin.or.kr/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ltheater-daehakro.com/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://www.goodai-global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hyperlink" Target="https://youtu.be/8ucoskmA1yg?si=Dzr7-EQP1A7uqqOH" TargetMode="Externa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8ucoskmA1yg?si=Dzr7-EQP1A7uqqO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dweb.co.kr/sub/view.asp?Txt_fgbn=5&amp;str_no=27341" TargetMode="External"/><Relationship Id="rId13" Type="http://schemas.openxmlformats.org/officeDocument/2006/relationships/hyperlink" Target="https://www.gdweb.co.kr/sub/view.asp?Txt_fgbn=5&amp;str_no=27108" TargetMode="External"/><Relationship Id="rId3" Type="http://schemas.openxmlformats.org/officeDocument/2006/relationships/image" Target="../media/image41.png"/><Relationship Id="rId7" Type="http://schemas.openxmlformats.org/officeDocument/2006/relationships/hyperlink" Target="https://www.gdweb.co.kr/sub/view.asp?Txt_fgbn=5&amp;str_no=27269" TargetMode="External"/><Relationship Id="rId12" Type="http://schemas.openxmlformats.org/officeDocument/2006/relationships/hyperlink" Target="https://www.gdweb.co.kr/sub/view.asp?Txt_fgbn=5&amp;str_no=2714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dweb.co.kr/sub/view.asp?Txt_fgbn=5&amp;str_no=27294" TargetMode="External"/><Relationship Id="rId11" Type="http://schemas.openxmlformats.org/officeDocument/2006/relationships/hyperlink" Target="https://www.gdweb.co.kr/sub/view.asp?Txt_fgbn=5&amp;str_no=27119" TargetMode="External"/><Relationship Id="rId5" Type="http://schemas.openxmlformats.org/officeDocument/2006/relationships/image" Target="../media/image43.png"/><Relationship Id="rId10" Type="http://schemas.openxmlformats.org/officeDocument/2006/relationships/hyperlink" Target="https://www.gdweb.co.kr/sub/view.asp?Txt_fgbn=5&amp;str_no=27060" TargetMode="External"/><Relationship Id="rId4" Type="http://schemas.openxmlformats.org/officeDocument/2006/relationships/image" Target="../media/image42.png"/><Relationship Id="rId9" Type="http://schemas.openxmlformats.org/officeDocument/2006/relationships/hyperlink" Target="https://www.gdweb.co.kr/sub/view.asp?Txt_fgbn=5&amp;str_no=26937" TargetMode="External"/><Relationship Id="rId14" Type="http://schemas.openxmlformats.org/officeDocument/2006/relationships/hyperlink" Target="https://www.gdweb.co.kr/sub/view.asp?Txt_fgbn=5&amp;str_no=27281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j4dplex.com/" TargetMode="External"/><Relationship Id="rId3" Type="http://schemas.openxmlformats.org/officeDocument/2006/relationships/hyperlink" Target="http://www.wonkangmetal.co.kr/" TargetMode="External"/><Relationship Id="rId7" Type="http://schemas.openxmlformats.org/officeDocument/2006/relationships/hyperlink" Target="https://beauwell.kr/" TargetMode="External"/><Relationship Id="rId2" Type="http://schemas.openxmlformats.org/officeDocument/2006/relationships/hyperlink" Target="https://ktiec.ut.ac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as.wooribank.com/biz/main" TargetMode="External"/><Relationship Id="rId5" Type="http://schemas.openxmlformats.org/officeDocument/2006/relationships/hyperlink" Target="https://www.mnetplus.world/ko" TargetMode="External"/><Relationship Id="rId4" Type="http://schemas.openxmlformats.org/officeDocument/2006/relationships/hyperlink" Target="https://spot.wooribank.com/pot/Dream?withyou=bp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btour.co.kr/" TargetMode="External"/><Relationship Id="rId2" Type="http://schemas.openxmlformats.org/officeDocument/2006/relationships/hyperlink" Target="https://www.president.go.kr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uk.ac.kr/KR/cms/FrCmnCon/index.do?MENU_ID=1040&amp;CONTENTS_NO=1#;" TargetMode="External"/><Relationship Id="rId7" Type="http://schemas.openxmlformats.org/officeDocument/2006/relationships/hyperlink" Target="https://www.lottehotel.com/resort-artvillas/ko" TargetMode="External"/><Relationship Id="rId2" Type="http://schemas.openxmlformats.org/officeDocument/2006/relationships/hyperlink" Target="https://www.monkeytravel.com/th/ko/golf/golf/product/product_detail.php?product_id=1076735660&amp;checkInDate=2026-09-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ngjin.or.kr/prog/fclt/gctf/sub03_01/mf/view.do?fcltNo=1" TargetMode="External"/><Relationship Id="rId5" Type="http://schemas.openxmlformats.org/officeDocument/2006/relationships/hyperlink" Target="https://council.chuncheon.go.kr/basic/main.do" TargetMode="External"/><Relationship Id="rId4" Type="http://schemas.openxmlformats.org/officeDocument/2006/relationships/hyperlink" Target="https://golf.sbs.co.kr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yundaimotorgroup.com/ko/main/mainRecommend" TargetMode="External"/><Relationship Id="rId7" Type="http://schemas.openxmlformats.org/officeDocument/2006/relationships/hyperlink" Target="https://www.ybtour.co.kr/" TargetMode="External"/><Relationship Id="rId2" Type="http://schemas.openxmlformats.org/officeDocument/2006/relationships/hyperlink" Target="https://neworigin.co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lius.com/" TargetMode="External"/><Relationship Id="rId5" Type="http://schemas.openxmlformats.org/officeDocument/2006/relationships/hyperlink" Target="https://www.greencar.co.kr/" TargetMode="External"/><Relationship Id="rId4" Type="http://schemas.openxmlformats.org/officeDocument/2006/relationships/hyperlink" Target="https://www.ncloud.com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uk.ac.kr/KR/index.do" TargetMode="External"/><Relationship Id="rId2" Type="http://schemas.openxmlformats.org/officeDocument/2006/relationships/hyperlink" Target="https://www.ewideplu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ottehotel.com/resort-artvillas/ko" TargetMode="External"/><Relationship Id="rId5" Type="http://schemas.openxmlformats.org/officeDocument/2006/relationships/hyperlink" Target="https://www.ybtour.co.kr/" TargetMode="External"/><Relationship Id="rId4" Type="http://schemas.openxmlformats.org/officeDocument/2006/relationships/hyperlink" Target="https://theloungemembers.com/renew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coflow.com/kr/" TargetMode="External"/><Relationship Id="rId2" Type="http://schemas.openxmlformats.org/officeDocument/2006/relationships/hyperlink" Target="https://newbird.co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kakaobank.com/home" TargetMode="External"/><Relationship Id="rId5" Type="http://schemas.openxmlformats.org/officeDocument/2006/relationships/hyperlink" Target="https://global6kforwater.com/" TargetMode="External"/><Relationship Id="rId4" Type="http://schemas.openxmlformats.org/officeDocument/2006/relationships/hyperlink" Target="https://www.nhncloud.com/kr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coflow.com/kr/" TargetMode="External"/><Relationship Id="rId2" Type="http://schemas.openxmlformats.org/officeDocument/2006/relationships/hyperlink" Target="https://toss.im/impac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alent.skhynix.com/hub/ko/home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ident.go.kr/national-vision" TargetMode="External"/><Relationship Id="rId2" Type="http://schemas.openxmlformats.org/officeDocument/2006/relationships/hyperlink" Target="https://www.finsightlab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cbiopharma.com/kor/index.do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nsightlabs.co.kr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design/zV7W4fwibxHei8zJwqJwWe/%EB%B2%84%EA%B1%B0%ED%82%B9-%EB%A1%9C%EA%B7%B8%EC%9D%B8-%EB%94%94%EC%9E%90%EC%9D%B8?node-id=0-1&amp;t=pHJVRe3OmoHXDBl7-1" TargetMode="External"/><Relationship Id="rId3" Type="http://schemas.openxmlformats.org/officeDocument/2006/relationships/hyperlink" Target="https://chatgpt.com/g/g-p-6a86509e3984819183e717d88ae7c868-ihose-webkontenceu-silmuyangseong-webseobiseu-gihoeg-dijain-peobeulrising-ihose-webchat/shared/c/6ab31e1c-cc1c-83ee-93d3-5182ea03852c?owner_user_id=user-eVDkR6xbVQyVZAtRVBVsfnko" TargetMode="External"/><Relationship Id="rId7" Type="http://schemas.openxmlformats.org/officeDocument/2006/relationships/hyperlink" Target="https://www.figma.com/design/jyY3Q9JJUevEJFEsEokE4p/%EC%BB%B4%ED%8F%AC%EB%84%8C%ED%8A%B8---Figma-Feature-Practice?node-id=0-1&amp;t=XTwTECN1sIlIKC1G-1" TargetMode="External"/><Relationship Id="rId2" Type="http://schemas.openxmlformats.org/officeDocument/2006/relationships/hyperlink" Target="https://studiokyle.kr/main/index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gma.com/board/zfSYLSrl68L2yzff3rveZG/%EC%99%80%EC%9D%B4%EC%96%B4%ED%94%84%EB%A0%88%EC%9E%84-%EC%8B%A4%EC%8A%B5?node-id=0-1&amp;t=JCnM0RLXUHdkzdeJ-1" TargetMode="External"/><Relationship Id="rId5" Type="http://schemas.openxmlformats.org/officeDocument/2006/relationships/slide" Target="slide45.xml"/><Relationship Id="rId10" Type="http://schemas.openxmlformats.org/officeDocument/2006/relationships/hyperlink" Target="https://chatgpt.com/g/g-p-6a86509e3984819183e717d88ae7c868-ihose-webkontenceu-silmuyangseong-webseobiseu-gihoeg-dijain-peobeulrising-ihose-webchat/project" TargetMode="External"/><Relationship Id="rId4" Type="http://schemas.openxmlformats.org/officeDocument/2006/relationships/hyperlink" Target="https://www.sejongpac.or.kr/portal/main/main.do" TargetMode="External"/><Relationship Id="rId9" Type="http://schemas.openxmlformats.org/officeDocument/2006/relationships/hyperlink" Target="https://www.figma.com/design/EBNZKYYKoo8JnNzoreStPT/Layout---Grid?node-id=0-1&amp;t=qcxX8HVF11M6mPx0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FFEC02"/>
            </a:gs>
            <a:gs pos="55000">
              <a:srgbClr val="ECCF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B229463-3F11-C6D0-5A39-6A6CBF271451}"/>
              </a:ext>
            </a:extLst>
          </p:cNvPr>
          <p:cNvGrpSpPr/>
          <p:nvPr/>
        </p:nvGrpSpPr>
        <p:grpSpPr>
          <a:xfrm>
            <a:off x="2983612" y="2565217"/>
            <a:ext cx="6224781" cy="1727570"/>
            <a:chOff x="2983609" y="1875703"/>
            <a:chExt cx="6224782" cy="172756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79E8CB-F5F6-64AF-AE08-83128609E9E2}"/>
                </a:ext>
              </a:extLst>
            </p:cNvPr>
            <p:cNvSpPr txBox="1"/>
            <p:nvPr/>
          </p:nvSpPr>
          <p:spPr>
            <a:xfrm>
              <a:off x="2983609" y="3141606"/>
              <a:ext cx="6224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페이퍼로지 6 SemiBold" pitchFamily="2" charset="-127"/>
                  <a:ea typeface="페이퍼로지 6 SemiBold" pitchFamily="2" charset="-127"/>
                </a:rPr>
                <a:t>웹사이트를 분석하고</a:t>
              </a:r>
              <a:r>
                <a:rPr lang="en-US" altLang="ko-KR" sz="2400" dirty="0">
                  <a:latin typeface="페이퍼로지 6 SemiBold" pitchFamily="2" charset="-127"/>
                  <a:ea typeface="페이퍼로지 6 SemiBold" pitchFamily="2" charset="-127"/>
                </a:rPr>
                <a:t>, </a:t>
              </a:r>
              <a:r>
                <a:rPr lang="ko-KR" altLang="en-US" sz="2400" dirty="0">
                  <a:latin typeface="페이퍼로지 6 SemiBold" pitchFamily="2" charset="-127"/>
                  <a:ea typeface="페이퍼로지 6 SemiBold" pitchFamily="2" charset="-127"/>
                </a:rPr>
                <a:t>사이트의 문제를 도출해내다</a:t>
              </a: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F47C6382-25FD-3F4E-6240-577E7A0506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69304" y="1875703"/>
              <a:ext cx="6053392" cy="1107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024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47BA0-4138-9B5A-8644-331CA4AE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248DC2-DFDA-DB33-A7BD-4C03F0990C5A}"/>
              </a:ext>
            </a:extLst>
          </p:cNvPr>
          <p:cNvSpPr txBox="1"/>
          <p:nvPr/>
        </p:nvSpPr>
        <p:spPr>
          <a:xfrm>
            <a:off x="712583" y="2998048"/>
            <a:ext cx="10766834" cy="861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세종문화회관 </a:t>
            </a:r>
            <a:r>
              <a:rPr lang="ko-KR" altLang="en-US" sz="5001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홈페지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현재모습 분석</a:t>
            </a:r>
            <a:endParaRPr lang="ko-KR" altLang="en-US" sz="1801" dirty="0"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35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345A8-A8DE-C7B3-0CA1-86E57E17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리뉴얼 필요 의견 이유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E8E0ACA0-1810-DAC9-45C8-6E103D3F1528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56A56-1EE9-3825-1119-D5A179BF754E}"/>
              </a:ext>
            </a:extLst>
          </p:cNvPr>
          <p:cNvSpPr txBox="1"/>
          <p:nvPr/>
        </p:nvSpPr>
        <p:spPr>
          <a:xfrm>
            <a:off x="168358" y="1038930"/>
            <a:ext cx="7382512" cy="4745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i="1" dirty="0">
                <a:highlight>
                  <a:srgbClr val="ECCF20"/>
                </a:highlight>
              </a:rPr>
              <a:t>1</a:t>
            </a:r>
            <a:r>
              <a:rPr lang="en-US" altLang="ko-KR" sz="1801" dirty="0"/>
              <a:t>. </a:t>
            </a:r>
            <a:r>
              <a:rPr lang="ko-KR" altLang="en-US" sz="1801" dirty="0"/>
              <a:t>레이아웃이 복잡하고 하나의 섹션 및 요소가 지나치게 큰 넓이 및 길이를 차지함, 요소 및 섹션의 우선순위 조정이 필요함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3200" b="1" i="1" dirty="0">
                <a:highlight>
                  <a:srgbClr val="ECCF20"/>
                </a:highlight>
              </a:rPr>
              <a:t>2</a:t>
            </a:r>
            <a:r>
              <a:rPr lang="en-US" altLang="ko-KR" sz="1801" dirty="0"/>
              <a:t>. </a:t>
            </a:r>
            <a:r>
              <a:rPr lang="ko-KR" altLang="en-US" sz="1801" dirty="0"/>
              <a:t>소식/티켓소식/알림/섹션 제목이 없는 프로그램 안내 섹션까지 지나치게 세분화 되어있고 난잡함. 콘텐츠 배치 및 조정이 필요할 소지가 있음.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3200" b="1" i="1" dirty="0">
                <a:highlight>
                  <a:srgbClr val="ECCF20"/>
                </a:highlight>
              </a:rPr>
              <a:t>3</a:t>
            </a:r>
            <a:r>
              <a:rPr lang="en-US" altLang="ko-KR" sz="1801" dirty="0"/>
              <a:t>.</a:t>
            </a:r>
            <a:r>
              <a:rPr lang="ko-KR" altLang="en-US" sz="1801" dirty="0"/>
              <a:t> 불명확한 사용자 행동유도(CTA)(</a:t>
            </a:r>
            <a:r>
              <a:rPr lang="ko-KR" altLang="en-US" sz="1801" dirty="0" err="1"/>
              <a:t>CTA가</a:t>
            </a:r>
            <a:r>
              <a:rPr lang="ko-KR" altLang="en-US" sz="1801" dirty="0"/>
              <a:t> 여러 사용자 목적과 콘텐츠에 분산되어 있어, 사용자가 자신의 목적에 맞는 다음 행동을 빠르게 파악하기 어려울 가능성이 있다.)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1CEBC6B-4EE6-63CD-851F-BD07AF6B0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160" y="4345758"/>
            <a:ext cx="4622484" cy="22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6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F85E-7D47-A5C5-187F-33CB7E87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B15F6-2156-1C57-0DCE-0CEB36EF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 fontScale="90000"/>
          </a:bodyPr>
          <a:lstStyle/>
          <a:p>
            <a:r>
              <a:rPr lang="ko-KR" altLang="en-US" sz="2800" dirty="0">
                <a:latin typeface="+mj-ea"/>
              </a:rPr>
              <a:t>무엇을 하는 조직이고 무엇을 제공하는가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0A06AF93-3F50-659A-8B6D-198572F689DD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76306-BE85-81E4-1985-85D540F37E67}"/>
              </a:ext>
            </a:extLst>
          </p:cNvPr>
          <p:cNvSpPr txBox="1"/>
          <p:nvPr/>
        </p:nvSpPr>
        <p:spPr>
          <a:xfrm>
            <a:off x="168358" y="1038929"/>
            <a:ext cx="7382512" cy="5023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1. "</a:t>
            </a:r>
            <a:r>
              <a:rPr lang="ko-KR" altLang="en-US" sz="1801" dirty="0"/>
              <a:t>세종문화회관</a:t>
            </a:r>
            <a:r>
              <a:rPr lang="en-US" altLang="ko-KR" sz="1801" dirty="0"/>
              <a:t>" </a:t>
            </a:r>
            <a:r>
              <a:rPr lang="ko-KR" altLang="en-US" sz="1801" dirty="0"/>
              <a:t>이라는 </a:t>
            </a:r>
            <a:r>
              <a:rPr lang="en-US" altLang="ko-KR" sz="1801" dirty="0"/>
              <a:t>&lt;</a:t>
            </a:r>
            <a:r>
              <a:rPr lang="ko-KR" altLang="en-US" sz="1801" dirty="0"/>
              <a:t>재단법인</a:t>
            </a:r>
            <a:r>
              <a:rPr lang="en-US" altLang="ko-KR" sz="1801" dirty="0"/>
              <a:t>&gt; </a:t>
            </a:r>
            <a:r>
              <a:rPr lang="ko-KR" altLang="en-US" sz="1801" dirty="0"/>
              <a:t>형태의 기관이다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2. </a:t>
            </a:r>
            <a:r>
              <a:rPr lang="ko-KR" altLang="en-US" sz="1801" dirty="0"/>
              <a:t>일반적인 상업 기업이 아니라</a:t>
            </a:r>
            <a:r>
              <a:rPr lang="en-US" altLang="ko-KR" sz="1801" dirty="0"/>
              <a:t>, "</a:t>
            </a:r>
            <a:r>
              <a:rPr lang="ko-KR" altLang="en-US" sz="1801" dirty="0"/>
              <a:t>문화예술 콘텐츠와 문화시설을 제공하는 기관</a:t>
            </a:r>
            <a:r>
              <a:rPr lang="en-US" altLang="ko-KR" sz="1801" dirty="0"/>
              <a:t>"</a:t>
            </a:r>
            <a:r>
              <a:rPr lang="ko-KR" altLang="en-US" sz="180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ko-KR" altLang="en-US" sz="1801" dirty="0" err="1"/>
              <a:t>한문장</a:t>
            </a:r>
            <a:r>
              <a:rPr lang="ko-KR" altLang="en-US" sz="1801" dirty="0"/>
              <a:t> 요약</a:t>
            </a:r>
            <a:r>
              <a:rPr lang="en-US" altLang="ko-KR" sz="1801" dirty="0"/>
              <a:t>: "</a:t>
            </a:r>
            <a:r>
              <a:rPr lang="ko-KR" altLang="en-US" sz="1801" dirty="0"/>
              <a:t>문화시설을 운영하며</a:t>
            </a:r>
            <a:r>
              <a:rPr lang="en-US" altLang="ko-KR" sz="1801" dirty="0"/>
              <a:t>, </a:t>
            </a:r>
            <a:r>
              <a:rPr lang="ko-KR" altLang="en-US" sz="1801" dirty="0"/>
              <a:t>자체 문화예술 프로그램을 제공하는 문화예술기관이다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ko-KR" altLang="en-US" sz="1801" dirty="0"/>
              <a:t>업종</a:t>
            </a:r>
            <a:r>
              <a:rPr lang="en-US" altLang="ko-KR" sz="1801" dirty="0"/>
              <a:t>·</a:t>
            </a:r>
            <a:r>
              <a:rPr lang="ko-KR" altLang="en-US" sz="1801" dirty="0"/>
              <a:t>분야</a:t>
            </a:r>
            <a:r>
              <a:rPr lang="en-US" altLang="ko-KR" sz="1801" dirty="0"/>
              <a:t>: </a:t>
            </a:r>
            <a:r>
              <a:rPr lang="ko-KR" altLang="en-US" sz="1801" dirty="0"/>
              <a:t>문화예술</a:t>
            </a:r>
            <a:r>
              <a:rPr lang="en-US" altLang="ko-KR" sz="1801" dirty="0"/>
              <a:t>·</a:t>
            </a:r>
            <a:r>
              <a:rPr lang="ko-KR" altLang="en-US" sz="1801" dirty="0"/>
              <a:t>공연시설 운영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제공하는 것</a:t>
            </a:r>
            <a:r>
              <a:rPr lang="en-US" altLang="ko-KR" sz="1801" dirty="0"/>
              <a:t>: </a:t>
            </a:r>
            <a:r>
              <a:rPr lang="ko-KR" altLang="en-US" sz="1801" dirty="0"/>
              <a:t>문화시설운영 및 문화서비스</a:t>
            </a:r>
            <a:r>
              <a:rPr lang="en-US" altLang="ko-KR" sz="1801" dirty="0"/>
              <a:t>(</a:t>
            </a:r>
            <a:r>
              <a:rPr lang="ko-KR" altLang="en-US" sz="1801" dirty="0"/>
              <a:t>공연</a:t>
            </a:r>
            <a:r>
              <a:rPr lang="en-US" altLang="ko-KR" sz="1801" dirty="0"/>
              <a:t>/</a:t>
            </a:r>
            <a:r>
              <a:rPr lang="ko-KR" altLang="en-US" sz="1801" dirty="0"/>
              <a:t>전시</a:t>
            </a:r>
            <a:r>
              <a:rPr lang="en-US" altLang="ko-KR" sz="1801" dirty="0"/>
              <a:t>/</a:t>
            </a:r>
            <a:r>
              <a:rPr lang="ko-KR" altLang="en-US" sz="1801" dirty="0"/>
              <a:t>기타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A: </a:t>
            </a:r>
            <a:r>
              <a:rPr lang="ko-KR" altLang="en-US" sz="1801" dirty="0"/>
              <a:t>문화 </a:t>
            </a:r>
            <a:r>
              <a:rPr lang="ko-KR" altLang="en-US" sz="1801" dirty="0" err="1"/>
              <a:t>즐길거리</a:t>
            </a:r>
            <a:r>
              <a:rPr lang="en-US" altLang="ko-KR" sz="1801" dirty="0"/>
              <a:t>(</a:t>
            </a:r>
            <a:r>
              <a:rPr lang="ko-KR" altLang="en-US" sz="1801" dirty="0"/>
              <a:t>콘텐츠</a:t>
            </a:r>
            <a:r>
              <a:rPr lang="en-US" altLang="ko-KR" sz="1801" dirty="0"/>
              <a:t>&amp;-</a:t>
            </a:r>
            <a:r>
              <a:rPr lang="ko-KR" altLang="en-US" sz="1801" dirty="0"/>
              <a:t>프로그램</a:t>
            </a:r>
            <a:r>
              <a:rPr lang="en-US" altLang="ko-KR" sz="1801" dirty="0"/>
              <a:t>) </a:t>
            </a:r>
            <a:r>
              <a:rPr lang="ko-KR" altLang="en-US" sz="1801" dirty="0"/>
              <a:t>제공</a:t>
            </a:r>
            <a:r>
              <a:rPr lang="en-US" altLang="ko-KR" sz="1801" dirty="0"/>
              <a:t>(</a:t>
            </a:r>
            <a:r>
              <a:rPr lang="ko-KR" altLang="en-US" sz="1801" dirty="0"/>
              <a:t>공연</a:t>
            </a:r>
            <a:r>
              <a:rPr lang="en-US" altLang="ko-KR" sz="1801" dirty="0"/>
              <a:t>/</a:t>
            </a:r>
            <a:r>
              <a:rPr lang="ko-KR" altLang="en-US" sz="1801" dirty="0"/>
              <a:t>전시</a:t>
            </a:r>
            <a:r>
              <a:rPr lang="en-US" altLang="ko-KR" sz="1801" dirty="0"/>
              <a:t>/</a:t>
            </a:r>
            <a:r>
              <a:rPr lang="ko-KR" altLang="en-US" sz="1801" dirty="0"/>
              <a:t>기타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B: </a:t>
            </a:r>
            <a:r>
              <a:rPr lang="ko-KR" altLang="en-US" sz="1801" dirty="0"/>
              <a:t>문화시설운영</a:t>
            </a:r>
            <a:r>
              <a:rPr lang="en-US" altLang="ko-KR" sz="1801" dirty="0"/>
              <a:t>(</a:t>
            </a:r>
            <a:r>
              <a:rPr lang="ko-KR" altLang="en-US" sz="1801" dirty="0"/>
              <a:t>공연장</a:t>
            </a:r>
            <a:r>
              <a:rPr lang="en-US" altLang="ko-KR" sz="1801" dirty="0"/>
              <a:t>/</a:t>
            </a:r>
            <a:r>
              <a:rPr lang="ko-KR" altLang="en-US" sz="1801" dirty="0"/>
              <a:t>전시장</a:t>
            </a:r>
            <a:r>
              <a:rPr lang="en-US" altLang="ko-KR" sz="1801" dirty="0"/>
              <a:t>/</a:t>
            </a:r>
            <a:r>
              <a:rPr lang="ko-KR" altLang="en-US" sz="1801" dirty="0"/>
              <a:t>기타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ko-KR" altLang="en-US" sz="1801" dirty="0"/>
              <a:t>주요 이용자</a:t>
            </a:r>
            <a:r>
              <a:rPr lang="en-US" altLang="ko-KR" sz="1801" dirty="0"/>
              <a:t>: </a:t>
            </a:r>
            <a:r>
              <a:rPr lang="ko-KR" altLang="en-US" sz="1801" dirty="0"/>
              <a:t>문화예술행사 관람 일반시민 </a:t>
            </a:r>
            <a:r>
              <a:rPr lang="en-US" altLang="ko-KR" sz="1801" dirty="0"/>
              <a:t>/ </a:t>
            </a:r>
            <a:r>
              <a:rPr lang="ko-KR" altLang="en-US" sz="1801" dirty="0"/>
              <a:t>시설 대관 이용자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EED842-5913-19A0-14F4-D378615C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325306"/>
            <a:ext cx="5934075" cy="32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D9D0-0AFA-8C28-6EFD-2D9FC08C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F7738-4EED-7B24-D750-E9295069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 fontScale="90000"/>
          </a:bodyPr>
          <a:lstStyle/>
          <a:p>
            <a:r>
              <a:rPr lang="ko-KR" altLang="en-US" sz="2800" dirty="0">
                <a:latin typeface="+mj-ea"/>
              </a:rPr>
              <a:t>무엇을 하는 조직이고 무엇을 제공하는가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F13E0039-B649-84C1-8FD6-F0D1B9487B16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0D6D12-03EE-5A28-5B47-1315454441C8}"/>
              </a:ext>
            </a:extLst>
          </p:cNvPr>
          <p:cNvSpPr txBox="1"/>
          <p:nvPr/>
        </p:nvSpPr>
        <p:spPr>
          <a:xfrm>
            <a:off x="168358" y="1038930"/>
            <a:ext cx="8636277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A: </a:t>
            </a:r>
            <a:r>
              <a:rPr lang="ko-KR" altLang="en-US" sz="1801" dirty="0"/>
              <a:t>자체 문화예술 프로그램</a:t>
            </a:r>
            <a:r>
              <a:rPr lang="en-US" altLang="ko-KR" sz="1801" dirty="0"/>
              <a:t>(B2C </a:t>
            </a:r>
            <a:r>
              <a:rPr lang="ko-KR" altLang="en-US" sz="1801" dirty="0"/>
              <a:t>성격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세종문화회관이 직접 기획</a:t>
            </a:r>
            <a:r>
              <a:rPr lang="en-US" altLang="ko-KR" sz="1801" dirty="0"/>
              <a:t>·</a:t>
            </a:r>
            <a:r>
              <a:rPr lang="ko-KR" altLang="en-US" sz="1801" dirty="0"/>
              <a:t>제작하거나 산하 예술단을 통해 제공하는 프로그램</a:t>
            </a:r>
            <a:r>
              <a:rPr lang="en-US" altLang="ko-KR" sz="1801" dirty="0"/>
              <a:t>(</a:t>
            </a: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교육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B: </a:t>
            </a:r>
            <a:r>
              <a:rPr lang="ko-KR" altLang="en-US" sz="1801" dirty="0"/>
              <a:t>외부 개인</a:t>
            </a:r>
            <a:r>
              <a:rPr lang="en-US" altLang="ko-KR" sz="1801" dirty="0"/>
              <a:t>·</a:t>
            </a:r>
            <a:r>
              <a:rPr lang="ko-KR" altLang="en-US" sz="1801" dirty="0"/>
              <a:t>단체를 위한 시설 대관</a:t>
            </a:r>
            <a:r>
              <a:rPr lang="en-US" altLang="ko-KR" sz="1801" dirty="0"/>
              <a:t>(B2B </a:t>
            </a:r>
            <a:r>
              <a:rPr lang="ko-KR" altLang="en-US" sz="1801" dirty="0"/>
              <a:t>성격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행사 등을 목적으로 외부 개인</a:t>
            </a:r>
            <a:r>
              <a:rPr lang="en-US" altLang="ko-KR" sz="1801" dirty="0"/>
              <a:t>·</a:t>
            </a:r>
            <a:r>
              <a:rPr lang="ko-KR" altLang="en-US" sz="1801" dirty="0"/>
              <a:t>단체에 시설을 제공</a:t>
            </a:r>
            <a:r>
              <a:rPr lang="en-US" altLang="ko-KR" sz="1801" dirty="0"/>
              <a:t>(</a:t>
            </a:r>
            <a:r>
              <a:rPr lang="ko-KR" altLang="en-US" sz="1801" dirty="0"/>
              <a:t>공연장</a:t>
            </a:r>
            <a:r>
              <a:rPr lang="en-US" altLang="ko-KR" sz="1801" dirty="0"/>
              <a:t>·</a:t>
            </a:r>
            <a:r>
              <a:rPr lang="ko-KR" altLang="en-US" sz="1801" dirty="0"/>
              <a:t>전시공간 등</a:t>
            </a:r>
            <a:r>
              <a:rPr lang="en-US" altLang="ko-KR" sz="1801" dirty="0"/>
              <a:t>)</a:t>
            </a:r>
            <a:endParaRPr lang="ko-KR" altLang="en-US" sz="180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024AF-5C52-1CFF-6D86-289237D98410}"/>
              </a:ext>
            </a:extLst>
          </p:cNvPr>
          <p:cNvSpPr txBox="1"/>
          <p:nvPr/>
        </p:nvSpPr>
        <p:spPr>
          <a:xfrm>
            <a:off x="168358" y="3095861"/>
            <a:ext cx="8636277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1" dirty="0"/>
              <a:t>사용자 분류 </a:t>
            </a:r>
            <a:r>
              <a:rPr lang="en-US" altLang="ko-KR" sz="1801" dirty="0"/>
              <a:t>(</a:t>
            </a:r>
            <a:r>
              <a:rPr lang="ko-KR" altLang="en-US" sz="1801" dirty="0"/>
              <a:t>일반인이냐</a:t>
            </a:r>
            <a:r>
              <a:rPr lang="en-US" altLang="ko-KR" sz="1801" dirty="0"/>
              <a:t>B2C or </a:t>
            </a:r>
            <a:r>
              <a:rPr lang="ko-KR" altLang="en-US" sz="1801" dirty="0" err="1"/>
              <a:t>기업단체냐</a:t>
            </a:r>
            <a:r>
              <a:rPr lang="en-US" altLang="ko-KR" sz="1801" dirty="0"/>
              <a:t>B2B)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일반 관객 ↔ 대관 이용자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1. </a:t>
            </a:r>
            <a:r>
              <a:rPr lang="ko-KR" altLang="en-US" sz="1801" dirty="0"/>
              <a:t>공연을 그저 보러 세종문화회관에 오는 사람</a:t>
            </a:r>
            <a:r>
              <a:rPr lang="en-US" altLang="ko-KR" sz="1801" dirty="0"/>
              <a:t>(</a:t>
            </a:r>
            <a:r>
              <a:rPr lang="ko-KR" altLang="en-US" sz="1801" dirty="0"/>
              <a:t>티켓은 </a:t>
            </a:r>
            <a:r>
              <a:rPr lang="ko-KR" altLang="en-US" sz="1801" dirty="0" err="1"/>
              <a:t>세종문화티켓이든</a:t>
            </a:r>
            <a:r>
              <a:rPr lang="ko-KR" altLang="en-US" sz="1801" dirty="0"/>
              <a:t> </a:t>
            </a:r>
            <a:r>
              <a:rPr lang="en-US" altLang="ko-KR" sz="1801" dirty="0"/>
              <a:t>NOL</a:t>
            </a:r>
            <a:r>
              <a:rPr lang="ko-KR" altLang="en-US" sz="1801" dirty="0"/>
              <a:t>이든 예매</a:t>
            </a:r>
            <a:r>
              <a:rPr lang="en-US" altLang="ko-KR" sz="180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2. </a:t>
            </a:r>
            <a:r>
              <a:rPr lang="ko-KR" altLang="en-US" sz="1801" dirty="0"/>
              <a:t>세종문화회관의 시설을 빌리고자 하는 사람</a:t>
            </a:r>
            <a:r>
              <a:rPr lang="en-US" altLang="ko-KR" sz="1801" dirty="0"/>
              <a:t>(</a:t>
            </a:r>
            <a:r>
              <a:rPr lang="ko-KR" altLang="en-US" sz="1801" dirty="0"/>
              <a:t>기업</a:t>
            </a:r>
            <a:r>
              <a:rPr lang="en-US" altLang="ko-KR" sz="1801" dirty="0"/>
              <a:t>·</a:t>
            </a:r>
            <a:r>
              <a:rPr lang="ko-KR" altLang="en-US" sz="1801" dirty="0"/>
              <a:t>단체 등</a:t>
            </a:r>
            <a:r>
              <a:rPr lang="en-US" altLang="ko-KR" sz="1801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AA3CD2-39AE-D459-BAA7-9C89F2AA7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57" y="4793376"/>
            <a:ext cx="84201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8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D073-528B-4BC0-065E-1354CA0C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90B15-1D03-EEC6-56E8-E45F493B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본 사이트 주 이용자는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4014465B-1AB6-3546-DE11-3FE88D50E30F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86789-6120-CBBF-80B9-E910D29EED35}"/>
              </a:ext>
            </a:extLst>
          </p:cNvPr>
          <p:cNvSpPr txBox="1"/>
          <p:nvPr/>
        </p:nvSpPr>
        <p:spPr>
          <a:xfrm>
            <a:off x="168358" y="1038929"/>
            <a:ext cx="8636277" cy="2113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A. </a:t>
            </a:r>
            <a:r>
              <a:rPr lang="ko-KR" altLang="en-US" sz="1801" dirty="0"/>
              <a:t>세종문화회관의 문화예술 콘텐츠와 공식 정보를 이용하려는 일반 이용자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교육</a:t>
            </a:r>
            <a:r>
              <a:rPr lang="en-US" altLang="ko-KR" sz="1801" dirty="0"/>
              <a:t>·</a:t>
            </a:r>
            <a:r>
              <a:rPr lang="ko-KR" altLang="en-US" sz="1801" dirty="0"/>
              <a:t>시즌 프로그램 등을 찾는 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회관의 소식</a:t>
            </a:r>
            <a:r>
              <a:rPr lang="en-US" altLang="ko-KR" sz="1801" dirty="0"/>
              <a:t>·</a:t>
            </a:r>
            <a:r>
              <a:rPr lang="ko-KR" altLang="en-US" sz="1801" dirty="0"/>
              <a:t>콘텐츠</a:t>
            </a:r>
            <a:r>
              <a:rPr lang="en-US" altLang="ko-KR" sz="1801" dirty="0"/>
              <a:t>(</a:t>
            </a:r>
            <a:r>
              <a:rPr lang="ko-KR" altLang="en-US" sz="1801" dirty="0"/>
              <a:t>이벤트</a:t>
            </a:r>
            <a:r>
              <a:rPr lang="en-US" altLang="ko-KR" sz="1801" dirty="0"/>
              <a:t>·</a:t>
            </a:r>
            <a:r>
              <a:rPr lang="ko-KR" altLang="en-US" sz="1801" dirty="0"/>
              <a:t>뉴스레터</a:t>
            </a:r>
            <a:r>
              <a:rPr lang="en-US" altLang="ko-KR" sz="1801" dirty="0"/>
              <a:t>)</a:t>
            </a:r>
            <a:r>
              <a:rPr lang="ko-KR" altLang="en-US" sz="1801" dirty="0"/>
              <a:t>를 확인하는 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멤버십 등 자체 서비스를 이용하려는 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궁극적으로 문화예술 프로그램을 관람</a:t>
            </a:r>
            <a:r>
              <a:rPr lang="en-US" altLang="ko-KR" sz="1801" dirty="0"/>
              <a:t>·</a:t>
            </a:r>
            <a:r>
              <a:rPr lang="ko-KR" altLang="en-US" sz="1801" dirty="0"/>
              <a:t>참여하려는 일반 시민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C535F-048B-CEFC-7FE8-5E1C537F797D}"/>
              </a:ext>
            </a:extLst>
          </p:cNvPr>
          <p:cNvSpPr txBox="1"/>
          <p:nvPr/>
        </p:nvSpPr>
        <p:spPr>
          <a:xfrm>
            <a:off x="168356" y="3429001"/>
            <a:ext cx="8636277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B. </a:t>
            </a:r>
            <a:r>
              <a:rPr lang="ko-KR" altLang="en-US" sz="1801" dirty="0"/>
              <a:t>세종문화회관의 시설을 </a:t>
            </a:r>
            <a:r>
              <a:rPr lang="ko-KR" altLang="en-US" sz="1801" dirty="0" err="1"/>
              <a:t>대관하려는</a:t>
            </a:r>
            <a:r>
              <a:rPr lang="ko-KR" altLang="en-US" sz="1801" dirty="0"/>
              <a:t> 외부 개인</a:t>
            </a:r>
            <a:r>
              <a:rPr lang="en-US" altLang="ko-KR" sz="1801" dirty="0"/>
              <a:t>·</a:t>
            </a:r>
            <a:r>
              <a:rPr lang="ko-KR" altLang="en-US" sz="1801" dirty="0"/>
              <a:t>단체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행사 등을 목적으로 시설을 이용하려는 기업</a:t>
            </a:r>
            <a:r>
              <a:rPr lang="en-US" altLang="ko-KR" sz="1801" dirty="0"/>
              <a:t>·</a:t>
            </a:r>
            <a:r>
              <a:rPr lang="ko-KR" altLang="en-US" sz="1801" dirty="0"/>
              <a:t>기관</a:t>
            </a:r>
            <a:r>
              <a:rPr lang="en-US" altLang="ko-KR" sz="1801" dirty="0"/>
              <a:t>·</a:t>
            </a:r>
            <a:r>
              <a:rPr lang="ko-KR" altLang="en-US" sz="1801" dirty="0"/>
              <a:t>단체 등의 담당자</a:t>
            </a:r>
            <a:endParaRPr lang="en-US" altLang="ko-KR" sz="180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69956A-EB2A-EBBE-57C9-DF6FC2DD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22" y="3760573"/>
            <a:ext cx="4208821" cy="2867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D53A55-59A2-8203-4B3F-844365F428F1}"/>
              </a:ext>
            </a:extLst>
          </p:cNvPr>
          <p:cNvSpPr txBox="1"/>
          <p:nvPr/>
        </p:nvSpPr>
        <p:spPr>
          <a:xfrm>
            <a:off x="168355" y="4572577"/>
            <a:ext cx="6426724" cy="1477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1" dirty="0"/>
              <a:t>주요 유형</a:t>
            </a:r>
          </a:p>
          <a:p>
            <a:r>
              <a:rPr lang="ko-KR" altLang="en-US" sz="1801" dirty="0"/>
              <a:t>  - 개인 관람객 — 개인 또는 소규모로 </a:t>
            </a:r>
            <a:r>
              <a:rPr lang="ko-KR" altLang="en-US" sz="1801" dirty="0" err="1"/>
              <a:t>공연·전시</a:t>
            </a:r>
            <a:r>
              <a:rPr lang="ko-KR" altLang="en-US" sz="1801" dirty="0"/>
              <a:t> 등을 이용</a:t>
            </a:r>
          </a:p>
          <a:p>
            <a:r>
              <a:rPr lang="ko-KR" altLang="en-US" sz="1801" dirty="0"/>
              <a:t>  - 단체관람 담당자 — </a:t>
            </a:r>
            <a:r>
              <a:rPr lang="ko-KR" altLang="en-US" sz="1801" dirty="0" err="1"/>
              <a:t>학교·기업·기관·단체</a:t>
            </a:r>
            <a:r>
              <a:rPr lang="ko-KR" altLang="en-US" sz="1801" dirty="0"/>
              <a:t> 등을 대표하여 단체</a:t>
            </a:r>
            <a:endParaRPr lang="en-US" altLang="ko-KR" sz="1801" dirty="0"/>
          </a:p>
          <a:p>
            <a:r>
              <a:rPr lang="en-US" altLang="ko-KR" sz="1801" dirty="0"/>
              <a:t>     </a:t>
            </a:r>
            <a:r>
              <a:rPr lang="ko-KR" altLang="en-US" sz="1801" dirty="0"/>
              <a:t>프로그램을 알아보고 신청</a:t>
            </a:r>
          </a:p>
          <a:p>
            <a:r>
              <a:rPr lang="ko-KR" altLang="en-US" sz="1801" dirty="0"/>
              <a:t>  - </a:t>
            </a:r>
            <a:r>
              <a:rPr lang="ko-KR" altLang="en-US" sz="1801" dirty="0" err="1"/>
              <a:t>교육·문화</a:t>
            </a:r>
            <a:r>
              <a:rPr lang="ko-KR" altLang="en-US" sz="1801" dirty="0"/>
              <a:t> 프로그램 이용자 — 교육 및 문화 프로그램에 참여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1BEF46D-FC72-D250-C403-FA5AA5C61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209" y="540986"/>
            <a:ext cx="4621589" cy="30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2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6C4F-DC69-FEC2-169A-EE4B52CA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AAD67-3380-54E0-2074-B9B5065B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본 사이트 주 이용자는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81E21CEE-F37F-A689-F67C-0CEFB4C00DB3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5A99B-8AD7-A58D-A8D9-3C6A791121E0}"/>
              </a:ext>
            </a:extLst>
          </p:cNvPr>
          <p:cNvSpPr txBox="1"/>
          <p:nvPr/>
        </p:nvSpPr>
        <p:spPr>
          <a:xfrm>
            <a:off x="168357" y="1038929"/>
            <a:ext cx="9937177" cy="2113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1" dirty="0"/>
              <a:t>타깃을 볼 때의 추가 관점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 </a:t>
            </a:r>
            <a:r>
              <a:rPr lang="en-US" altLang="ko-KR" sz="1801" dirty="0"/>
              <a:t>"</a:t>
            </a:r>
            <a:r>
              <a:rPr lang="ko-KR" altLang="en-US" sz="1801" dirty="0"/>
              <a:t>사이트를 이용하는 사람과 실제 서비스</a:t>
            </a:r>
            <a:r>
              <a:rPr lang="en-US" altLang="ko-KR" sz="1801" dirty="0"/>
              <a:t>(</a:t>
            </a:r>
            <a:r>
              <a:rPr lang="ko-KR" altLang="en-US" sz="1801" dirty="0"/>
              <a:t>콘텐츠</a:t>
            </a:r>
            <a:r>
              <a:rPr lang="en-US" altLang="ko-KR" sz="1801" dirty="0"/>
              <a:t>, </a:t>
            </a:r>
            <a:r>
              <a:rPr lang="ko-KR" altLang="en-US" sz="1801" dirty="0"/>
              <a:t>프로그램</a:t>
            </a:r>
            <a:r>
              <a:rPr lang="en-US" altLang="ko-KR" sz="1801" dirty="0"/>
              <a:t>)</a:t>
            </a:r>
            <a:r>
              <a:rPr lang="ko-KR" altLang="en-US" sz="1801" dirty="0"/>
              <a:t>를 이용하는 사람이 항상 같은 것은 아니다</a:t>
            </a:r>
            <a:r>
              <a:rPr lang="en-US" altLang="ko-KR" sz="1801" dirty="0"/>
              <a:t>."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- </a:t>
            </a:r>
            <a:r>
              <a:rPr lang="ko-KR" altLang="en-US" sz="1801" dirty="0"/>
              <a:t>개인 관람</a:t>
            </a:r>
            <a:r>
              <a:rPr lang="en-US" altLang="ko-KR" sz="1801" dirty="0"/>
              <a:t>: </a:t>
            </a:r>
            <a:r>
              <a:rPr lang="ko-KR" altLang="en-US" sz="1801" dirty="0"/>
              <a:t>사이트 이용자 </a:t>
            </a:r>
            <a:r>
              <a:rPr lang="en-US" altLang="ko-KR" sz="1801" dirty="0"/>
              <a:t>= </a:t>
            </a:r>
            <a:r>
              <a:rPr lang="ko-KR" altLang="en-US" sz="1801" dirty="0"/>
              <a:t>예매자 </a:t>
            </a:r>
            <a:r>
              <a:rPr lang="en-US" altLang="ko-KR" sz="1801" dirty="0"/>
              <a:t>= </a:t>
            </a:r>
            <a:r>
              <a:rPr lang="ko-KR" altLang="en-US" sz="1801" dirty="0"/>
              <a:t>관람자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단체관람</a:t>
            </a:r>
            <a:r>
              <a:rPr lang="en-US" altLang="ko-KR" sz="1801" dirty="0"/>
              <a:t>: </a:t>
            </a:r>
            <a:r>
              <a:rPr lang="ko-KR" altLang="en-US" sz="1801" dirty="0"/>
              <a:t>사이트 이용자</a:t>
            </a:r>
            <a:r>
              <a:rPr lang="en-US" altLang="ko-KR" sz="1801" dirty="0"/>
              <a:t>·</a:t>
            </a:r>
            <a:r>
              <a:rPr lang="ko-KR" altLang="en-US" sz="1801" dirty="0"/>
              <a:t>신청자 ≠ 실제 관람자일 수 있음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</a:t>
            </a:r>
            <a:r>
              <a:rPr lang="en-US" altLang="ko-KR" sz="1801" dirty="0"/>
              <a:t>- </a:t>
            </a:r>
            <a:r>
              <a:rPr lang="ko-KR" altLang="en-US" sz="1801" dirty="0"/>
              <a:t>시설 대관</a:t>
            </a:r>
            <a:r>
              <a:rPr lang="en-US" altLang="ko-KR" sz="1801" dirty="0"/>
              <a:t>: </a:t>
            </a:r>
            <a:r>
              <a:rPr lang="ko-KR" altLang="en-US" sz="1801" dirty="0"/>
              <a:t>사이트 이용자</a:t>
            </a:r>
            <a:r>
              <a:rPr lang="en-US" altLang="ko-KR" sz="1801" dirty="0"/>
              <a:t>·</a:t>
            </a:r>
            <a:r>
              <a:rPr lang="ko-KR" altLang="en-US" sz="1801" dirty="0"/>
              <a:t>대관 담당자 ≠ 이후 공간을 이용하는 공연</a:t>
            </a:r>
            <a:r>
              <a:rPr lang="en-US" altLang="ko-KR" sz="1801" dirty="0"/>
              <a:t>/</a:t>
            </a:r>
            <a:r>
              <a:rPr lang="ko-KR" altLang="en-US" sz="1801" dirty="0"/>
              <a:t>행사의 관객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91F6BF-3B18-9528-63F6-DB486D3A8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22" y="3760573"/>
            <a:ext cx="4208821" cy="28677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2F66A5-5B45-C429-4DE4-375D72AD8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80" y="3308148"/>
            <a:ext cx="5540089" cy="369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5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FCC3-9E28-A0FB-1DDE-3FF99C35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A2A3C-2AF6-ED66-9265-E54DEDCD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본 사이트의 목적은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F94DDAD6-E8AF-C3B5-AEAD-3C9BF1CA4B5E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409871D-EED1-5473-BA57-7F94071A07E0}"/>
              </a:ext>
            </a:extLst>
          </p:cNvPr>
          <p:cNvGrpSpPr/>
          <p:nvPr/>
        </p:nvGrpSpPr>
        <p:grpSpPr>
          <a:xfrm>
            <a:off x="546748" y="228787"/>
            <a:ext cx="7104345" cy="6350560"/>
            <a:chOff x="546748" y="228786"/>
            <a:chExt cx="7104345" cy="6350560"/>
          </a:xfrm>
          <a:solidFill>
            <a:schemeClr val="bg1">
              <a:lumMod val="85000"/>
            </a:schemeClr>
          </a:solidFill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126C0F96-3F98-E513-DC08-EB5CEA350523}"/>
                </a:ext>
              </a:extLst>
            </p:cNvPr>
            <p:cNvSpPr/>
            <p:nvPr/>
          </p:nvSpPr>
          <p:spPr>
            <a:xfrm rot="2405522">
              <a:off x="2105472" y="4443618"/>
              <a:ext cx="372562" cy="6301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31508"/>
                  </a:moveTo>
                  <a:lnTo>
                    <a:pt x="372562" y="31508"/>
                  </a:lnTo>
                </a:path>
              </a:pathLst>
            </a:custGeom>
            <a:grp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AE9CEF96-12DE-900E-170D-40A4F291AC1D}"/>
                </a:ext>
              </a:extLst>
            </p:cNvPr>
            <p:cNvSpPr/>
            <p:nvPr/>
          </p:nvSpPr>
          <p:spPr>
            <a:xfrm rot="355786">
              <a:off x="2143411" y="3819036"/>
              <a:ext cx="2181248" cy="6301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31508"/>
                  </a:moveTo>
                  <a:lnTo>
                    <a:pt x="2181248" y="31508"/>
                  </a:lnTo>
                </a:path>
              </a:pathLst>
            </a:custGeom>
            <a:grp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8F93465B-3C4C-2997-B150-E332874B2896}"/>
                </a:ext>
              </a:extLst>
            </p:cNvPr>
            <p:cNvSpPr/>
            <p:nvPr/>
          </p:nvSpPr>
          <p:spPr>
            <a:xfrm rot="20197602">
              <a:off x="2084285" y="2943923"/>
              <a:ext cx="1583265" cy="6301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31508"/>
                  </a:moveTo>
                  <a:lnTo>
                    <a:pt x="1583265" y="31508"/>
                  </a:lnTo>
                </a:path>
              </a:pathLst>
            </a:custGeom>
            <a:grp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312DA2E-9F7E-2232-F836-F347F5A23F89}"/>
                </a:ext>
              </a:extLst>
            </p:cNvPr>
            <p:cNvSpPr/>
            <p:nvPr/>
          </p:nvSpPr>
          <p:spPr>
            <a:xfrm>
              <a:off x="546748" y="2814834"/>
              <a:ext cx="1824030" cy="1823169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3AC3B91B-09B0-9BBD-9A19-E25CBF1B0BD1}"/>
                </a:ext>
              </a:extLst>
            </p:cNvPr>
            <p:cNvSpPr/>
            <p:nvPr/>
          </p:nvSpPr>
          <p:spPr>
            <a:xfrm>
              <a:off x="3446739" y="228786"/>
              <a:ext cx="3575669" cy="3454538"/>
            </a:xfrm>
            <a:custGeom>
              <a:avLst/>
              <a:gdLst>
                <a:gd name="csX0" fmla="*/ 0 w 3575669"/>
                <a:gd name="csY0" fmla="*/ 1727269 h 3454538"/>
                <a:gd name="csX1" fmla="*/ 1787835 w 3575669"/>
                <a:gd name="csY1" fmla="*/ 0 h 3454538"/>
                <a:gd name="csX2" fmla="*/ 3575670 w 3575669"/>
                <a:gd name="csY2" fmla="*/ 1727269 h 3454538"/>
                <a:gd name="csX3" fmla="*/ 1787835 w 3575669"/>
                <a:gd name="csY3" fmla="*/ 3454538 h 3454538"/>
                <a:gd name="csX4" fmla="*/ 0 w 3575669"/>
                <a:gd name="csY4" fmla="*/ 1727269 h 3454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75669" h="3454538">
                  <a:moveTo>
                    <a:pt x="0" y="1727269"/>
                  </a:moveTo>
                  <a:cubicBezTo>
                    <a:pt x="0" y="773325"/>
                    <a:pt x="800441" y="0"/>
                    <a:pt x="1787835" y="0"/>
                  </a:cubicBezTo>
                  <a:cubicBezTo>
                    <a:pt x="2775229" y="0"/>
                    <a:pt x="3575670" y="773325"/>
                    <a:pt x="3575670" y="1727269"/>
                  </a:cubicBezTo>
                  <a:cubicBezTo>
                    <a:pt x="3575670" y="2681213"/>
                    <a:pt x="2775229" y="3454538"/>
                    <a:pt x="1787835" y="3454538"/>
                  </a:cubicBezTo>
                  <a:cubicBezTo>
                    <a:pt x="800441" y="3454538"/>
                    <a:pt x="0" y="2681213"/>
                    <a:pt x="0" y="1727269"/>
                  </a:cubicBezTo>
                  <a:close/>
                </a:path>
              </a:pathLst>
            </a:custGeom>
            <a:solidFill>
              <a:srgbClr val="FFEC0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3804" tIns="516066" rIns="533804" bIns="516066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400" dirty="0">
                  <a:solidFill>
                    <a:schemeClr val="tx1"/>
                  </a:solidFill>
                </a:rPr>
                <a:t>A: </a:t>
              </a:r>
              <a:r>
                <a:rPr lang="ko-KR" altLang="en-US" sz="2400" dirty="0">
                  <a:solidFill>
                    <a:schemeClr val="tx1"/>
                  </a:solidFill>
                </a:rPr>
                <a:t>문화예술 프로그램을 쉽게 탐색하고 예매</a:t>
              </a:r>
              <a:r>
                <a:rPr lang="en-US" altLang="ko-KR" sz="2400" dirty="0">
                  <a:solidFill>
                    <a:schemeClr val="tx1"/>
                  </a:solidFill>
                </a:rPr>
                <a:t>·</a:t>
              </a:r>
              <a:r>
                <a:rPr lang="ko-KR" altLang="en-US" sz="2400" dirty="0">
                  <a:solidFill>
                    <a:schemeClr val="tx1"/>
                  </a:solidFill>
                </a:rPr>
                <a:t>신청할 수 있도록 하는 것</a:t>
              </a: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DF9946BC-9363-E5D0-5ED1-2A9CB88ADA39}"/>
                </a:ext>
              </a:extLst>
            </p:cNvPr>
            <p:cNvSpPr/>
            <p:nvPr/>
          </p:nvSpPr>
          <p:spPr>
            <a:xfrm>
              <a:off x="4311748" y="2473725"/>
              <a:ext cx="3339345" cy="3295478"/>
            </a:xfrm>
            <a:custGeom>
              <a:avLst/>
              <a:gdLst>
                <a:gd name="csX0" fmla="*/ 0 w 3061337"/>
                <a:gd name="csY0" fmla="*/ 1647739 h 3295478"/>
                <a:gd name="csX1" fmla="*/ 1530669 w 3061337"/>
                <a:gd name="csY1" fmla="*/ 0 h 3295478"/>
                <a:gd name="csX2" fmla="*/ 3061338 w 3061337"/>
                <a:gd name="csY2" fmla="*/ 1647739 h 3295478"/>
                <a:gd name="csX3" fmla="*/ 1530669 w 3061337"/>
                <a:gd name="csY3" fmla="*/ 3295478 h 3295478"/>
                <a:gd name="csX4" fmla="*/ 0 w 3061337"/>
                <a:gd name="csY4" fmla="*/ 1647739 h 32954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61337" h="3295478">
                  <a:moveTo>
                    <a:pt x="0" y="1647739"/>
                  </a:moveTo>
                  <a:cubicBezTo>
                    <a:pt x="0" y="737718"/>
                    <a:pt x="685304" y="0"/>
                    <a:pt x="1530669" y="0"/>
                  </a:cubicBezTo>
                  <a:cubicBezTo>
                    <a:pt x="2376034" y="0"/>
                    <a:pt x="3061338" y="737718"/>
                    <a:pt x="3061338" y="1647739"/>
                  </a:cubicBezTo>
                  <a:cubicBezTo>
                    <a:pt x="3061338" y="2557760"/>
                    <a:pt x="2376034" y="3295478"/>
                    <a:pt x="1530669" y="3295478"/>
                  </a:cubicBezTo>
                  <a:cubicBezTo>
                    <a:pt x="685304" y="3295478"/>
                    <a:pt x="0" y="2557760"/>
                    <a:pt x="0" y="1647739"/>
                  </a:cubicBezTo>
                  <a:close/>
                </a:path>
              </a:pathLst>
            </a:custGeom>
            <a:solidFill>
              <a:srgbClr val="F1D81B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847" tIns="492137" rIns="457847" bIns="492137" numCol="1" spcCol="1270" anchor="ctr" anchorCtr="0">
              <a:noAutofit/>
            </a:bodyPr>
            <a:lstStyle/>
            <a:p>
              <a:pPr algn="ctr" defTabSz="6667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400" dirty="0">
                  <a:solidFill>
                    <a:schemeClr val="tx1"/>
                  </a:solidFill>
                </a:rPr>
                <a:t>B: </a:t>
              </a:r>
              <a:r>
                <a:rPr lang="ko-KR" altLang="en-US" sz="2400" dirty="0">
                  <a:solidFill>
                    <a:schemeClr val="tx1"/>
                  </a:solidFill>
                </a:rPr>
                <a:t>시설 대관에 필요한 정보를 제공하고 대관 신청으로 연결하는 것</a:t>
              </a: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CF431102-E405-B6E2-6D7C-711ADE204572}"/>
                </a:ext>
              </a:extLst>
            </p:cNvPr>
            <p:cNvSpPr/>
            <p:nvPr/>
          </p:nvSpPr>
          <p:spPr>
            <a:xfrm>
              <a:off x="2201959" y="4112520"/>
              <a:ext cx="2549150" cy="2466826"/>
            </a:xfrm>
            <a:custGeom>
              <a:avLst/>
              <a:gdLst>
                <a:gd name="csX0" fmla="*/ 0 w 2248404"/>
                <a:gd name="csY0" fmla="*/ 1233413 h 2466826"/>
                <a:gd name="csX1" fmla="*/ 1124202 w 2248404"/>
                <a:gd name="csY1" fmla="*/ 0 h 2466826"/>
                <a:gd name="csX2" fmla="*/ 2248404 w 2248404"/>
                <a:gd name="csY2" fmla="*/ 1233413 h 2466826"/>
                <a:gd name="csX3" fmla="*/ 1124202 w 2248404"/>
                <a:gd name="csY3" fmla="*/ 2466826 h 2466826"/>
                <a:gd name="csX4" fmla="*/ 0 w 2248404"/>
                <a:gd name="csY4" fmla="*/ 1233413 h 2466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48404" h="2466826">
                  <a:moveTo>
                    <a:pt x="0" y="1233413"/>
                  </a:moveTo>
                  <a:cubicBezTo>
                    <a:pt x="0" y="552218"/>
                    <a:pt x="503322" y="0"/>
                    <a:pt x="1124202" y="0"/>
                  </a:cubicBezTo>
                  <a:cubicBezTo>
                    <a:pt x="1745082" y="0"/>
                    <a:pt x="2248404" y="552218"/>
                    <a:pt x="2248404" y="1233413"/>
                  </a:cubicBezTo>
                  <a:cubicBezTo>
                    <a:pt x="2248404" y="1914608"/>
                    <a:pt x="1745082" y="2466826"/>
                    <a:pt x="1124202" y="2466826"/>
                  </a:cubicBezTo>
                  <a:cubicBezTo>
                    <a:pt x="503322" y="2466826"/>
                    <a:pt x="0" y="1914608"/>
                    <a:pt x="0" y="1233413"/>
                  </a:cubicBezTo>
                  <a:close/>
                </a:path>
              </a:pathLst>
            </a:custGeom>
            <a:solidFill>
              <a:srgbClr val="ECCF2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8162" tIns="370148" rIns="338162" bIns="370148" numCol="1" spcCol="1270" anchor="ctr" anchorCtr="0">
              <a:noAutofit/>
            </a:bodyPr>
            <a:lstStyle/>
            <a:p>
              <a:pPr algn="ctr" defTabSz="6223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000" dirty="0">
                  <a:solidFill>
                    <a:schemeClr val="tx1"/>
                  </a:solidFill>
                </a:rPr>
                <a:t>C: </a:t>
              </a:r>
              <a:r>
                <a:rPr lang="ko-KR" altLang="en-US" sz="2000" dirty="0">
                  <a:solidFill>
                    <a:schemeClr val="tx1"/>
                  </a:solidFill>
                </a:rPr>
                <a:t>회관의 문화예술 활동과 소식을 알리고 이용자와 지속적 관계를 형성하는 것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F31DDFC-5CC7-4645-B2E9-F9BC6F40C15D}"/>
              </a:ext>
            </a:extLst>
          </p:cNvPr>
          <p:cNvSpPr txBox="1"/>
          <p:nvPr/>
        </p:nvSpPr>
        <p:spPr>
          <a:xfrm>
            <a:off x="814873" y="3325482"/>
            <a:ext cx="1287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하위목적</a:t>
            </a:r>
            <a:endParaRPr lang="en-US" altLang="ko-KR" sz="2400" dirty="0"/>
          </a:p>
          <a:p>
            <a:pPr algn="ctr"/>
            <a:r>
              <a:rPr lang="en-US" altLang="ko-KR" sz="2400" dirty="0"/>
              <a:t>A/B/C</a:t>
            </a:r>
            <a:endParaRPr lang="ko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1062CE-CCBE-0F64-0A73-6A9A54EE1936}"/>
              </a:ext>
            </a:extLst>
          </p:cNvPr>
          <p:cNvSpPr txBox="1"/>
          <p:nvPr/>
        </p:nvSpPr>
        <p:spPr>
          <a:xfrm>
            <a:off x="7211504" y="1309641"/>
            <a:ext cx="42797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&lt;</a:t>
            </a:r>
            <a:r>
              <a:rPr lang="ko-KR" altLang="en-US" sz="2000" dirty="0" err="1"/>
              <a:t>확인하고자하는것</a:t>
            </a:r>
            <a:r>
              <a:rPr lang="ko-KR" altLang="en-US" sz="2000" dirty="0"/>
              <a:t>: "문화예술 프로그램 → CTA: </a:t>
            </a:r>
            <a:r>
              <a:rPr lang="ko-KR" altLang="en-US" sz="2000" dirty="0" err="1"/>
              <a:t>탐색·예매·신청</a:t>
            </a:r>
            <a:r>
              <a:rPr lang="ko-KR" altLang="en-US" sz="2000" dirty="0"/>
              <a:t>"&gt;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F44FF8-4EF9-1C89-C353-B3491362E8CB}"/>
              </a:ext>
            </a:extLst>
          </p:cNvPr>
          <p:cNvSpPr txBox="1"/>
          <p:nvPr/>
        </p:nvSpPr>
        <p:spPr>
          <a:xfrm>
            <a:off x="7719068" y="3706533"/>
            <a:ext cx="42797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&lt;</a:t>
            </a:r>
            <a:r>
              <a:rPr lang="ko-KR" altLang="en-US" sz="2000" dirty="0" err="1"/>
              <a:t>확인하고자하는것</a:t>
            </a:r>
            <a:r>
              <a:rPr lang="en-US" altLang="ko-KR" sz="2000" dirty="0"/>
              <a:t>: "</a:t>
            </a:r>
            <a:r>
              <a:rPr lang="ko-KR" altLang="en-US" sz="2000" dirty="0"/>
              <a:t>시설 대관 → </a:t>
            </a:r>
            <a:r>
              <a:rPr lang="en-US" altLang="ko-KR" sz="2000" dirty="0"/>
              <a:t>CTA:   </a:t>
            </a:r>
            <a:r>
              <a:rPr lang="ko-KR" altLang="en-US" sz="2000" dirty="0"/>
              <a:t>정보 확인</a:t>
            </a:r>
            <a:r>
              <a:rPr lang="en-US" altLang="ko-KR" sz="2000" dirty="0"/>
              <a:t>·</a:t>
            </a:r>
            <a:r>
              <a:rPr lang="ko-KR" altLang="en-US" sz="2000" dirty="0"/>
              <a:t>대관 신청</a:t>
            </a:r>
            <a:r>
              <a:rPr lang="en-US" altLang="ko-KR" sz="2000" dirty="0"/>
              <a:t>"&gt;</a:t>
            </a:r>
            <a:endParaRPr lang="ko-KR" alt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492C2-D441-374A-D8C9-2440D46C7A05}"/>
              </a:ext>
            </a:extLst>
          </p:cNvPr>
          <p:cNvSpPr txBox="1"/>
          <p:nvPr/>
        </p:nvSpPr>
        <p:spPr>
          <a:xfrm>
            <a:off x="5904407" y="5792050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&lt;</a:t>
            </a:r>
            <a:r>
              <a:rPr lang="ko-KR" altLang="en-US" sz="2000" dirty="0" err="1"/>
              <a:t>확인하고자하는것</a:t>
            </a:r>
            <a:r>
              <a:rPr lang="ko-KR" altLang="en-US" sz="2000" dirty="0"/>
              <a:t>: "자체/</a:t>
            </a:r>
            <a:r>
              <a:rPr lang="ko-KR" altLang="en-US" sz="2000" dirty="0" err="1"/>
              <a:t>비자체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서비스·소식</a:t>
            </a:r>
            <a:r>
              <a:rPr lang="ko-KR" altLang="en-US" sz="2000" dirty="0"/>
              <a:t> → CTA: </a:t>
            </a:r>
            <a:r>
              <a:rPr lang="ko-KR" altLang="en-US" sz="2000" dirty="0" err="1"/>
              <a:t>관심·재방문·관계</a:t>
            </a:r>
            <a:r>
              <a:rPr lang="ko-KR" altLang="en-US" sz="2000" dirty="0"/>
              <a:t> 형성"&gt;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3FAAC-9FE9-99CA-4AC4-73122B11D840}"/>
              </a:ext>
            </a:extLst>
          </p:cNvPr>
          <p:cNvSpPr txBox="1"/>
          <p:nvPr/>
        </p:nvSpPr>
        <p:spPr>
          <a:xfrm>
            <a:off x="7299806" y="513818"/>
            <a:ext cx="702574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1" dirty="0"/>
              <a:t>A</a:t>
            </a:r>
            <a:endParaRPr lang="ko-KR" altLang="en-US" sz="540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74459D-18B3-6877-CC60-547B088F8231}"/>
              </a:ext>
            </a:extLst>
          </p:cNvPr>
          <p:cNvSpPr txBox="1"/>
          <p:nvPr/>
        </p:nvSpPr>
        <p:spPr>
          <a:xfrm>
            <a:off x="7747083" y="2927215"/>
            <a:ext cx="702574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1" dirty="0"/>
              <a:t>B</a:t>
            </a:r>
            <a:endParaRPr lang="ko-KR" altLang="en-US" sz="540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A030C4-F208-A7E7-C819-0F7DA1E8F5C8}"/>
              </a:ext>
            </a:extLst>
          </p:cNvPr>
          <p:cNvSpPr txBox="1"/>
          <p:nvPr/>
        </p:nvSpPr>
        <p:spPr>
          <a:xfrm>
            <a:off x="7440893" y="4974266"/>
            <a:ext cx="702574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1" dirty="0"/>
              <a:t>C</a:t>
            </a:r>
            <a:endParaRPr lang="ko-KR" altLang="en-US" sz="5401" dirty="0"/>
          </a:p>
        </p:txBody>
      </p:sp>
    </p:spTree>
    <p:extLst>
      <p:ext uri="{BB962C8B-B14F-4D97-AF65-F5344CB8AC3E}">
        <p14:creationId xmlns:p14="http://schemas.microsoft.com/office/powerpoint/2010/main" val="63244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4F6C-C1BD-DD92-1CE8-3F5382AC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1267D-8B79-7E7D-6747-229738CA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사이트의 히어로 분석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75B6B131-219A-DAC0-F3A7-39F6DDC19C16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DBFEC-E1E0-5CA7-6F5D-B02EE84A3545}"/>
              </a:ext>
            </a:extLst>
          </p:cNvPr>
          <p:cNvSpPr txBox="1"/>
          <p:nvPr/>
        </p:nvSpPr>
        <p:spPr>
          <a:xfrm>
            <a:off x="168357" y="1038930"/>
            <a:ext cx="9937177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5. </a:t>
            </a:r>
            <a:r>
              <a:rPr lang="ko-KR" altLang="en-US" sz="1801" dirty="0" err="1"/>
              <a:t>메인화면</a:t>
            </a:r>
            <a:r>
              <a:rPr lang="en-US" altLang="ko-KR" sz="1801" dirty="0"/>
              <a:t>(Hero) - </a:t>
            </a:r>
            <a:r>
              <a:rPr lang="ko-KR" altLang="en-US" sz="1801" dirty="0"/>
              <a:t>처음 들어갔을 때 </a:t>
            </a:r>
            <a:r>
              <a:rPr lang="en-US" altLang="ko-KR" sz="1801" dirty="0"/>
              <a:t>"</a:t>
            </a:r>
            <a:r>
              <a:rPr lang="ko-KR" altLang="en-US" sz="1801" dirty="0"/>
              <a:t>무엇을 가장 먼저 보여주는가</a:t>
            </a:r>
            <a:r>
              <a:rPr lang="en-US" altLang="ko-KR" sz="1801" dirty="0"/>
              <a:t>"?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Hero → </a:t>
            </a:r>
            <a:r>
              <a:rPr lang="ko-KR" altLang="en-US" sz="1801" dirty="0"/>
              <a:t>주로 </a:t>
            </a:r>
            <a:r>
              <a:rPr lang="en-US" altLang="ko-KR" sz="1801" dirty="0"/>
              <a:t>B2C </a:t>
            </a:r>
            <a:r>
              <a:rPr lang="ko-KR" altLang="en-US" sz="1801" dirty="0"/>
              <a:t>이용자의 프로그램 탐색에 영향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대관 정보</a:t>
            </a:r>
            <a:r>
              <a:rPr lang="en-US" altLang="ko-KR" sz="1801" dirty="0"/>
              <a:t>/CTA → B2B </a:t>
            </a:r>
            <a:r>
              <a:rPr lang="ko-KR" altLang="en-US" sz="1801" dirty="0"/>
              <a:t>이용자에게 중요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공식 소식</a:t>
            </a:r>
            <a:r>
              <a:rPr lang="en-US" altLang="ko-KR" sz="1801" dirty="0"/>
              <a:t>·</a:t>
            </a:r>
            <a:r>
              <a:rPr lang="ko-KR" altLang="en-US" sz="1801" dirty="0"/>
              <a:t>멤버십 → 일반 이용자와 재방문 이용자에게 중요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63D4D-803D-11C3-62E6-81EB7D98DA8C}"/>
              </a:ext>
            </a:extLst>
          </p:cNvPr>
          <p:cNvSpPr txBox="1"/>
          <p:nvPr/>
        </p:nvSpPr>
        <p:spPr>
          <a:xfrm>
            <a:off x="168358" y="2923605"/>
            <a:ext cx="6392699" cy="1293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경험추론</a:t>
            </a:r>
          </a:p>
          <a:p>
            <a:r>
              <a:rPr lang="ko-KR" altLang="en-US" sz="1801" dirty="0"/>
              <a:t>- 과도한 인지 부하</a:t>
            </a:r>
          </a:p>
          <a:p>
            <a:r>
              <a:rPr lang="ko-KR" altLang="en-US" sz="1801" dirty="0"/>
              <a:t>   서로 다른 4개의 공연 정보가 동시에 노출되어 사용자가 여러 정보를</a:t>
            </a:r>
          </a:p>
          <a:p>
            <a:r>
              <a:rPr lang="ko-KR" altLang="en-US" sz="1801" dirty="0"/>
              <a:t>   동시에 </a:t>
            </a:r>
            <a:r>
              <a:rPr lang="ko-KR" altLang="en-US" sz="1801" dirty="0" err="1"/>
              <a:t>비교·처리해야</a:t>
            </a:r>
            <a:r>
              <a:rPr lang="ko-KR" altLang="en-US" sz="1801" dirty="0"/>
              <a:t> 하므로 인지 부담이 커질 가능성이 있다.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D70051-039F-D941-69E3-5752A9F5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067" y="4121557"/>
            <a:ext cx="5145710" cy="24401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E691BC5-67A1-833C-3634-5AB40A5B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868" y="1549180"/>
            <a:ext cx="4988107" cy="237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7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D617-14C2-A4F8-3E1B-CF681C54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4D3A0-F49E-76A6-21BC-A72FCB8F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사이트의 히어로 분석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1481C35C-851F-5927-9AE8-390AC80349D8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3230F-EBE8-CAF8-06D5-96E6EFB260CD}"/>
              </a:ext>
            </a:extLst>
          </p:cNvPr>
          <p:cNvSpPr txBox="1"/>
          <p:nvPr/>
        </p:nvSpPr>
        <p:spPr>
          <a:xfrm>
            <a:off x="168359" y="1038930"/>
            <a:ext cx="11030684" cy="431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시선의 분산, 명확한 초점 부재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- “어떤 정보, 먼저 읽고 처리해야 할지 몰라” -&gt; “</a:t>
            </a:r>
            <a:r>
              <a:rPr lang="ko-KR" altLang="en-US" sz="1801" dirty="0" err="1"/>
              <a:t>Hero에서</a:t>
            </a:r>
            <a:r>
              <a:rPr lang="ko-KR" altLang="en-US" sz="1801" dirty="0"/>
              <a:t> 시각적 우선순위가 명확하지 않을 가능성”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4등분 되어 있어 시선이 길을 잃게 되고, 결과적으로 어떤 공연도 강렬하게 기억에 남지 않음.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</a:t>
            </a:r>
            <a:r>
              <a:rPr lang="ko-KR" altLang="en-US" sz="1801" dirty="0" err="1"/>
              <a:t>Hero</a:t>
            </a:r>
            <a:r>
              <a:rPr lang="ko-KR" altLang="en-US" sz="1801" dirty="0"/>
              <a:t> 섹션 본연의 역할을 다하기 어려움. "가장 강력한 하나의 메시지를 전달하지 못함"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</a:t>
            </a:r>
            <a:r>
              <a:rPr lang="ko-KR" altLang="en-US" sz="2400" dirty="0">
                <a:solidFill>
                  <a:srgbClr val="ECCF20"/>
                </a:solidFill>
              </a:rPr>
              <a:t>⬇⬇⬇⬇⬇⬇⬇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"세종문화회관 사이트의 중요한 목적 중 하나가: 문화예술 프로그램을 탐색하도록 하는 것"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"그런데 </a:t>
            </a:r>
            <a:r>
              <a:rPr lang="ko-KR" altLang="en-US" sz="1801" dirty="0" err="1"/>
              <a:t>Hero에서</a:t>
            </a:r>
            <a:r>
              <a:rPr lang="ko-KR" altLang="en-US" sz="1801" dirty="0"/>
              <a:t> 4개 프로그램이 동일한 수준으로 경쟁하면,"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</a:t>
            </a:r>
            <a:r>
              <a:rPr lang="ko-KR" altLang="en-US" sz="2400" dirty="0"/>
              <a:t>"프로그램을 </a:t>
            </a:r>
            <a:r>
              <a:rPr lang="ko-KR" altLang="en-US" sz="2400" dirty="0" err="1"/>
              <a:t>발견시키는</a:t>
            </a:r>
            <a:r>
              <a:rPr lang="ko-KR" altLang="en-US" sz="2400" dirty="0"/>
              <a:t> 데는 성공하지만, 무엇을 우선적으로 탐색해야 하는지 명확하게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    </a:t>
            </a:r>
            <a:r>
              <a:rPr lang="ko-KR" altLang="en-US" sz="2400" dirty="0"/>
              <a:t>안내하지 못할 가능성 있음"</a:t>
            </a:r>
          </a:p>
        </p:txBody>
      </p:sp>
    </p:spTree>
    <p:extLst>
      <p:ext uri="{BB962C8B-B14F-4D97-AF65-F5344CB8AC3E}">
        <p14:creationId xmlns:p14="http://schemas.microsoft.com/office/powerpoint/2010/main" val="161189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1598-4FE8-BC19-4143-9EE45AAF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01CDB-43D4-D895-F1E4-0A27F45D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사이트의 히어로 분석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1F319600-3F02-E125-F70F-422BDEF1E628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BDFE7-8612-8589-1F86-5D3DE55C297C}"/>
              </a:ext>
            </a:extLst>
          </p:cNvPr>
          <p:cNvSpPr txBox="1"/>
          <p:nvPr/>
        </p:nvSpPr>
        <p:spPr>
          <a:xfrm>
            <a:off x="168359" y="1038930"/>
            <a:ext cx="11030684" cy="1836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선택지의 분산 </a:t>
            </a:r>
            <a:r>
              <a:rPr lang="en-US" altLang="ko-KR" sz="1801" dirty="0">
                <a:solidFill>
                  <a:srgbClr val="ECCF20"/>
                </a:solidFill>
              </a:rPr>
              <a:t>※ </a:t>
            </a:r>
            <a:r>
              <a:rPr lang="ko-KR" altLang="en-US" sz="1801" dirty="0">
                <a:solidFill>
                  <a:srgbClr val="ECCF20"/>
                </a:solidFill>
              </a:rPr>
              <a:t>일반 이용자</a:t>
            </a:r>
            <a:r>
              <a:rPr lang="en-US" altLang="ko-KR" sz="1801" dirty="0">
                <a:solidFill>
                  <a:srgbClr val="ECCF20"/>
                </a:solidFill>
              </a:rPr>
              <a:t>(B2C)</a:t>
            </a:r>
            <a:r>
              <a:rPr lang="ko-KR" altLang="en-US" sz="1801" dirty="0">
                <a:solidFill>
                  <a:srgbClr val="ECCF20"/>
                </a:solidFill>
              </a:rPr>
              <a:t>의 관점에서 분석</a:t>
            </a:r>
            <a:endParaRPr lang="en-US" altLang="ko-KR" sz="1801" dirty="0">
              <a:solidFill>
                <a:srgbClr val="ECCF2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801" dirty="0"/>
              <a:t>   서로 다른 공연을 동시에 제시하면서 사용자가 어떤 프로그램을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우선적으로 살펴볼지 판단해야 하는 과정이 추가될 수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 </a:t>
            </a:r>
            <a:r>
              <a:rPr lang="ko-KR" altLang="en-US" sz="1801" dirty="0"/>
              <a:t>이 과정에서 사용자의 프로그램 탐색 및 정보 확인이라는 목적을 실행하기까지의 인지적 지연이 발생할 가능성이 있다</a:t>
            </a:r>
            <a:r>
              <a:rPr lang="en-US" altLang="ko-KR" sz="1801" dirty="0"/>
              <a:t>.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83883F-30D3-C5FD-0B24-2622D59C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74" y="2791198"/>
            <a:ext cx="6206254" cy="413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24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5F79-9A7E-267F-6EA2-34DB49F0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2DA2A-BBDD-5832-B1F9-E7B5350E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콘텐츠 흐름은 </a:t>
            </a:r>
            <a:r>
              <a:rPr lang="ko-KR" altLang="en-US" sz="2800" dirty="0" err="1">
                <a:latin typeface="+mj-ea"/>
              </a:rPr>
              <a:t>어떠한가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369B69F9-72F4-2525-ACA1-EA49055B158B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9FD60-CC73-B84D-5D06-8BEDACC4F28C}"/>
              </a:ext>
            </a:extLst>
          </p:cNvPr>
          <p:cNvSpPr txBox="1"/>
          <p:nvPr/>
        </p:nvSpPr>
        <p:spPr>
          <a:xfrm>
            <a:off x="168357" y="835721"/>
            <a:ext cx="11605721" cy="266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사실분석 </a:t>
            </a:r>
            <a:r>
              <a:rPr lang="en-US" altLang="ko-KR" sz="1801" dirty="0">
                <a:solidFill>
                  <a:srgbClr val="ECCF20"/>
                </a:solidFill>
              </a:rPr>
              <a:t>(</a:t>
            </a:r>
            <a:r>
              <a:rPr lang="ko-KR" altLang="en-US" sz="1801" dirty="0">
                <a:solidFill>
                  <a:srgbClr val="ECCF20"/>
                </a:solidFill>
              </a:rPr>
              <a:t>대략적으로 다음과 같은 흐름으로 </a:t>
            </a:r>
            <a:r>
              <a:rPr lang="ko-KR" altLang="en-US" sz="1801" dirty="0" err="1">
                <a:solidFill>
                  <a:srgbClr val="ECCF20"/>
                </a:solidFill>
              </a:rPr>
              <a:t>구성되어있다</a:t>
            </a:r>
            <a:r>
              <a:rPr lang="en-US" altLang="ko-KR" sz="1801" dirty="0">
                <a:solidFill>
                  <a:srgbClr val="ECCF2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</a:t>
            </a:r>
            <a:r>
              <a:rPr lang="en-US" altLang="ko-KR" sz="1801" dirty="0"/>
              <a:t>- </a:t>
            </a:r>
            <a:r>
              <a:rPr lang="ko-KR" altLang="en-US" sz="1801" dirty="0"/>
              <a:t>상단에서는 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시즌프로그램 등 현재 진행하거나 홍보하려는 문화예술 콘텐츠를 먼저 노출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 - </a:t>
            </a:r>
            <a:r>
              <a:rPr lang="ko-KR" altLang="en-US" sz="1801" dirty="0"/>
              <a:t>이후 멤버십</a:t>
            </a:r>
            <a:r>
              <a:rPr lang="en-US" altLang="ko-KR" sz="1801" dirty="0"/>
              <a:t>, F&amp;B, </a:t>
            </a:r>
            <a:r>
              <a:rPr lang="ko-KR" altLang="en-US" sz="1801" dirty="0"/>
              <a:t>공간형 웹서비스 등 세종문화회관의 자체 서비스를 소개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 - </a:t>
            </a:r>
            <a:r>
              <a:rPr lang="ko-KR" altLang="en-US" sz="1801" dirty="0"/>
              <a:t>그 아래에는 </a:t>
            </a:r>
            <a:r>
              <a:rPr lang="ko-KR" altLang="en-US" sz="1801" dirty="0" err="1"/>
              <a:t>새소식</a:t>
            </a:r>
            <a:r>
              <a:rPr lang="en-US" altLang="ko-KR" sz="1801" dirty="0"/>
              <a:t>, </a:t>
            </a:r>
            <a:r>
              <a:rPr lang="ko-KR" altLang="en-US" sz="1801" dirty="0"/>
              <a:t>대관공고</a:t>
            </a:r>
            <a:r>
              <a:rPr lang="en-US" altLang="ko-KR" sz="1801" dirty="0"/>
              <a:t>, </a:t>
            </a:r>
            <a:r>
              <a:rPr lang="ko-KR" altLang="en-US" sz="1801" dirty="0"/>
              <a:t>티켓오픈 등 </a:t>
            </a:r>
            <a:r>
              <a:rPr lang="ko-KR" altLang="en-US" sz="1801" dirty="0" err="1"/>
              <a:t>정보성</a:t>
            </a:r>
            <a:r>
              <a:rPr lang="ko-KR" altLang="en-US" sz="1801" dirty="0"/>
              <a:t> 콘텐츠가 배치되어 있다</a:t>
            </a:r>
            <a:r>
              <a:rPr lang="en-US" altLang="ko-KR" sz="1801" dirty="0"/>
              <a:t>. </a:t>
            </a:r>
            <a:r>
              <a:rPr lang="ko-KR" altLang="en-US" sz="1801" dirty="0"/>
              <a:t>실제 메인에서도 대관공고와 티켓오픈이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 </a:t>
            </a:r>
            <a:r>
              <a:rPr lang="ko-KR" altLang="en-US" sz="1801" dirty="0"/>
              <a:t>별도 영역으로 제공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 - </a:t>
            </a:r>
            <a:r>
              <a:rPr lang="ko-KR" altLang="en-US" sz="1801" dirty="0"/>
              <a:t>하단으로 갈수록 알림</a:t>
            </a:r>
            <a:r>
              <a:rPr lang="en-US" altLang="ko-KR" sz="1801" dirty="0"/>
              <a:t>, </a:t>
            </a:r>
            <a:r>
              <a:rPr lang="ko-KR" altLang="en-US" sz="1801" dirty="0"/>
              <a:t>예매안내</a:t>
            </a:r>
            <a:r>
              <a:rPr lang="en-US" altLang="ko-KR" sz="1801" dirty="0"/>
              <a:t>, </a:t>
            </a:r>
            <a:r>
              <a:rPr lang="ko-KR" altLang="en-US" sz="1801" dirty="0"/>
              <a:t>오시는 길</a:t>
            </a:r>
            <a:r>
              <a:rPr lang="en-US" altLang="ko-KR" sz="1801" dirty="0"/>
              <a:t>, </a:t>
            </a:r>
            <a:r>
              <a:rPr lang="ko-KR" altLang="en-US" sz="1801" dirty="0"/>
              <a:t>편의시설 등의 이용 지원 정보</a:t>
            </a:r>
            <a:endParaRPr lang="ko-KR" altLang="en-US" sz="24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92760E-A99A-264E-1C50-756A3B9F3767}"/>
              </a:ext>
            </a:extLst>
          </p:cNvPr>
          <p:cNvGrpSpPr/>
          <p:nvPr/>
        </p:nvGrpSpPr>
        <p:grpSpPr>
          <a:xfrm>
            <a:off x="1634504" y="3502733"/>
            <a:ext cx="8922988" cy="2831588"/>
            <a:chOff x="1634503" y="3502733"/>
            <a:chExt cx="8922989" cy="2831587"/>
          </a:xfrm>
        </p:grpSpPr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6F1880DF-D45C-54C3-503F-9AA761382CBB}"/>
                </a:ext>
              </a:extLst>
            </p:cNvPr>
            <p:cNvSpPr/>
            <p:nvPr/>
          </p:nvSpPr>
          <p:spPr>
            <a:xfrm>
              <a:off x="1634503" y="3502733"/>
              <a:ext cx="8922989" cy="2831587"/>
            </a:xfrm>
            <a:prstGeom prst="rightArrow">
              <a:avLst/>
            </a:prstGeom>
            <a:solidFill>
              <a:srgbClr val="D9D9D9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2FD4ADDF-92B9-0E33-8C43-C41007689A6B}"/>
                </a:ext>
              </a:extLst>
            </p:cNvPr>
            <p:cNvSpPr/>
            <p:nvPr/>
          </p:nvSpPr>
          <p:spPr>
            <a:xfrm>
              <a:off x="1634958" y="4352209"/>
              <a:ext cx="1710697" cy="1132634"/>
            </a:xfrm>
            <a:custGeom>
              <a:avLst/>
              <a:gdLst>
                <a:gd name="csX0" fmla="*/ 0 w 1710697"/>
                <a:gd name="csY0" fmla="*/ 188776 h 1132634"/>
                <a:gd name="csX1" fmla="*/ 188776 w 1710697"/>
                <a:gd name="csY1" fmla="*/ 0 h 1132634"/>
                <a:gd name="csX2" fmla="*/ 1521921 w 1710697"/>
                <a:gd name="csY2" fmla="*/ 0 h 1132634"/>
                <a:gd name="csX3" fmla="*/ 1710697 w 1710697"/>
                <a:gd name="csY3" fmla="*/ 188776 h 1132634"/>
                <a:gd name="csX4" fmla="*/ 1710697 w 1710697"/>
                <a:gd name="csY4" fmla="*/ 943858 h 1132634"/>
                <a:gd name="csX5" fmla="*/ 1521921 w 1710697"/>
                <a:gd name="csY5" fmla="*/ 1132634 h 1132634"/>
                <a:gd name="csX6" fmla="*/ 188776 w 1710697"/>
                <a:gd name="csY6" fmla="*/ 1132634 h 1132634"/>
                <a:gd name="csX7" fmla="*/ 0 w 1710697"/>
                <a:gd name="csY7" fmla="*/ 943858 h 1132634"/>
                <a:gd name="csX8" fmla="*/ 0 w 1710697"/>
                <a:gd name="csY8" fmla="*/ 188776 h 113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10697" h="1132634">
                  <a:moveTo>
                    <a:pt x="0" y="188776"/>
                  </a:moveTo>
                  <a:cubicBezTo>
                    <a:pt x="0" y="84518"/>
                    <a:pt x="84518" y="0"/>
                    <a:pt x="188776" y="0"/>
                  </a:cubicBezTo>
                  <a:lnTo>
                    <a:pt x="1521921" y="0"/>
                  </a:lnTo>
                  <a:cubicBezTo>
                    <a:pt x="1626179" y="0"/>
                    <a:pt x="1710697" y="84518"/>
                    <a:pt x="1710697" y="188776"/>
                  </a:cubicBezTo>
                  <a:lnTo>
                    <a:pt x="1710697" y="943858"/>
                  </a:lnTo>
                  <a:cubicBezTo>
                    <a:pt x="1710697" y="1048116"/>
                    <a:pt x="1626179" y="1132634"/>
                    <a:pt x="1521921" y="1132634"/>
                  </a:cubicBezTo>
                  <a:lnTo>
                    <a:pt x="188776" y="1132634"/>
                  </a:lnTo>
                  <a:cubicBezTo>
                    <a:pt x="84518" y="1132634"/>
                    <a:pt x="0" y="1048116"/>
                    <a:pt x="0" y="943858"/>
                  </a:cubicBezTo>
                  <a:lnTo>
                    <a:pt x="0" y="188776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251" tIns="116251" rIns="116251" bIns="116251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① 프로그램</a:t>
              </a:r>
              <a:r>
                <a:rPr lang="en-US" altLang="en-US" sz="2000" dirty="0"/>
                <a:t>·</a:t>
              </a:r>
              <a:r>
                <a:rPr lang="ko-KR" altLang="en-US" sz="2000" dirty="0"/>
                <a:t>주요 행사</a:t>
              </a: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C2375BC2-267E-F528-7826-8CE8ED72B3B2}"/>
                </a:ext>
              </a:extLst>
            </p:cNvPr>
            <p:cNvSpPr/>
            <p:nvPr/>
          </p:nvSpPr>
          <p:spPr>
            <a:xfrm>
              <a:off x="3437804" y="4352209"/>
              <a:ext cx="1710697" cy="1132634"/>
            </a:xfrm>
            <a:custGeom>
              <a:avLst/>
              <a:gdLst>
                <a:gd name="csX0" fmla="*/ 0 w 1710697"/>
                <a:gd name="csY0" fmla="*/ 188776 h 1132634"/>
                <a:gd name="csX1" fmla="*/ 188776 w 1710697"/>
                <a:gd name="csY1" fmla="*/ 0 h 1132634"/>
                <a:gd name="csX2" fmla="*/ 1521921 w 1710697"/>
                <a:gd name="csY2" fmla="*/ 0 h 1132634"/>
                <a:gd name="csX3" fmla="*/ 1710697 w 1710697"/>
                <a:gd name="csY3" fmla="*/ 188776 h 1132634"/>
                <a:gd name="csX4" fmla="*/ 1710697 w 1710697"/>
                <a:gd name="csY4" fmla="*/ 943858 h 1132634"/>
                <a:gd name="csX5" fmla="*/ 1521921 w 1710697"/>
                <a:gd name="csY5" fmla="*/ 1132634 h 1132634"/>
                <a:gd name="csX6" fmla="*/ 188776 w 1710697"/>
                <a:gd name="csY6" fmla="*/ 1132634 h 1132634"/>
                <a:gd name="csX7" fmla="*/ 0 w 1710697"/>
                <a:gd name="csY7" fmla="*/ 943858 h 1132634"/>
                <a:gd name="csX8" fmla="*/ 0 w 1710697"/>
                <a:gd name="csY8" fmla="*/ 188776 h 113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10697" h="1132634">
                  <a:moveTo>
                    <a:pt x="0" y="188776"/>
                  </a:moveTo>
                  <a:cubicBezTo>
                    <a:pt x="0" y="84518"/>
                    <a:pt x="84518" y="0"/>
                    <a:pt x="188776" y="0"/>
                  </a:cubicBezTo>
                  <a:lnTo>
                    <a:pt x="1521921" y="0"/>
                  </a:lnTo>
                  <a:cubicBezTo>
                    <a:pt x="1626179" y="0"/>
                    <a:pt x="1710697" y="84518"/>
                    <a:pt x="1710697" y="188776"/>
                  </a:cubicBezTo>
                  <a:lnTo>
                    <a:pt x="1710697" y="943858"/>
                  </a:lnTo>
                  <a:cubicBezTo>
                    <a:pt x="1710697" y="1048116"/>
                    <a:pt x="1626179" y="1132634"/>
                    <a:pt x="1521921" y="1132634"/>
                  </a:cubicBezTo>
                  <a:lnTo>
                    <a:pt x="188776" y="1132634"/>
                  </a:lnTo>
                  <a:cubicBezTo>
                    <a:pt x="84518" y="1132634"/>
                    <a:pt x="0" y="1048116"/>
                    <a:pt x="0" y="943858"/>
                  </a:cubicBezTo>
                  <a:lnTo>
                    <a:pt x="0" y="188776"/>
                  </a:lnTo>
                  <a:close/>
                </a:path>
              </a:pathLst>
            </a:custGeom>
            <a:solidFill>
              <a:srgbClr val="ECCF2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251" tIns="116251" rIns="116251" bIns="116251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② 부가</a:t>
              </a:r>
              <a:r>
                <a:rPr lang="en-US" altLang="en-US" sz="2000" dirty="0"/>
                <a:t>/</a:t>
              </a:r>
              <a:r>
                <a:rPr lang="ko-KR" altLang="en-US" sz="2000" dirty="0"/>
                <a:t>자체</a:t>
              </a:r>
              <a:endParaRPr lang="en-US" altLang="ko-KR" sz="2000" dirty="0"/>
            </a:p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서비스</a:t>
              </a: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7B3F7B6-9A71-3053-9006-8481A58DDBC4}"/>
                </a:ext>
              </a:extLst>
            </p:cNvPr>
            <p:cNvSpPr/>
            <p:nvPr/>
          </p:nvSpPr>
          <p:spPr>
            <a:xfrm>
              <a:off x="5240651" y="4352209"/>
              <a:ext cx="1710697" cy="1132634"/>
            </a:xfrm>
            <a:custGeom>
              <a:avLst/>
              <a:gdLst>
                <a:gd name="csX0" fmla="*/ 0 w 1710697"/>
                <a:gd name="csY0" fmla="*/ 188776 h 1132634"/>
                <a:gd name="csX1" fmla="*/ 188776 w 1710697"/>
                <a:gd name="csY1" fmla="*/ 0 h 1132634"/>
                <a:gd name="csX2" fmla="*/ 1521921 w 1710697"/>
                <a:gd name="csY2" fmla="*/ 0 h 1132634"/>
                <a:gd name="csX3" fmla="*/ 1710697 w 1710697"/>
                <a:gd name="csY3" fmla="*/ 188776 h 1132634"/>
                <a:gd name="csX4" fmla="*/ 1710697 w 1710697"/>
                <a:gd name="csY4" fmla="*/ 943858 h 1132634"/>
                <a:gd name="csX5" fmla="*/ 1521921 w 1710697"/>
                <a:gd name="csY5" fmla="*/ 1132634 h 1132634"/>
                <a:gd name="csX6" fmla="*/ 188776 w 1710697"/>
                <a:gd name="csY6" fmla="*/ 1132634 h 1132634"/>
                <a:gd name="csX7" fmla="*/ 0 w 1710697"/>
                <a:gd name="csY7" fmla="*/ 943858 h 1132634"/>
                <a:gd name="csX8" fmla="*/ 0 w 1710697"/>
                <a:gd name="csY8" fmla="*/ 188776 h 113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10697" h="1132634">
                  <a:moveTo>
                    <a:pt x="0" y="188776"/>
                  </a:moveTo>
                  <a:cubicBezTo>
                    <a:pt x="0" y="84518"/>
                    <a:pt x="84518" y="0"/>
                    <a:pt x="188776" y="0"/>
                  </a:cubicBezTo>
                  <a:lnTo>
                    <a:pt x="1521921" y="0"/>
                  </a:lnTo>
                  <a:cubicBezTo>
                    <a:pt x="1626179" y="0"/>
                    <a:pt x="1710697" y="84518"/>
                    <a:pt x="1710697" y="188776"/>
                  </a:cubicBezTo>
                  <a:lnTo>
                    <a:pt x="1710697" y="943858"/>
                  </a:lnTo>
                  <a:cubicBezTo>
                    <a:pt x="1710697" y="1048116"/>
                    <a:pt x="1626179" y="1132634"/>
                    <a:pt x="1521921" y="1132634"/>
                  </a:cubicBezTo>
                  <a:lnTo>
                    <a:pt x="188776" y="1132634"/>
                  </a:lnTo>
                  <a:cubicBezTo>
                    <a:pt x="84518" y="1132634"/>
                    <a:pt x="0" y="1048116"/>
                    <a:pt x="0" y="943858"/>
                  </a:cubicBezTo>
                  <a:lnTo>
                    <a:pt x="0" y="188776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251" tIns="116251" rIns="116251" bIns="116251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③ 세종소식</a:t>
              </a:r>
              <a:r>
                <a:rPr lang="en-US" altLang="en-US" sz="2000" dirty="0"/>
                <a:t>·</a:t>
              </a:r>
              <a:r>
                <a:rPr lang="ko-KR" altLang="en-US" sz="2000" dirty="0"/>
                <a:t>티켓오픈</a:t>
              </a:r>
              <a:r>
                <a:rPr lang="en-US" altLang="en-US" sz="2000" dirty="0"/>
                <a:t>·</a:t>
              </a:r>
              <a:r>
                <a:rPr lang="ko-KR" altLang="en-US" sz="2000" dirty="0"/>
                <a:t>대관공고 등 정보</a:t>
              </a: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EB2D7CB0-ABAD-6729-A91D-CBF996C6F38F}"/>
                </a:ext>
              </a:extLst>
            </p:cNvPr>
            <p:cNvSpPr/>
            <p:nvPr/>
          </p:nvSpPr>
          <p:spPr>
            <a:xfrm>
              <a:off x="7043497" y="4352209"/>
              <a:ext cx="1710697" cy="1132634"/>
            </a:xfrm>
            <a:custGeom>
              <a:avLst/>
              <a:gdLst>
                <a:gd name="csX0" fmla="*/ 0 w 1710697"/>
                <a:gd name="csY0" fmla="*/ 188776 h 1132634"/>
                <a:gd name="csX1" fmla="*/ 188776 w 1710697"/>
                <a:gd name="csY1" fmla="*/ 0 h 1132634"/>
                <a:gd name="csX2" fmla="*/ 1521921 w 1710697"/>
                <a:gd name="csY2" fmla="*/ 0 h 1132634"/>
                <a:gd name="csX3" fmla="*/ 1710697 w 1710697"/>
                <a:gd name="csY3" fmla="*/ 188776 h 1132634"/>
                <a:gd name="csX4" fmla="*/ 1710697 w 1710697"/>
                <a:gd name="csY4" fmla="*/ 943858 h 1132634"/>
                <a:gd name="csX5" fmla="*/ 1521921 w 1710697"/>
                <a:gd name="csY5" fmla="*/ 1132634 h 1132634"/>
                <a:gd name="csX6" fmla="*/ 188776 w 1710697"/>
                <a:gd name="csY6" fmla="*/ 1132634 h 1132634"/>
                <a:gd name="csX7" fmla="*/ 0 w 1710697"/>
                <a:gd name="csY7" fmla="*/ 943858 h 1132634"/>
                <a:gd name="csX8" fmla="*/ 0 w 1710697"/>
                <a:gd name="csY8" fmla="*/ 188776 h 113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10697" h="1132634">
                  <a:moveTo>
                    <a:pt x="0" y="188776"/>
                  </a:moveTo>
                  <a:cubicBezTo>
                    <a:pt x="0" y="84518"/>
                    <a:pt x="84518" y="0"/>
                    <a:pt x="188776" y="0"/>
                  </a:cubicBezTo>
                  <a:lnTo>
                    <a:pt x="1521921" y="0"/>
                  </a:lnTo>
                  <a:cubicBezTo>
                    <a:pt x="1626179" y="0"/>
                    <a:pt x="1710697" y="84518"/>
                    <a:pt x="1710697" y="188776"/>
                  </a:cubicBezTo>
                  <a:lnTo>
                    <a:pt x="1710697" y="943858"/>
                  </a:lnTo>
                  <a:cubicBezTo>
                    <a:pt x="1710697" y="1048116"/>
                    <a:pt x="1626179" y="1132634"/>
                    <a:pt x="1521921" y="1132634"/>
                  </a:cubicBezTo>
                  <a:lnTo>
                    <a:pt x="188776" y="1132634"/>
                  </a:lnTo>
                  <a:cubicBezTo>
                    <a:pt x="84518" y="1132634"/>
                    <a:pt x="0" y="1048116"/>
                    <a:pt x="0" y="943858"/>
                  </a:cubicBezTo>
                  <a:lnTo>
                    <a:pt x="0" y="188776"/>
                  </a:lnTo>
                  <a:close/>
                </a:path>
              </a:pathLst>
            </a:custGeom>
            <a:solidFill>
              <a:srgbClr val="ECCF2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251" tIns="116251" rIns="116251" bIns="116251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④ </a:t>
              </a:r>
              <a:r>
                <a:rPr lang="ko-KR" altLang="en-US" sz="2000" dirty="0" err="1"/>
                <a:t>알림존</a:t>
              </a:r>
              <a:endParaRPr lang="ko-KR" altLang="en-US" sz="2000" dirty="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6919896-4160-E9DA-F961-65701692B19C}"/>
                </a:ext>
              </a:extLst>
            </p:cNvPr>
            <p:cNvSpPr/>
            <p:nvPr/>
          </p:nvSpPr>
          <p:spPr>
            <a:xfrm>
              <a:off x="8846344" y="4352209"/>
              <a:ext cx="1710697" cy="1132634"/>
            </a:xfrm>
            <a:custGeom>
              <a:avLst/>
              <a:gdLst>
                <a:gd name="csX0" fmla="*/ 0 w 1710697"/>
                <a:gd name="csY0" fmla="*/ 188776 h 1132634"/>
                <a:gd name="csX1" fmla="*/ 188776 w 1710697"/>
                <a:gd name="csY1" fmla="*/ 0 h 1132634"/>
                <a:gd name="csX2" fmla="*/ 1521921 w 1710697"/>
                <a:gd name="csY2" fmla="*/ 0 h 1132634"/>
                <a:gd name="csX3" fmla="*/ 1710697 w 1710697"/>
                <a:gd name="csY3" fmla="*/ 188776 h 1132634"/>
                <a:gd name="csX4" fmla="*/ 1710697 w 1710697"/>
                <a:gd name="csY4" fmla="*/ 943858 h 1132634"/>
                <a:gd name="csX5" fmla="*/ 1521921 w 1710697"/>
                <a:gd name="csY5" fmla="*/ 1132634 h 1132634"/>
                <a:gd name="csX6" fmla="*/ 188776 w 1710697"/>
                <a:gd name="csY6" fmla="*/ 1132634 h 1132634"/>
                <a:gd name="csX7" fmla="*/ 0 w 1710697"/>
                <a:gd name="csY7" fmla="*/ 943858 h 1132634"/>
                <a:gd name="csX8" fmla="*/ 0 w 1710697"/>
                <a:gd name="csY8" fmla="*/ 188776 h 113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10697" h="1132634">
                  <a:moveTo>
                    <a:pt x="0" y="188776"/>
                  </a:moveTo>
                  <a:cubicBezTo>
                    <a:pt x="0" y="84518"/>
                    <a:pt x="84518" y="0"/>
                    <a:pt x="188776" y="0"/>
                  </a:cubicBezTo>
                  <a:lnTo>
                    <a:pt x="1521921" y="0"/>
                  </a:lnTo>
                  <a:cubicBezTo>
                    <a:pt x="1626179" y="0"/>
                    <a:pt x="1710697" y="84518"/>
                    <a:pt x="1710697" y="188776"/>
                  </a:cubicBezTo>
                  <a:lnTo>
                    <a:pt x="1710697" y="943858"/>
                  </a:lnTo>
                  <a:cubicBezTo>
                    <a:pt x="1710697" y="1048116"/>
                    <a:pt x="1626179" y="1132634"/>
                    <a:pt x="1521921" y="1132634"/>
                  </a:cubicBezTo>
                  <a:lnTo>
                    <a:pt x="188776" y="1132634"/>
                  </a:lnTo>
                  <a:cubicBezTo>
                    <a:pt x="84518" y="1132634"/>
                    <a:pt x="0" y="1048116"/>
                    <a:pt x="0" y="943858"/>
                  </a:cubicBezTo>
                  <a:lnTo>
                    <a:pt x="0" y="188776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251" tIns="116251" rIns="116251" bIns="116251" numCol="1" spcCol="1270" anchor="ctr" anchorCtr="0">
              <a:noAutofit/>
            </a:bodyPr>
            <a:lstStyle/>
            <a:p>
              <a:pPr algn="ctr" defTabSz="71120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000" dirty="0"/>
                <a:t>⑤ 이용 관련 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034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F81A-BD08-4C60-56C7-41843662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584CF-D5F6-A6B4-B3EA-0EE6C8F2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콘텐츠 흐름은 </a:t>
            </a:r>
            <a:r>
              <a:rPr lang="ko-KR" altLang="en-US" sz="2800" dirty="0" err="1">
                <a:latin typeface="+mj-ea"/>
              </a:rPr>
              <a:t>어떠한가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DE24FD30-6364-089F-A87F-D031F5FA4BBC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ACB8E-02C0-FF3C-F084-219AE9350BC2}"/>
              </a:ext>
            </a:extLst>
          </p:cNvPr>
          <p:cNvSpPr txBox="1"/>
          <p:nvPr/>
        </p:nvSpPr>
        <p:spPr>
          <a:xfrm>
            <a:off x="168359" y="835720"/>
            <a:ext cx="12180754" cy="266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경험추론 </a:t>
            </a:r>
            <a:r>
              <a:rPr lang="en-US" altLang="ko-KR" sz="1801" dirty="0">
                <a:solidFill>
                  <a:srgbClr val="ECCF20"/>
                </a:solidFill>
              </a:rPr>
              <a:t>(</a:t>
            </a:r>
            <a:r>
              <a:rPr lang="ko-KR" altLang="en-US" sz="1801" dirty="0">
                <a:solidFill>
                  <a:srgbClr val="ECCF20"/>
                </a:solidFill>
              </a:rPr>
              <a:t>대략적으로 다음과 같은 흐름으로 </a:t>
            </a:r>
            <a:r>
              <a:rPr lang="ko-KR" altLang="en-US" sz="1801" dirty="0" err="1">
                <a:solidFill>
                  <a:srgbClr val="ECCF20"/>
                </a:solidFill>
              </a:rPr>
              <a:t>구성되어있다</a:t>
            </a:r>
            <a:r>
              <a:rPr lang="en-US" altLang="ko-KR" sz="1801" dirty="0">
                <a:solidFill>
                  <a:srgbClr val="ECCF2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   </a:t>
            </a:r>
            <a:r>
              <a:rPr lang="ko-KR" altLang="en-US" sz="1801" dirty="0"/>
              <a:t>콘텐츠 종류가 매우 다양해서 사용자가 스크롤하면서 자신의 목적에 맞는 정보를 직접 찾아야 하는 구조가 될 가능성이 있다</a:t>
            </a:r>
            <a:r>
              <a:rPr lang="en-US" altLang="ko-KR" sz="1801" dirty="0"/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801" dirty="0"/>
              <a:t>특히 프로그램 → 자체 서비스 → 소식 → 티켓오픈 → 대관공고 → 알림처럼 서로 목적이 다른 콘텐츠가 연속적으로 배치되어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</a:t>
            </a:r>
            <a:r>
              <a:rPr lang="ko-KR" altLang="en-US" sz="1801" dirty="0"/>
              <a:t>있어</a:t>
            </a:r>
            <a:r>
              <a:rPr lang="en-US" altLang="ko-KR" sz="1801" dirty="0"/>
              <a:t>,</a:t>
            </a:r>
            <a:r>
              <a:rPr lang="ko-KR" altLang="en-US" sz="1801" dirty="0"/>
              <a:t>정보 간 우선순위를 한눈에 파악하기 어려울 수 있다</a:t>
            </a:r>
            <a:r>
              <a:rPr lang="en-US" altLang="ko-KR" sz="1801" dirty="0"/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801" dirty="0"/>
              <a:t>일반 관람객뿐 아니라 대관 이용자 등도 사이트를 이용하기 때문에</a:t>
            </a:r>
            <a:r>
              <a:rPr lang="en-US" altLang="ko-KR" sz="1801" dirty="0"/>
              <a:t>, </a:t>
            </a:r>
            <a:r>
              <a:rPr lang="ko-KR" altLang="en-US" sz="1801" dirty="0"/>
              <a:t>각 사용자 목적에 필요한 정보가 어디에 위치하는지 빠르게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</a:t>
            </a:r>
            <a:r>
              <a:rPr lang="ko-KR" altLang="en-US" sz="1801" dirty="0"/>
              <a:t>판단하는 것이 중요하다</a:t>
            </a:r>
            <a:r>
              <a:rPr lang="en-US" altLang="ko-KR" sz="180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921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62EE-BEC2-A057-1593-FD522776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DA6A4-0D31-38D6-2CBC-AE9B03F4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마케팅</a:t>
            </a:r>
            <a:r>
              <a:rPr lang="en-US" altLang="ko-KR" sz="2800" dirty="0">
                <a:latin typeface="+mj-ea"/>
              </a:rPr>
              <a:t>: </a:t>
            </a:r>
            <a:r>
              <a:rPr lang="ko-KR" altLang="en-US" sz="2800" dirty="0">
                <a:latin typeface="+mj-ea"/>
              </a:rPr>
              <a:t>설득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25F92D3F-537F-AE92-B4E3-464D737B9F6B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0084A-216F-1C35-BEE5-71CD4AF82FF1}"/>
              </a:ext>
            </a:extLst>
          </p:cNvPr>
          <p:cNvSpPr txBox="1"/>
          <p:nvPr/>
        </p:nvSpPr>
        <p:spPr>
          <a:xfrm>
            <a:off x="168357" y="835722"/>
            <a:ext cx="11747122" cy="585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1" dirty="0"/>
              <a:t>사실분석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주요 공연</a:t>
            </a:r>
            <a:r>
              <a:rPr lang="en-US" altLang="ko-KR" sz="1801" dirty="0"/>
              <a:t>·</a:t>
            </a:r>
            <a:r>
              <a:rPr lang="ko-KR" altLang="en-US" sz="1801" dirty="0"/>
              <a:t>프로그램을 대형 이미지와 함께 반복적으로 노출한다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- 2026 </a:t>
            </a:r>
            <a:r>
              <a:rPr lang="ko-KR" altLang="en-US" sz="1801" dirty="0"/>
              <a:t>세종시즌</a:t>
            </a:r>
            <a:r>
              <a:rPr lang="en-US" altLang="ko-KR" sz="1801" dirty="0"/>
              <a:t>, </a:t>
            </a:r>
            <a:r>
              <a:rPr lang="ko-KR" altLang="en-US" sz="1801" dirty="0" err="1"/>
              <a:t>서울아트굿즈페스티벌</a:t>
            </a:r>
            <a:r>
              <a:rPr lang="en-US" altLang="ko-KR" sz="1801" dirty="0"/>
              <a:t>, </a:t>
            </a:r>
            <a:r>
              <a:rPr lang="ko-KR" altLang="en-US" sz="1801" dirty="0"/>
              <a:t>백스테이지 투어</a:t>
            </a:r>
            <a:r>
              <a:rPr lang="en-US" altLang="ko-KR" sz="1801" dirty="0"/>
              <a:t>, </a:t>
            </a:r>
            <a:r>
              <a:rPr lang="ko-KR" altLang="en-US" sz="1801" dirty="0"/>
              <a:t>세종예술아카데미 등 현재 또는 예정된 프로그램을 지속적으로 노출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티켓오픈 영역에서 앞으로 예매가 시작되는 공연을 별도로 알린다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멤버십 혜택과 이벤트도 메인에서 노출한다</a:t>
            </a:r>
            <a:r>
              <a:rPr lang="en-US" altLang="ko-KR" sz="1801" dirty="0"/>
              <a:t>. </a:t>
            </a:r>
            <a:r>
              <a:rPr lang="ko-KR" altLang="en-US" sz="1801" dirty="0"/>
              <a:t>실제 공연 상세 페이지에서도 세종</a:t>
            </a:r>
            <a:r>
              <a:rPr lang="en-US" altLang="ko-KR" sz="1801" dirty="0"/>
              <a:t>S</a:t>
            </a:r>
            <a:r>
              <a:rPr lang="ko-KR" altLang="en-US" sz="1801" dirty="0"/>
              <a:t>멤버십</a:t>
            </a:r>
            <a:r>
              <a:rPr lang="en-US" altLang="ko-KR" sz="1801" dirty="0"/>
              <a:t>, </a:t>
            </a:r>
            <a:r>
              <a:rPr lang="ko-KR" altLang="en-US" sz="1801" dirty="0" err="1"/>
              <a:t>얼리버드</a:t>
            </a:r>
            <a:r>
              <a:rPr lang="ko-KR" altLang="en-US" sz="1801" dirty="0"/>
              <a:t> 등의 할인 혜택이 제공됨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뉴스레터 신청</a:t>
            </a:r>
            <a:r>
              <a:rPr lang="en-US" altLang="ko-KR" sz="1801" dirty="0"/>
              <a:t>, </a:t>
            </a:r>
            <a:r>
              <a:rPr lang="ko-KR" altLang="en-US" sz="1801" dirty="0"/>
              <a:t>이벤트 등의 접점을 제공함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ko-KR" altLang="en-US" sz="1801" dirty="0"/>
              <a:t>경험추론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세종문화회관의 마케팅은 단순히 “이 공연을 </a:t>
            </a:r>
            <a:r>
              <a:rPr lang="ko-KR" altLang="en-US" sz="1801" dirty="0" err="1"/>
              <a:t>사세요”보다는</a:t>
            </a:r>
            <a:r>
              <a:rPr lang="en-US" altLang="ko-KR" sz="1801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프로그램 노출 → 관심 유발 → 티켓오픈</a:t>
            </a:r>
            <a:r>
              <a:rPr lang="en-US" altLang="ko-KR" sz="1801" dirty="0"/>
              <a:t>/</a:t>
            </a:r>
            <a:r>
              <a:rPr lang="ko-KR" altLang="en-US" sz="1801" dirty="0"/>
              <a:t>혜택 제시 → 예매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라는 방식으로 이용자의 관심을 실제 이용으로 연결하려는 구조로 볼 수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또한 멤버십</a:t>
            </a:r>
            <a:r>
              <a:rPr lang="en-US" altLang="ko-KR" sz="1801" dirty="0"/>
              <a:t>·</a:t>
            </a:r>
            <a:r>
              <a:rPr lang="ko-KR" altLang="en-US" sz="1801" dirty="0"/>
              <a:t>뉴스레터</a:t>
            </a:r>
            <a:r>
              <a:rPr lang="en-US" altLang="ko-KR" sz="1801" dirty="0"/>
              <a:t>·</a:t>
            </a:r>
            <a:r>
              <a:rPr lang="ko-KR" altLang="en-US" sz="1801" dirty="0"/>
              <a:t>이벤트 등을 통해 한 번 공연을 관람하고 끝나는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것이 아니라</a:t>
            </a:r>
            <a:r>
              <a:rPr lang="en-US" altLang="ko-KR" sz="1801" dirty="0"/>
              <a:t>, </a:t>
            </a:r>
            <a:r>
              <a:rPr lang="ko-KR" altLang="en-US" sz="1801" dirty="0"/>
              <a:t>지속적으로 세종문화회관의 콘텐츠를 접하도록 만드는 역할도 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즉 </a:t>
            </a:r>
            <a:r>
              <a:rPr lang="en-US" altLang="ko-KR" sz="1801" dirty="0"/>
              <a:t>4</a:t>
            </a:r>
            <a:r>
              <a:rPr lang="ko-KR" altLang="en-US" sz="1801" dirty="0"/>
              <a:t>번에서 정리했던 “관심 → 실제 이용 → </a:t>
            </a:r>
            <a:r>
              <a:rPr lang="ko-KR" altLang="en-US" sz="1801" dirty="0" err="1"/>
              <a:t>재방문”과</a:t>
            </a:r>
            <a:r>
              <a:rPr lang="ko-KR" altLang="en-US" sz="1801" dirty="0"/>
              <a:t> 연결된다</a:t>
            </a:r>
            <a:r>
              <a:rPr lang="en-US" altLang="ko-KR" sz="1801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C541C7-3A46-C4F2-D283-18613A09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604" y="3701069"/>
            <a:ext cx="4735397" cy="31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0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90AAE-D9BC-CBCB-6DC8-C5070121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870F-3073-210C-D295-4A939717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어떤 행동을 하길 원하는가</a:t>
            </a:r>
            <a:r>
              <a:rPr lang="en-US" altLang="ko-KR" sz="2800" dirty="0">
                <a:latin typeface="+mj-ea"/>
              </a:rPr>
              <a:t>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0FFEABC3-4262-3669-9716-A0350227E556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31271-1D55-9186-F809-BDA8088AB667}"/>
              </a:ext>
            </a:extLst>
          </p:cNvPr>
          <p:cNvSpPr txBox="1"/>
          <p:nvPr/>
        </p:nvSpPr>
        <p:spPr>
          <a:xfrm>
            <a:off x="168358" y="835721"/>
            <a:ext cx="11784830" cy="377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1" dirty="0"/>
              <a:t>대관 영역은 실제로 대관시스템 바로가기와 공연장</a:t>
            </a:r>
            <a:r>
              <a:rPr lang="en-US" altLang="ko-KR" sz="1801" dirty="0"/>
              <a:t>·</a:t>
            </a:r>
            <a:r>
              <a:rPr lang="ko-KR" altLang="en-US" sz="1801" dirty="0"/>
              <a:t>미술관 등의 시설 정보를 제공하고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경험추론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따라서 세종문화회관의 핵심 </a:t>
            </a:r>
            <a:r>
              <a:rPr lang="en-US" altLang="ko-KR" sz="1801" dirty="0"/>
              <a:t>CTA</a:t>
            </a:r>
            <a:r>
              <a:rPr lang="ko-KR" altLang="en-US" sz="1801" dirty="0"/>
              <a:t>는 단순히 “예매하기” 하나로 볼 수 없다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사이트의 사용자 목적에 따라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 탐색 → 정보 확인 → 예매</a:t>
            </a:r>
            <a:r>
              <a:rPr lang="en-US" altLang="ko-KR" sz="1801" dirty="0"/>
              <a:t>·</a:t>
            </a:r>
            <a:r>
              <a:rPr lang="ko-KR" altLang="en-US" sz="1801" dirty="0"/>
              <a:t>신청</a:t>
            </a:r>
            <a:r>
              <a:rPr lang="en-US" altLang="ko-KR" sz="1801" dirty="0"/>
              <a:t>·</a:t>
            </a:r>
            <a:r>
              <a:rPr lang="ko-KR" altLang="en-US" sz="1801" dirty="0"/>
              <a:t>문의</a:t>
            </a:r>
            <a:r>
              <a:rPr lang="en-US" altLang="ko-KR" sz="1801" dirty="0"/>
              <a:t>·</a:t>
            </a:r>
            <a:r>
              <a:rPr lang="ko-KR" altLang="en-US" sz="1801" dirty="0"/>
              <a:t>대관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등으로 나뉜다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따라서 </a:t>
            </a:r>
            <a:r>
              <a:rPr lang="en-US" altLang="ko-KR" sz="1801" dirty="0"/>
              <a:t>CTA</a:t>
            </a:r>
            <a:r>
              <a:rPr lang="ko-KR" altLang="en-US" sz="1801" dirty="0"/>
              <a:t>를 평가할 때는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"</a:t>
            </a:r>
            <a:r>
              <a:rPr lang="ko-KR" altLang="en-US" sz="1801" dirty="0"/>
              <a:t>각 사용자에게 필요한 다음 행동이 얼마나 명확하게 제시되는가</a:t>
            </a:r>
            <a:r>
              <a:rPr lang="en-US" altLang="ko-KR" sz="1801" dirty="0"/>
              <a:t>"</a:t>
            </a:r>
          </a:p>
          <a:p>
            <a:pPr>
              <a:lnSpc>
                <a:spcPct val="150000"/>
              </a:lnSpc>
            </a:pPr>
            <a:r>
              <a:rPr lang="ko-KR" altLang="en-US" sz="1801" dirty="0" err="1"/>
              <a:t>를</a:t>
            </a:r>
            <a:r>
              <a:rPr lang="ko-KR" altLang="en-US" sz="1801" dirty="0"/>
              <a:t> 보는 것이 중요하다</a:t>
            </a:r>
            <a:r>
              <a:rPr lang="en-US" altLang="ko-KR" sz="1801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7EEEC3-ED8C-2C8D-197F-FFF4DD02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833" y="3214539"/>
            <a:ext cx="6164357" cy="41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43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1885-B1AB-AB83-80AB-7ED9C919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42A25-D236-C527-AE81-D7CE08E5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+mj-ea"/>
              </a:rPr>
              <a:t>BRANDING?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43FBE08C-74A2-278A-ED2B-B87873B0EBD4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D77A0-6691-29FF-A64E-4B16FCB47563}"/>
              </a:ext>
            </a:extLst>
          </p:cNvPr>
          <p:cNvSpPr txBox="1"/>
          <p:nvPr/>
        </p:nvSpPr>
        <p:spPr>
          <a:xfrm>
            <a:off x="168358" y="835721"/>
            <a:ext cx="11784830" cy="405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사실분석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세종문화회관은 단순히 공연 티켓을 판매하는 사이트가 아니라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교육</a:t>
            </a:r>
            <a:r>
              <a:rPr lang="en-US" altLang="ko-KR" sz="1801" dirty="0"/>
              <a:t>·</a:t>
            </a:r>
            <a:r>
              <a:rPr lang="ko-KR" altLang="en-US" sz="1801" dirty="0"/>
              <a:t>투어</a:t>
            </a:r>
            <a:r>
              <a:rPr lang="en-US" altLang="ko-KR" sz="1801" dirty="0"/>
              <a:t>·</a:t>
            </a:r>
            <a:r>
              <a:rPr lang="ko-KR" altLang="en-US" sz="1801" dirty="0"/>
              <a:t>시즌 프로그램</a:t>
            </a:r>
            <a:r>
              <a:rPr lang="en-US" altLang="ko-KR" sz="1801" dirty="0"/>
              <a:t>·</a:t>
            </a:r>
            <a:r>
              <a:rPr lang="ko-KR" altLang="en-US" sz="1801" dirty="0"/>
              <a:t>서울시예술단 등 </a:t>
            </a:r>
            <a:r>
              <a:rPr lang="ko-KR" altLang="en-US" sz="2400" dirty="0">
                <a:solidFill>
                  <a:srgbClr val="ECCF20"/>
                </a:solidFill>
              </a:rPr>
              <a:t>다양한 문화예술 활동을 </a:t>
            </a:r>
            <a:r>
              <a:rPr lang="ko-KR" altLang="en-US" sz="1801" dirty="0"/>
              <a:t>하나의 브랜드 아래 제공하고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메인에서도 </a:t>
            </a:r>
            <a:r>
              <a:rPr lang="en-US" altLang="ko-KR" sz="1801" dirty="0"/>
              <a:t>2026 </a:t>
            </a:r>
            <a:r>
              <a:rPr lang="ko-KR" altLang="en-US" sz="1801" dirty="0"/>
              <a:t>세종시즌</a:t>
            </a:r>
            <a:r>
              <a:rPr lang="en-US" altLang="ko-KR" sz="1801" dirty="0"/>
              <a:t>, Sync Next, </a:t>
            </a:r>
            <a:r>
              <a:rPr lang="ko-KR" altLang="en-US" sz="1801" dirty="0" err="1"/>
              <a:t>서울아트굿즈페스티벌</a:t>
            </a:r>
            <a:r>
              <a:rPr lang="en-US" altLang="ko-KR" sz="1801" dirty="0"/>
              <a:t>, </a:t>
            </a:r>
            <a:r>
              <a:rPr lang="ko-KR" altLang="en-US" sz="1801" dirty="0"/>
              <a:t>백스테이지 투어</a:t>
            </a:r>
            <a:r>
              <a:rPr lang="en-US" altLang="ko-KR" sz="1801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</a:t>
            </a:r>
            <a:r>
              <a:rPr lang="ko-KR" altLang="en-US" sz="1801" dirty="0"/>
              <a:t>세종예술아카데미 등 다양한 문화예술 콘텐츠를 전면에 노출하고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서울시예술단을 별도의 주요 영역으로 구성하고 있어</a:t>
            </a:r>
            <a:r>
              <a:rPr lang="en-US" altLang="ko-KR" sz="1801" dirty="0"/>
              <a:t>, </a:t>
            </a:r>
            <a:r>
              <a:rPr lang="ko-KR" altLang="en-US" sz="1801" dirty="0"/>
              <a:t>공연장뿐 아니라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예술 창작과 공연예술을 함께 다루는 기관이라는 이미지를 전달한다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공식 디자인 가이드에서도 메인 배너를 단순 기관 홍보보다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강좌 등의 문화예술 콘텐츠를 중심으로 표현하도록 설계하고 있다</a:t>
            </a:r>
            <a:r>
              <a:rPr lang="en-US" altLang="ko-KR" sz="180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1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D11D-21ED-C468-0F4A-614CF896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E9BA2-CB1F-3FA8-458B-D5EF19C7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+mj-ea"/>
              </a:rPr>
              <a:t>BRANDING?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1E599D96-FBD1-7E63-978F-89AA9DA1126C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20805-9FAF-3F4F-0DB8-A0DBFFF2E6A2}"/>
              </a:ext>
            </a:extLst>
          </p:cNvPr>
          <p:cNvSpPr txBox="1"/>
          <p:nvPr/>
        </p:nvSpPr>
        <p:spPr>
          <a:xfrm>
            <a:off x="168358" y="835720"/>
            <a:ext cx="11784830" cy="266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경험추론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“공연을 보러 가는 단순한 </a:t>
            </a:r>
            <a:r>
              <a:rPr lang="ko-KR" altLang="en-US" sz="1801" dirty="0" err="1"/>
              <a:t>극장”을</a:t>
            </a:r>
            <a:r>
              <a:rPr lang="ko-KR" altLang="en-US" sz="1801" dirty="0"/>
              <a:t> 넘어</a:t>
            </a:r>
            <a:r>
              <a:rPr lang="en-US" altLang="ko-KR" sz="1801" dirty="0"/>
              <a:t>, </a:t>
            </a:r>
            <a:r>
              <a:rPr lang="ko-KR" altLang="en-US" sz="1801" dirty="0"/>
              <a:t>다양한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    문화예술 콘텐츠를 경험할 수 있는 대표적인 문화예술 기관</a:t>
            </a:r>
            <a:r>
              <a:rPr lang="en-US" altLang="ko-KR" sz="1801" dirty="0"/>
              <a:t>"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사용자가 세종문화회관을 </a:t>
            </a:r>
            <a:r>
              <a:rPr lang="ko-KR" altLang="en-US" sz="1801" dirty="0" err="1"/>
              <a:t>이와같이</a:t>
            </a:r>
            <a:r>
              <a:rPr lang="ko-KR" altLang="en-US" sz="1801" dirty="0"/>
              <a:t> 인식하도록 하는 것이 주요 브랜딩 방향으로 보인다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또한 세종시즌</a:t>
            </a:r>
            <a:r>
              <a:rPr lang="en-US" altLang="ko-KR" sz="1801" dirty="0"/>
              <a:t>, Sync Next, </a:t>
            </a:r>
            <a:r>
              <a:rPr lang="ko-KR" altLang="en-US" sz="1801" dirty="0"/>
              <a:t>서울시예술단</a:t>
            </a:r>
            <a:r>
              <a:rPr lang="en-US" altLang="ko-KR" sz="1801" dirty="0"/>
              <a:t>, </a:t>
            </a:r>
            <a:r>
              <a:rPr lang="ko-KR" altLang="en-US" sz="1801" dirty="0"/>
              <a:t>모든 누구나 등의 여러 프로그램 브랜드를 함께 운영하면서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전통적인 공연장 이미지와 다양한 문화예술 경험을 동시에 갖춘 기관으로 인식시키려는 것으로 해석할 수 있다</a:t>
            </a:r>
            <a:r>
              <a:rPr lang="en-US" altLang="ko-KR" sz="1801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C14DD-A39F-8640-2C6C-A3EC992FEF68}"/>
              </a:ext>
            </a:extLst>
          </p:cNvPr>
          <p:cNvSpPr txBox="1"/>
          <p:nvPr/>
        </p:nvSpPr>
        <p:spPr>
          <a:xfrm>
            <a:off x="1478045" y="4897364"/>
            <a:ext cx="92359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한 줄 정리</a:t>
            </a:r>
          </a:p>
          <a:p>
            <a:r>
              <a:rPr lang="ko-KR" altLang="en-US" sz="2400" dirty="0"/>
              <a:t>   “서울을 대표하는 종합 문화예술 기관이자, 다양한 </a:t>
            </a:r>
            <a:r>
              <a:rPr lang="ko-KR" altLang="en-US" sz="2400" dirty="0" err="1"/>
              <a:t>공연·전시·문화예술</a:t>
            </a:r>
            <a:endParaRPr lang="ko-KR" altLang="en-US" sz="2400" dirty="0"/>
          </a:p>
          <a:p>
            <a:r>
              <a:rPr lang="ko-KR" altLang="en-US" sz="2400" dirty="0"/>
              <a:t>     경험을 제공하는 </a:t>
            </a:r>
            <a:r>
              <a:rPr lang="ko-KR" altLang="en-US" sz="2400" dirty="0" err="1"/>
              <a:t>공간”이라는</a:t>
            </a:r>
            <a:r>
              <a:rPr lang="ko-KR" altLang="en-US" sz="2400" dirty="0"/>
              <a:t> 이미지를 전달하려는 것으로 보인다."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78CB728F-CB29-4AAA-0196-2D3147F09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0636" y="3658941"/>
            <a:ext cx="3614560" cy="142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32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69E4-CFDB-5E76-54D1-12DFB19E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75B06-BF98-F90C-AD59-81BAA089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디자인으로 표현함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E6B3ECE2-0BAB-F863-8AD6-BCCD8D0B50DD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81805-0C06-1CE8-CF98-3A5E1DBED289}"/>
              </a:ext>
            </a:extLst>
          </p:cNvPr>
          <p:cNvSpPr txBox="1"/>
          <p:nvPr/>
        </p:nvSpPr>
        <p:spPr>
          <a:xfrm>
            <a:off x="168358" y="835722"/>
            <a:ext cx="11784830" cy="2113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A. </a:t>
            </a:r>
            <a:r>
              <a:rPr lang="ko-KR" altLang="en-US" sz="1801" dirty="0"/>
              <a:t>색상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전체적으로 밝은 배경을 기반으로 콘텐츠 이미지와 포스터의 색을 적극적으로 보여주는 방식이다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따라서 사이트 자체의 강한 색채보다는 각 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 콘텐츠의 시각적 개성을 전면에 드러내는 디자인으로 볼 수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   </a:t>
            </a:r>
            <a:r>
              <a:rPr lang="ko-KR" altLang="en-US" sz="1801" dirty="0"/>
              <a:t>다만 전반적 바탕으로는 하얀색과 검은색</a:t>
            </a:r>
            <a:r>
              <a:rPr lang="en-US" altLang="ko-KR" sz="1801" dirty="0"/>
              <a:t>, </a:t>
            </a:r>
            <a:r>
              <a:rPr lang="ko-KR" altLang="en-US" sz="1801" dirty="0"/>
              <a:t>그리고 포인트로 노란색이 사용된다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→ </a:t>
            </a:r>
            <a:r>
              <a:rPr lang="ko-KR" altLang="en-US" sz="1801" dirty="0"/>
              <a:t>문화예술 콘텐츠마다 서로 다른 색과 분위기를 표현할 수 있다는 장점이 있다</a:t>
            </a:r>
            <a:r>
              <a:rPr lang="en-US" altLang="ko-KR" sz="180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C3D86-682A-2EFD-AD03-4A546A408C6C}"/>
              </a:ext>
            </a:extLst>
          </p:cNvPr>
          <p:cNvSpPr txBox="1"/>
          <p:nvPr/>
        </p:nvSpPr>
        <p:spPr>
          <a:xfrm>
            <a:off x="168357" y="3354250"/>
            <a:ext cx="11935659" cy="2113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B. </a:t>
            </a:r>
            <a:r>
              <a:rPr lang="ko-KR" altLang="en-US" sz="1801" dirty="0"/>
              <a:t>이미지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   </a:t>
            </a: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전시의 포스터와 사진을 큰 영역에 배치해 문화예술 콘텐츠 자체를 시각적인 중심 요소로 사용한다</a:t>
            </a:r>
            <a:r>
              <a:rPr lang="en-US" altLang="ko-KR" sz="1801" dirty="0"/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801" dirty="0"/>
              <a:t>특히 메인 </a:t>
            </a:r>
            <a:r>
              <a:rPr lang="en-US" altLang="ko-KR" sz="1801" dirty="0"/>
              <a:t>Hero</a:t>
            </a:r>
            <a:r>
              <a:rPr lang="ko-KR" altLang="en-US" sz="1801" dirty="0"/>
              <a:t>에서 여러 행사 이미지가 큰 면적으로 노출되어</a:t>
            </a:r>
            <a:r>
              <a:rPr lang="en-US" altLang="ko-KR" sz="1801" dirty="0"/>
              <a:t>, </a:t>
            </a:r>
            <a:r>
              <a:rPr lang="ko-KR" altLang="en-US" sz="1801" dirty="0"/>
              <a:t>사이트에 들어오자마자 “무엇을 볼 수 있는가”를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</a:t>
            </a:r>
            <a:r>
              <a:rPr lang="ko-KR" altLang="en-US" sz="1801" dirty="0"/>
              <a:t>시각적으로</a:t>
            </a:r>
            <a:r>
              <a:rPr lang="en-US" altLang="ko-KR" sz="1801" dirty="0"/>
              <a:t> </a:t>
            </a:r>
            <a:r>
              <a:rPr lang="ko-KR" altLang="en-US" sz="1801" dirty="0"/>
              <a:t>전달한다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→  </a:t>
            </a:r>
            <a:r>
              <a:rPr lang="ko-KR" altLang="en-US" sz="1801" dirty="0"/>
              <a:t>세종문화회관이 단순 행정기관이 아니라 문화예술 콘텐츠를 제공하는 기관이라는 이미지를 만드는 데 효과적이다</a:t>
            </a:r>
            <a:r>
              <a:rPr lang="en-US" altLang="ko-KR" sz="180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3186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FE25-A81D-70D2-4BF4-510C6B52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055DD-CEC9-46EC-3810-8C3FE282E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디자인으로 표현함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D2ECB10B-F001-9F41-B90A-0468086FFD9A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2E329-9CB5-D7F4-AAAB-575EAC2345EC}"/>
              </a:ext>
            </a:extLst>
          </p:cNvPr>
          <p:cNvSpPr txBox="1"/>
          <p:nvPr/>
        </p:nvSpPr>
        <p:spPr>
          <a:xfrm>
            <a:off x="168358" y="835722"/>
            <a:ext cx="11784830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C. </a:t>
            </a:r>
            <a:r>
              <a:rPr lang="ko-KR" altLang="en-US" sz="1801" dirty="0" err="1"/>
              <a:t>타이포그래피</a:t>
            </a:r>
            <a:endParaRPr lang="ko-KR" altLang="en-US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 err="1"/>
              <a:t>공연명</a:t>
            </a:r>
            <a:r>
              <a:rPr lang="en-US" altLang="ko-KR" sz="1801" dirty="0"/>
              <a:t>, </a:t>
            </a:r>
            <a:r>
              <a:rPr lang="ko-KR" altLang="en-US" sz="1801" dirty="0"/>
              <a:t>일정</a:t>
            </a:r>
            <a:r>
              <a:rPr lang="en-US" altLang="ko-KR" sz="1801" dirty="0"/>
              <a:t>, </a:t>
            </a:r>
            <a:r>
              <a:rPr lang="ko-KR" altLang="en-US" sz="1801" dirty="0"/>
              <a:t>장소</a:t>
            </a:r>
            <a:r>
              <a:rPr lang="en-US" altLang="ko-KR" sz="1801" dirty="0"/>
              <a:t>, </a:t>
            </a:r>
            <a:r>
              <a:rPr lang="ko-KR" altLang="en-US" sz="1801" dirty="0"/>
              <a:t>설명 등의 정보를 이미지와 함께 배치해 프로그램 정보를 전달하는 정보형 디자인의 성격이 강하다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</a:t>
            </a:r>
            <a:r>
              <a:rPr lang="ko-KR" altLang="en-US" sz="1801" dirty="0"/>
              <a:t>공식 메인 배너 가이드에서도 헤드카피</a:t>
            </a:r>
            <a:r>
              <a:rPr lang="en-US" altLang="ko-KR" sz="1801" dirty="0"/>
              <a:t>·</a:t>
            </a:r>
            <a:r>
              <a:rPr lang="ko-KR" altLang="en-US" sz="1801" dirty="0"/>
              <a:t>공연 제목</a:t>
            </a:r>
            <a:r>
              <a:rPr lang="en-US" altLang="ko-KR" sz="1801" dirty="0"/>
              <a:t>·</a:t>
            </a:r>
            <a:r>
              <a:rPr lang="ko-KR" altLang="en-US" sz="1801" dirty="0"/>
              <a:t>공연일</a:t>
            </a:r>
            <a:r>
              <a:rPr lang="en-US" altLang="ko-KR" sz="1801" dirty="0"/>
              <a:t>·</a:t>
            </a:r>
            <a:r>
              <a:rPr lang="ko-KR" altLang="en-US" sz="1801" dirty="0"/>
              <a:t>장소와 예매하기</a:t>
            </a:r>
            <a:r>
              <a:rPr lang="en-US" altLang="ko-KR" sz="1801" dirty="0"/>
              <a:t>/</a:t>
            </a:r>
            <a:r>
              <a:rPr lang="ko-KR" altLang="en-US" sz="1801" dirty="0"/>
              <a:t>상세보기를 고정적으로 노출하도록 규정하고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→ </a:t>
            </a:r>
            <a:r>
              <a:rPr lang="ko-KR" altLang="en-US" sz="1801" dirty="0"/>
              <a:t>감성적인 브랜딩만 강조하기보다는 </a:t>
            </a:r>
            <a:r>
              <a:rPr lang="ko-KR" altLang="en-US" sz="1801" dirty="0">
                <a:solidFill>
                  <a:srgbClr val="ECCF20"/>
                </a:solidFill>
              </a:rPr>
              <a:t>실제 공연 이용에 필요한 정보를 함께 전달하는 방향이다</a:t>
            </a:r>
            <a:r>
              <a:rPr lang="en-US" altLang="ko-KR" sz="1801" dirty="0">
                <a:solidFill>
                  <a:srgbClr val="ECCF20"/>
                </a:solidFill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4A081F-3A0B-F735-E035-73C89276E4F6}"/>
              </a:ext>
            </a:extLst>
          </p:cNvPr>
          <p:cNvGrpSpPr/>
          <p:nvPr/>
        </p:nvGrpSpPr>
        <p:grpSpPr>
          <a:xfrm>
            <a:off x="357556" y="2937140"/>
            <a:ext cx="11476889" cy="3085138"/>
            <a:chOff x="357556" y="2545038"/>
            <a:chExt cx="11476888" cy="308513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27D7C4A-1BB5-5B5C-55B2-F1AB136C3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556" y="2689443"/>
              <a:ext cx="7956885" cy="279632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1195AFB-BAD1-2F02-771F-5C8982573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7908" y="2545038"/>
              <a:ext cx="3366536" cy="30851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5280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9B10-12CE-51AA-AF95-2D429532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FC1B4-B013-2F46-2D28-CAE552FD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디자인으로 표현함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05BA16D2-C1CB-F327-5245-989E7697E665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A3A12-59BB-CF5E-2EE4-04F2FA5318E2}"/>
              </a:ext>
            </a:extLst>
          </p:cNvPr>
          <p:cNvSpPr txBox="1"/>
          <p:nvPr/>
        </p:nvSpPr>
        <p:spPr>
          <a:xfrm>
            <a:off x="168358" y="835722"/>
            <a:ext cx="11784830" cy="252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E. </a:t>
            </a:r>
            <a:r>
              <a:rPr lang="ko-KR" altLang="en-US" sz="1801" dirty="0"/>
              <a:t>레이아웃</a:t>
            </a:r>
          </a:p>
          <a:p>
            <a:pPr>
              <a:lnSpc>
                <a:spcPct val="150000"/>
              </a:lnSpc>
            </a:pPr>
            <a:r>
              <a:rPr lang="en-US" altLang="ko-KR" sz="1801" dirty="0"/>
              <a:t>-    </a:t>
            </a:r>
            <a:r>
              <a:rPr lang="ko-KR" altLang="en-US" sz="1801" dirty="0"/>
              <a:t>메인에서 대형 </a:t>
            </a:r>
            <a:r>
              <a:rPr lang="en-US" altLang="ko-KR" sz="1801" dirty="0"/>
              <a:t>Hero</a:t>
            </a:r>
            <a:r>
              <a:rPr lang="ko-KR" altLang="en-US" sz="1801" dirty="0"/>
              <a:t>를 시작으로 다양한 프로그램과 서비스 영역을 이어 붙이는 콘텐츠 중심의 긴 스크롤 구조를 사용한다</a:t>
            </a:r>
            <a:r>
              <a:rPr lang="en-US" altLang="ko-KR" sz="1801" dirty="0"/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801" dirty="0"/>
              <a:t>상단 메뉴 역시 프로그램</a:t>
            </a:r>
            <a:r>
              <a:rPr lang="en-US" altLang="ko-KR" sz="1801" dirty="0"/>
              <a:t>, </a:t>
            </a:r>
            <a:r>
              <a:rPr lang="ko-KR" altLang="en-US" sz="1801" dirty="0"/>
              <a:t>이용안내</a:t>
            </a:r>
            <a:r>
              <a:rPr lang="en-US" altLang="ko-KR" sz="1801" dirty="0"/>
              <a:t>, </a:t>
            </a:r>
            <a:r>
              <a:rPr lang="ko-KR" altLang="en-US" sz="1801" dirty="0"/>
              <a:t>소식</a:t>
            </a:r>
            <a:r>
              <a:rPr lang="en-US" altLang="ko-KR" sz="1801" dirty="0"/>
              <a:t>, </a:t>
            </a:r>
            <a:r>
              <a:rPr lang="ko-KR" altLang="en-US" sz="1801" dirty="0"/>
              <a:t>시즌프로그램</a:t>
            </a:r>
            <a:r>
              <a:rPr lang="en-US" altLang="ko-KR" sz="1801" dirty="0"/>
              <a:t>, </a:t>
            </a:r>
            <a:r>
              <a:rPr lang="ko-KR" altLang="en-US" sz="1801" dirty="0"/>
              <a:t>서울시예술단</a:t>
            </a:r>
            <a:r>
              <a:rPr lang="en-US" altLang="ko-KR" sz="1801" dirty="0"/>
              <a:t>, </a:t>
            </a:r>
            <a:r>
              <a:rPr lang="ko-KR" altLang="en-US" sz="1801" dirty="0"/>
              <a:t>세종문화회관 등 매우 많은 정보를 체계적으로 분류하고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</a:t>
            </a:r>
            <a:r>
              <a:rPr lang="ko-KR" altLang="en-US" sz="1801" dirty="0"/>
              <a:t>있다</a:t>
            </a:r>
            <a:r>
              <a:rPr lang="en-US" altLang="ko-KR" sz="1801" dirty="0"/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801" dirty="0"/>
              <a:t>따라서 전체적으로 </a:t>
            </a:r>
            <a:r>
              <a:rPr lang="ko-KR" altLang="en-US" sz="1801" dirty="0">
                <a:solidFill>
                  <a:srgbClr val="ECCF20"/>
                </a:solidFill>
              </a:rPr>
              <a:t>“세종문화회관이 가지고 있는 다양한 콘텐츠와 서비스를 많이 보여주는 </a:t>
            </a:r>
            <a:r>
              <a:rPr lang="ko-KR" altLang="en-US" sz="1801" dirty="0" err="1">
                <a:solidFill>
                  <a:srgbClr val="ECCF20"/>
                </a:solidFill>
              </a:rPr>
              <a:t>것”</a:t>
            </a:r>
            <a:r>
              <a:rPr lang="ko-KR" altLang="en-US" sz="1801" dirty="0" err="1"/>
              <a:t>에</a:t>
            </a:r>
            <a:r>
              <a:rPr lang="ko-KR" altLang="en-US" sz="1801" dirty="0"/>
              <a:t> 상당한 비중을 둔 레이아웃이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en-US" altLang="ko-KR" sz="1801" dirty="0"/>
              <a:t>      </a:t>
            </a:r>
            <a:r>
              <a:rPr lang="ko-KR" altLang="en-US" sz="1801" dirty="0"/>
              <a:t>라고 볼 수 있다</a:t>
            </a:r>
            <a:r>
              <a:rPr lang="en-US" altLang="ko-KR" sz="180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901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5EB01-0CCA-8AB4-A15A-B4142EDE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E7A17-6203-BF4B-109A-B4CD2DA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555" y="2766220"/>
            <a:ext cx="1678894" cy="1325563"/>
          </a:xfrm>
        </p:spPr>
        <p:txBody>
          <a:bodyPr>
            <a:noAutofit/>
          </a:bodyPr>
          <a:lstStyle/>
          <a:p>
            <a:r>
              <a:rPr lang="ko-KR" altLang="en-US" sz="5001" spc="6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정리</a:t>
            </a:r>
          </a:p>
        </p:txBody>
      </p:sp>
    </p:spTree>
    <p:extLst>
      <p:ext uri="{BB962C8B-B14F-4D97-AF65-F5344CB8AC3E}">
        <p14:creationId xmlns:p14="http://schemas.microsoft.com/office/powerpoint/2010/main" val="2913207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34BB-2EA1-A033-5302-F54E5994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BFCFD-7CE6-D618-5765-131F5019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latin typeface="+mj-ea"/>
              </a:rPr>
              <a:t>분석 내용을 정리하다</a:t>
            </a: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1548A9BD-D7AF-2EE5-9370-D98920594DBC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000000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C56A4-B919-4179-A60A-6A7E8CFD65F9}"/>
              </a:ext>
            </a:extLst>
          </p:cNvPr>
          <p:cNvSpPr txBox="1"/>
          <p:nvPr/>
        </p:nvSpPr>
        <p:spPr>
          <a:xfrm>
            <a:off x="168358" y="835723"/>
            <a:ext cx="11784830" cy="252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1" dirty="0"/>
              <a:t>[</a:t>
            </a:r>
            <a:r>
              <a:rPr lang="ko-KR" altLang="en-US" sz="1801" dirty="0"/>
              <a:t>분석한 내용 정리</a:t>
            </a:r>
            <a:r>
              <a:rPr lang="en-US" altLang="ko-KR" sz="1801" dirty="0"/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세종문화회관은 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</a:t>
            </a:r>
            <a:r>
              <a:rPr lang="en-US" altLang="ko-KR" sz="1801" dirty="0"/>
              <a:t>·</a:t>
            </a:r>
            <a:r>
              <a:rPr lang="ko-KR" altLang="en-US" sz="1801" dirty="0"/>
              <a:t>교육 등의 문화예술 콘텐츠를 제공하고 문화시설을 운영하는 문화예술기관이다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주요 사용자는 문화예술 프로그램을 이용하려는 일반 이용자와 시설을 </a:t>
            </a:r>
            <a:r>
              <a:rPr lang="ko-KR" altLang="en-US" sz="1801" dirty="0" err="1"/>
              <a:t>대관하려는</a:t>
            </a:r>
            <a:r>
              <a:rPr lang="ko-KR" altLang="en-US" sz="1801" dirty="0"/>
              <a:t> 외부 개인</a:t>
            </a:r>
            <a:r>
              <a:rPr lang="en-US" altLang="ko-KR" sz="1801" dirty="0"/>
              <a:t>·</a:t>
            </a:r>
            <a:r>
              <a:rPr lang="ko-KR" altLang="en-US" sz="1801" dirty="0"/>
              <a:t>단체이다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이 웹사이트의 가장 중요한 목적은 다양한 문화예술 콘텐츠와 시설을 알리고 실제 이용으로 연결하는 것이다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공연</a:t>
            </a:r>
            <a:r>
              <a:rPr lang="en-US" altLang="ko-KR" sz="1801" dirty="0"/>
              <a:t>·</a:t>
            </a:r>
            <a:r>
              <a:rPr lang="ko-KR" altLang="en-US" sz="1801" dirty="0"/>
              <a:t>전시 등의 콘텐츠를 </a:t>
            </a:r>
            <a:r>
              <a:rPr lang="ko-KR" altLang="en-US" sz="1801" dirty="0" err="1"/>
              <a:t>메인에</a:t>
            </a:r>
            <a:r>
              <a:rPr lang="ko-KR" altLang="en-US" sz="1801" dirty="0"/>
              <a:t> 적극적으로 노출하여 </a:t>
            </a:r>
            <a:r>
              <a:rPr lang="ko-KR" altLang="en-US" sz="1801" dirty="0" err="1"/>
              <a:t>문화예술기관으로서의</a:t>
            </a:r>
            <a:r>
              <a:rPr lang="ko-KR" altLang="en-US" sz="1801" dirty="0"/>
              <a:t> 브랜드 이미지를 전달하고 있다</a:t>
            </a:r>
            <a:r>
              <a:rPr lang="en-US" altLang="ko-KR" sz="180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1" dirty="0"/>
              <a:t>다만 다양한 콘텐츠와 서비스가 한 화면에 많이 배치되어 정보의 우선순위와 사용자 행동이 불명확해질 가능성이 있다고 생각한다</a:t>
            </a:r>
            <a:r>
              <a:rPr lang="en-US" altLang="ko-KR" sz="1801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A9333-89D9-84F0-01EA-30BE5706D6C3}"/>
              </a:ext>
            </a:extLst>
          </p:cNvPr>
          <p:cNvSpPr txBox="1"/>
          <p:nvPr/>
        </p:nvSpPr>
        <p:spPr>
          <a:xfrm>
            <a:off x="203587" y="3769028"/>
            <a:ext cx="11784830" cy="161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1" dirty="0"/>
              <a:t>지난 슬라이드 동안에도 있었지만 다시 짧게 정리하자면</a:t>
            </a:r>
            <a:r>
              <a:rPr lang="en-US" altLang="ko-KR" sz="1801" dirty="0"/>
              <a:t>: </a:t>
            </a:r>
            <a:r>
              <a:rPr lang="ko-KR" altLang="en-US" sz="1801" dirty="0"/>
              <a:t>문제정의는</a:t>
            </a:r>
            <a:endParaRPr lang="en-US" altLang="ko-KR" sz="1801" dirty="0"/>
          </a:p>
          <a:p>
            <a:pPr>
              <a:lnSpc>
                <a:spcPct val="100000"/>
              </a:lnSpc>
            </a:pPr>
            <a:r>
              <a:rPr lang="ko-KR" altLang="ko-KR" sz="2400" b="1" dirty="0"/>
              <a:t>① 콘텐츠가 너무 많고 서로 다른 목적이 섞여 있음</a:t>
            </a:r>
            <a:br>
              <a:rPr lang="ko-KR" altLang="ko-KR" sz="2400" dirty="0"/>
            </a:br>
            <a:r>
              <a:rPr lang="ko-KR" altLang="ko-KR" sz="2400" b="1" dirty="0"/>
              <a:t>② 서로 다른 사용자의 목적을 하나의 구조에서 해결해야 함</a:t>
            </a:r>
            <a:br>
              <a:rPr lang="ko-KR" altLang="ko-KR" sz="2400" dirty="0"/>
            </a:br>
            <a:r>
              <a:rPr lang="ko-KR" altLang="ko-KR" sz="2400" b="1" dirty="0"/>
              <a:t>③ 콘텐츠를 많이 보여주는 방식이 오히려 탐색과 행동의 우선순위를 흐릴 가능성이 있음</a:t>
            </a:r>
            <a:endParaRPr lang="en-US" altLang="ko-KR" sz="24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CAD08D-4BDE-23BA-104F-D5CD6E3AA466}"/>
              </a:ext>
            </a:extLst>
          </p:cNvPr>
          <p:cNvSpPr txBox="1">
            <a:spLocks/>
          </p:cNvSpPr>
          <p:nvPr/>
        </p:nvSpPr>
        <p:spPr>
          <a:xfrm>
            <a:off x="4304638" y="5889897"/>
            <a:ext cx="3512270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solidFill>
                  <a:srgbClr val="ECCF20"/>
                </a:solidFill>
                <a:latin typeface="+mj-ea"/>
              </a:rPr>
              <a:t>레퍼런스 다음페이지부터</a:t>
            </a:r>
          </a:p>
        </p:txBody>
      </p:sp>
    </p:spTree>
    <p:extLst>
      <p:ext uri="{BB962C8B-B14F-4D97-AF65-F5344CB8AC3E}">
        <p14:creationId xmlns:p14="http://schemas.microsoft.com/office/powerpoint/2010/main" val="116027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193DB-604E-9694-5348-B2CEFD70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2C9FC-0086-A005-3582-970B4A0E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318" y="2766218"/>
            <a:ext cx="9849363" cy="1325563"/>
          </a:xfrm>
        </p:spPr>
        <p:txBody>
          <a:bodyPr>
            <a:noAutofit/>
          </a:bodyPr>
          <a:lstStyle/>
          <a:p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세종문화회관 </a:t>
            </a:r>
            <a:r>
              <a:rPr lang="ko-KR" altLang="en-US" sz="5001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홈페지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문제 </a:t>
            </a:r>
            <a: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3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가지</a:t>
            </a:r>
          </a:p>
        </p:txBody>
      </p:sp>
    </p:spTree>
    <p:extLst>
      <p:ext uri="{BB962C8B-B14F-4D97-AF65-F5344CB8AC3E}">
        <p14:creationId xmlns:p14="http://schemas.microsoft.com/office/powerpoint/2010/main" val="2108614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63D4F-7B62-1DDB-B38D-C5A38358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B5E04-4851-B5AA-3C57-7696A71D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 fontScale="90000"/>
          </a:bodyPr>
          <a:lstStyle/>
          <a:p>
            <a:r>
              <a:rPr lang="en-US" altLang="ko-KR" sz="2800" dirty="0"/>
              <a:t>1. </a:t>
            </a:r>
            <a:r>
              <a:rPr lang="ko-KR" altLang="ko-KR" sz="2800" dirty="0"/>
              <a:t>먼저 기준이 되는 기존 문제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4F20422B-C66B-0B16-E065-05D6B66AA3B2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539AF1B-A7A8-26DE-4D65-008FCFEAD42A}"/>
              </a:ext>
            </a:extLst>
          </p:cNvPr>
          <p:cNvGrpSpPr/>
          <p:nvPr/>
        </p:nvGrpSpPr>
        <p:grpSpPr>
          <a:xfrm>
            <a:off x="8215046" y="609348"/>
            <a:ext cx="3219668" cy="5849032"/>
            <a:chOff x="8610971" y="882723"/>
            <a:chExt cx="3219668" cy="58490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5EF4A5-EE8A-D99C-5712-3B14F40EC950}"/>
                </a:ext>
              </a:extLst>
            </p:cNvPr>
            <p:cNvSpPr txBox="1"/>
            <p:nvPr/>
          </p:nvSpPr>
          <p:spPr>
            <a:xfrm>
              <a:off x="8610971" y="882723"/>
              <a:ext cx="3034274" cy="1477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sz="1801" dirty="0">
                  <a:solidFill>
                    <a:srgbClr val="ECCF20"/>
                  </a:solidFill>
                </a:rPr>
                <a:t>핵심 </a:t>
              </a:r>
              <a:r>
                <a:rPr lang="ko-KR" altLang="ko-KR" sz="1801" dirty="0">
                  <a:solidFill>
                    <a:srgbClr val="ECCF20"/>
                  </a:solidFill>
                </a:rPr>
                <a:t>≠</a:t>
              </a:r>
              <a:r>
                <a:rPr lang="en-US" altLang="ko-KR" sz="1801" dirty="0">
                  <a:solidFill>
                    <a:srgbClr val="ECCF20"/>
                  </a:solidFill>
                </a:rPr>
                <a:t> </a:t>
              </a:r>
              <a:r>
                <a:rPr lang="ko-KR" altLang="en-US" sz="1801" dirty="0">
                  <a:solidFill>
                    <a:srgbClr val="ECCF20"/>
                  </a:solidFill>
                </a:rPr>
                <a:t>콘텐츠 많다는 사실</a:t>
              </a:r>
              <a:endParaRPr lang="en-US" altLang="ko-KR" sz="1801" dirty="0">
                <a:solidFill>
                  <a:srgbClr val="ECCF20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ko-KR" altLang="ko-KR" sz="1801" b="1" dirty="0"/>
                <a:t>서로 다른 성격의 콘텐츠가 연속적으로 배치되어 사용자가 자신의 목적에 맞는 정보를 찾아야 한다는 것</a:t>
              </a:r>
              <a:r>
                <a:rPr lang="ko-KR" altLang="ko-KR" sz="1801" dirty="0"/>
                <a:t>이다.</a:t>
              </a:r>
              <a:endParaRPr lang="en-US" altLang="ko-KR" sz="180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4E46A9-C5FE-F780-BBA8-1B7188523467}"/>
                </a:ext>
              </a:extLst>
            </p:cNvPr>
            <p:cNvSpPr txBox="1"/>
            <p:nvPr/>
          </p:nvSpPr>
          <p:spPr>
            <a:xfrm>
              <a:off x="8610971" y="2791129"/>
              <a:ext cx="3219668" cy="1477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en-US" sz="1801" dirty="0"/>
                <a:t>원인</a:t>
              </a:r>
              <a:r>
                <a:rPr lang="en-US" altLang="ko-KR" sz="1801" dirty="0"/>
                <a:t>, </a:t>
              </a:r>
              <a:r>
                <a:rPr lang="ko-KR" altLang="ko-KR" sz="1801" dirty="0"/>
                <a:t>서로 다른 사용자의 목적을 하나의 구조에서 해결해야 하므로</a:t>
              </a:r>
              <a:endParaRPr lang="en-US" altLang="ko-KR" sz="1801" dirty="0"/>
            </a:p>
            <a:p>
              <a:pPr>
                <a:lnSpc>
                  <a:spcPct val="100000"/>
                </a:lnSpc>
              </a:pPr>
              <a:r>
                <a:rPr lang="ko-KR" altLang="en-US" sz="1801" dirty="0"/>
                <a:t>결과</a:t>
              </a:r>
              <a:r>
                <a:rPr lang="en-US" altLang="ko-KR" sz="1801" dirty="0"/>
                <a:t>(</a:t>
              </a:r>
              <a:r>
                <a:rPr lang="ko-KR" altLang="en-US" sz="1801" dirty="0"/>
                <a:t>영향</a:t>
              </a:r>
              <a:r>
                <a:rPr lang="en-US" altLang="ko-KR" sz="1801" dirty="0"/>
                <a:t>)</a:t>
              </a:r>
              <a:r>
                <a:rPr lang="ko-KR" altLang="ko-KR" sz="1801" dirty="0">
                  <a:solidFill>
                    <a:srgbClr val="ECCF20"/>
                  </a:solidFill>
                </a:rPr>
                <a:t>사용자별 다음 행동이 명확하게 드러나지 않을 가능성</a:t>
              </a:r>
              <a:r>
                <a:rPr lang="ko-KR" altLang="ko-KR" sz="1801" dirty="0"/>
                <a:t>이 있다.</a:t>
              </a:r>
              <a:endParaRPr lang="en-US" altLang="ko-KR" sz="180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EB0CA6-1EA0-A443-25FB-32379C2022CF}"/>
                </a:ext>
              </a:extLst>
            </p:cNvPr>
            <p:cNvSpPr txBox="1"/>
            <p:nvPr/>
          </p:nvSpPr>
          <p:spPr>
            <a:xfrm>
              <a:off x="8610971" y="4699533"/>
              <a:ext cx="3034274" cy="20322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ko-KR" altLang="ko-KR" sz="1801" dirty="0"/>
                <a:t>특히 </a:t>
              </a:r>
              <a:r>
                <a:rPr lang="ko-KR" altLang="ko-KR" sz="1801" dirty="0" err="1"/>
                <a:t>Hero에서</a:t>
              </a:r>
              <a:r>
                <a:rPr lang="ko-KR" altLang="ko-KR" sz="1801" dirty="0"/>
                <a:t> 서로 다른 4개의 프로그램이 동시에 경쟁하기 때문에, </a:t>
              </a:r>
              <a:r>
                <a:rPr lang="ko-KR" altLang="ko-KR" sz="1801" dirty="0">
                  <a:solidFill>
                    <a:srgbClr val="ECCF20"/>
                  </a:solidFill>
                </a:rPr>
                <a:t>프로그램을 </a:t>
              </a:r>
              <a:r>
                <a:rPr lang="ko-KR" altLang="ko-KR" sz="1801" dirty="0" err="1">
                  <a:solidFill>
                    <a:srgbClr val="ECCF20"/>
                  </a:solidFill>
                </a:rPr>
                <a:t>발견시키는</a:t>
              </a:r>
              <a:r>
                <a:rPr lang="ko-KR" altLang="ko-KR" sz="1801" dirty="0">
                  <a:solidFill>
                    <a:srgbClr val="ECCF20"/>
                  </a:solidFill>
                </a:rPr>
                <a:t> 것과 </a:t>
              </a:r>
              <a:r>
                <a:rPr lang="ko-KR" altLang="ko-KR" sz="1801" b="1" dirty="0">
                  <a:solidFill>
                    <a:srgbClr val="ECCF20"/>
                  </a:solidFill>
                </a:rPr>
                <a:t>무엇을 먼저 탐색해야 </a:t>
              </a:r>
              <a:r>
                <a:rPr lang="ko-KR" altLang="ko-KR" sz="1801" b="1" dirty="0"/>
                <a:t>하는지 알려주는 것</a:t>
              </a:r>
              <a:r>
                <a:rPr lang="ko-KR" altLang="ko-KR" sz="1801" dirty="0"/>
                <a:t>이 서로 다른 문제가 된다는 분석이다. </a:t>
              </a:r>
              <a:endParaRPr lang="en-US" altLang="ko-KR" sz="1801" dirty="0"/>
            </a:p>
            <a:p>
              <a:pPr>
                <a:lnSpc>
                  <a:spcPct val="100000"/>
                </a:lnSpc>
              </a:pPr>
              <a:r>
                <a:rPr lang="ko-KR" altLang="en-US" sz="1801" dirty="0">
                  <a:solidFill>
                    <a:srgbClr val="ECCF20"/>
                  </a:solidFill>
                </a:rPr>
                <a:t>정보들 발견 </a:t>
              </a:r>
              <a:r>
                <a:rPr lang="ko-KR" altLang="ko-KR" sz="1801" dirty="0">
                  <a:solidFill>
                    <a:srgbClr val="ECCF20"/>
                  </a:solidFill>
                </a:rPr>
                <a:t>≠</a:t>
              </a:r>
              <a:r>
                <a:rPr lang="en-US" altLang="ko-KR" sz="1801" dirty="0">
                  <a:solidFill>
                    <a:srgbClr val="ECCF20"/>
                  </a:solidFill>
                </a:rPr>
                <a:t> </a:t>
              </a:r>
              <a:r>
                <a:rPr lang="ko-KR" altLang="en-US" sz="1801" dirty="0">
                  <a:solidFill>
                    <a:srgbClr val="ECCF20"/>
                  </a:solidFill>
                </a:rPr>
                <a:t>무엇을 먼저 탐색</a:t>
              </a:r>
              <a:endParaRPr lang="en-US" altLang="ko-KR" sz="1801" dirty="0">
                <a:solidFill>
                  <a:srgbClr val="ECCF20"/>
                </a:solidFill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8E10C1F5-15F8-6D57-DF40-56EE6114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5" y="882724"/>
            <a:ext cx="6947556" cy="4631703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11AB40A7-608E-B8A2-89BE-3F51EB7CC939}"/>
              </a:ext>
            </a:extLst>
          </p:cNvPr>
          <p:cNvSpPr txBox="1">
            <a:spLocks/>
          </p:cNvSpPr>
          <p:nvPr/>
        </p:nvSpPr>
        <p:spPr>
          <a:xfrm>
            <a:off x="8119768" y="121411"/>
            <a:ext cx="439771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i="1" dirty="0">
                <a:solidFill>
                  <a:srgbClr val="FFAE0D"/>
                </a:solidFill>
              </a:rPr>
              <a:t>1</a:t>
            </a:r>
            <a:endParaRPr lang="ko-KR" altLang="en-US" sz="2800" b="1" i="1" dirty="0">
              <a:solidFill>
                <a:srgbClr val="FFAE0D"/>
              </a:solidFill>
              <a:latin typeface="+mj-ea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4F71797-93FD-39D2-693B-AE5C7E9745A1}"/>
              </a:ext>
            </a:extLst>
          </p:cNvPr>
          <p:cNvSpPr txBox="1">
            <a:spLocks/>
          </p:cNvSpPr>
          <p:nvPr/>
        </p:nvSpPr>
        <p:spPr>
          <a:xfrm>
            <a:off x="8204612" y="2048967"/>
            <a:ext cx="439771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i="1" dirty="0">
                <a:solidFill>
                  <a:srgbClr val="FFAE0D"/>
                </a:solidFill>
                <a:latin typeface="+mj-ea"/>
              </a:rPr>
              <a:t>2</a:t>
            </a:r>
            <a:endParaRPr lang="ko-KR" altLang="en-US" sz="2800" b="1" i="1" dirty="0">
              <a:solidFill>
                <a:srgbClr val="FFAE0D"/>
              </a:solidFill>
              <a:latin typeface="+mj-ea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B5DCDA9F-25AB-7BF4-FD20-0C46345F4401}"/>
              </a:ext>
            </a:extLst>
          </p:cNvPr>
          <p:cNvSpPr txBox="1">
            <a:spLocks/>
          </p:cNvSpPr>
          <p:nvPr/>
        </p:nvSpPr>
        <p:spPr>
          <a:xfrm>
            <a:off x="8205620" y="3948242"/>
            <a:ext cx="439771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i="1" dirty="0">
                <a:solidFill>
                  <a:srgbClr val="FFAE0D"/>
                </a:solidFill>
                <a:latin typeface="+mj-ea"/>
              </a:rPr>
              <a:t>3</a:t>
            </a:r>
            <a:endParaRPr lang="ko-KR" altLang="en-US" sz="2800" b="1" i="1" dirty="0">
              <a:solidFill>
                <a:srgbClr val="FFAE0D"/>
              </a:solidFill>
              <a:latin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BE4F3-475F-10DA-9A21-C29C032E43A5}"/>
              </a:ext>
            </a:extLst>
          </p:cNvPr>
          <p:cNvSpPr txBox="1"/>
          <p:nvPr/>
        </p:nvSpPr>
        <p:spPr>
          <a:xfrm>
            <a:off x="4649235" y="886346"/>
            <a:ext cx="303427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dirty="0"/>
              <a:t>콘텐츠가 너무 많고 서로 다른</a:t>
            </a:r>
            <a:endParaRPr lang="en-US" altLang="ko-KR" sz="1801" dirty="0"/>
          </a:p>
          <a:p>
            <a:r>
              <a:rPr lang="ko-KR" altLang="ko-KR" sz="1801" dirty="0"/>
              <a:t>목적의 정보가 섞여 있어 정보의</a:t>
            </a:r>
            <a:endParaRPr lang="en-US" altLang="ko-KR" sz="1801" dirty="0"/>
          </a:p>
          <a:p>
            <a:r>
              <a:rPr lang="ko-KR" altLang="ko-KR" sz="1801" dirty="0"/>
              <a:t>우선순위를 파악하기 </a:t>
            </a:r>
            <a:endParaRPr lang="en-US" altLang="ko-KR" sz="1801" dirty="0"/>
          </a:p>
          <a:p>
            <a:r>
              <a:rPr lang="ko-KR" altLang="en-US" sz="1801" dirty="0"/>
              <a:t>어</a:t>
            </a:r>
            <a:r>
              <a:rPr lang="ko-KR" altLang="ko-KR" sz="1801" dirty="0"/>
              <a:t>려울 가능성이 있다.</a:t>
            </a:r>
            <a:endParaRPr lang="ko-KR" altLang="en-US" sz="180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CA434F-B8EC-D46D-3924-3240D524D583}"/>
              </a:ext>
            </a:extLst>
          </p:cNvPr>
          <p:cNvSpPr txBox="1"/>
          <p:nvPr/>
        </p:nvSpPr>
        <p:spPr>
          <a:xfrm>
            <a:off x="427596" y="5512761"/>
            <a:ext cx="328656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dirty="0"/>
              <a:t>서로 다른 사용자의 목적을 하나의 구조에서 해결해야 하므로 사용자별 다음 행동이 명확하게 드러나지 않을 가능성이 있다.</a:t>
            </a:r>
            <a:endParaRPr lang="ko-KR" altLang="en-US" sz="180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AE5692-8B7F-59AA-F5D3-BC2C9A633614}"/>
              </a:ext>
            </a:extLst>
          </p:cNvPr>
          <p:cNvSpPr txBox="1"/>
          <p:nvPr/>
        </p:nvSpPr>
        <p:spPr>
          <a:xfrm>
            <a:off x="4447465" y="5512761"/>
            <a:ext cx="3150539" cy="92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dirty="0"/>
              <a:t>콘텐츠를 많이 보여주는 방식이 오히려 탐색과 행동의 우선순위를 흐릴 가능성이 있다.</a:t>
            </a:r>
            <a:endParaRPr lang="ko-KR" altLang="en-US" sz="1801" dirty="0"/>
          </a:p>
        </p:txBody>
      </p:sp>
    </p:spTree>
    <p:extLst>
      <p:ext uri="{BB962C8B-B14F-4D97-AF65-F5344CB8AC3E}">
        <p14:creationId xmlns:p14="http://schemas.microsoft.com/office/powerpoint/2010/main" val="302482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4F7EF-0545-59A2-4661-0C89AB8F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745" y="2766220"/>
            <a:ext cx="6534510" cy="1325563"/>
          </a:xfrm>
        </p:spPr>
        <p:txBody>
          <a:bodyPr>
            <a:noAutofit/>
          </a:bodyPr>
          <a:lstStyle/>
          <a:p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레퍼런스</a:t>
            </a:r>
            <a: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(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구조참고용</a:t>
            </a:r>
            <a: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)</a:t>
            </a:r>
            <a:endParaRPr lang="ko-KR" altLang="en-US" sz="5001" dirty="0"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766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5B72-DDC5-EEB0-7767-FFF749DE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6B2F9-38D5-58B4-8CF2-F6832B4BB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</a:t>
            </a:r>
            <a:r>
              <a:rPr lang="ko-KR" altLang="ko-KR" sz="2800" dirty="0"/>
              <a:t>. 모두예술극장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E5253958-6337-4974-66DE-273D4934469F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32BAC-A3A4-EEAC-D36A-1D5260F549B5}"/>
              </a:ext>
            </a:extLst>
          </p:cNvPr>
          <p:cNvSpPr txBox="1"/>
          <p:nvPr/>
        </p:nvSpPr>
        <p:spPr>
          <a:xfrm>
            <a:off x="8301446" y="1248283"/>
            <a:ext cx="3293525" cy="42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dirty="0"/>
              <a:t>모두예술극장은 세종문화회관의 </a:t>
            </a:r>
            <a:r>
              <a:rPr lang="ko-KR" altLang="ko-KR" sz="1801" b="1" dirty="0">
                <a:solidFill>
                  <a:srgbClr val="ECCF20"/>
                </a:solidFill>
              </a:rPr>
              <a:t>① 콘텐츠가 많고 서로 다른 목적의 정보가 섞여 있어 정보의 우선순위를 파악하기 어려운 문제</a:t>
            </a:r>
            <a:endParaRPr lang="en-US" altLang="ko-KR" sz="1801" b="1" dirty="0">
              <a:solidFill>
                <a:srgbClr val="ECCF20"/>
              </a:solidFill>
            </a:endParaRPr>
          </a:p>
          <a:p>
            <a:r>
              <a:rPr lang="ko-KR" altLang="ko-KR" sz="1801" dirty="0"/>
              <a:t>와 연결하여 참고할 가치가 있다.</a:t>
            </a:r>
          </a:p>
          <a:p>
            <a:endParaRPr lang="en-US" altLang="ko-KR" sz="1801" dirty="0"/>
          </a:p>
          <a:p>
            <a:r>
              <a:rPr lang="ko-KR" altLang="ko-KR" sz="1801" dirty="0"/>
              <a:t>세종문화회관은 </a:t>
            </a:r>
            <a:r>
              <a:rPr lang="ko-KR" altLang="ko-KR" sz="1801" dirty="0" err="1"/>
              <a:t>공연·전시·교육</a:t>
            </a:r>
            <a:r>
              <a:rPr lang="ko-KR" altLang="ko-KR" sz="1801" dirty="0"/>
              <a:t> 등의 프로그램뿐만 아니라 멤버십, 소식, 티켓오픈, 대관공고, 알림, 이용정보 등 </a:t>
            </a:r>
            <a:r>
              <a:rPr lang="ko-KR" altLang="ko-KR" sz="1801" dirty="0">
                <a:highlight>
                  <a:srgbClr val="FFFF00"/>
                </a:highlight>
              </a:rPr>
              <a:t>서로 목적이 다른 콘텐츠를 하나의 메인 페이지에서 연속적으로 제공하고 있다. 이로 인해 사용자가 자신의 목적에 맞는 정보를 직접 찾아야 할 가능성이 있다.</a:t>
            </a:r>
          </a:p>
          <a:p>
            <a:pPr>
              <a:lnSpc>
                <a:spcPct val="100000"/>
              </a:lnSpc>
            </a:pPr>
            <a:r>
              <a:rPr lang="ko-KR" altLang="ko-KR" sz="1801" dirty="0"/>
              <a:t>.</a:t>
            </a:r>
            <a:endParaRPr lang="en-US" altLang="ko-KR" sz="180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026F5C-051B-6BA4-208E-B704CB519DCA}"/>
              </a:ext>
            </a:extLst>
          </p:cNvPr>
          <p:cNvSpPr txBox="1"/>
          <p:nvPr/>
        </p:nvSpPr>
        <p:spPr>
          <a:xfrm>
            <a:off x="69503" y="713682"/>
            <a:ext cx="7038309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b="1" dirty="0"/>
              <a:t>참고 요소:</a:t>
            </a:r>
            <a:r>
              <a:rPr lang="ko-KR" altLang="ko-KR" sz="1801" dirty="0"/>
              <a:t> </a:t>
            </a:r>
            <a:r>
              <a:rPr lang="ko-KR" altLang="ko-KR" sz="1801" dirty="0">
                <a:highlight>
                  <a:srgbClr val="FFFF00"/>
                </a:highlight>
              </a:rPr>
              <a:t>콘텐츠 흐름 및 정보구조</a:t>
            </a:r>
            <a:r>
              <a:rPr lang="en-US" altLang="ko-KR" sz="1801" dirty="0"/>
              <a:t> - </a:t>
            </a:r>
            <a:r>
              <a:rPr lang="ko-KR" altLang="ko-KR" sz="1801" dirty="0">
                <a:hlinkClick r:id="rId2"/>
              </a:rPr>
              <a:t>www.moduarttheater.or.kr</a:t>
            </a:r>
            <a:endParaRPr lang="ko-KR" altLang="en-US" sz="1801" dirty="0">
              <a:solidFill>
                <a:srgbClr val="FFAE0D"/>
              </a:solidFill>
            </a:endParaRPr>
          </a:p>
        </p:txBody>
      </p:sp>
      <p:pic>
        <p:nvPicPr>
          <p:cNvPr id="5" name="그림 4">
            <a:hlinkClick r:id="rId3"/>
            <a:extLst>
              <a:ext uri="{FF2B5EF4-FFF2-40B4-BE49-F238E27FC236}">
                <a16:creationId xmlns:a16="http://schemas.microsoft.com/office/drawing/2014/main" id="{D60AE05C-BC06-42D7-F3F6-3A372E73A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62" y="1248283"/>
            <a:ext cx="7350645" cy="3437769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D38248AB-A4BD-2C50-332B-B617810D7210}"/>
              </a:ext>
            </a:extLst>
          </p:cNvPr>
          <p:cNvSpPr txBox="1">
            <a:spLocks/>
          </p:cNvSpPr>
          <p:nvPr/>
        </p:nvSpPr>
        <p:spPr>
          <a:xfrm>
            <a:off x="144963" y="4685513"/>
            <a:ext cx="3982039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2800" dirty="0"/>
              <a:t>2. 어떤 문제와 연결되는가?</a:t>
            </a:r>
            <a:endParaRPr lang="ko-KR" altLang="en-US" sz="2800" dirty="0">
              <a:latin typeface="+mj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B2AAA8B-5AEE-B976-9558-784464941E45}"/>
              </a:ext>
            </a:extLst>
          </p:cNvPr>
          <p:cNvGrpSpPr/>
          <p:nvPr/>
        </p:nvGrpSpPr>
        <p:grpSpPr>
          <a:xfrm>
            <a:off x="417569" y="5235165"/>
            <a:ext cx="5587323" cy="1321719"/>
            <a:chOff x="3258574" y="2806727"/>
            <a:chExt cx="4380176" cy="2640751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F4B5C4A-6683-523B-C123-136223649701}"/>
                </a:ext>
              </a:extLst>
            </p:cNvPr>
            <p:cNvSpPr/>
            <p:nvPr/>
          </p:nvSpPr>
          <p:spPr>
            <a:xfrm>
              <a:off x="3471614" y="3315570"/>
              <a:ext cx="4125258" cy="21319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 sz="180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8DFEB8FB-B2A1-2F1A-ED6E-7C384732D18C}"/>
                </a:ext>
              </a:extLst>
            </p:cNvPr>
            <p:cNvSpPr/>
            <p:nvPr/>
          </p:nvSpPr>
          <p:spPr>
            <a:xfrm>
              <a:off x="3594898" y="3564899"/>
              <a:ext cx="1915637" cy="1823821"/>
            </a:xfrm>
            <a:custGeom>
              <a:avLst/>
              <a:gdLst>
                <a:gd name="csX0" fmla="*/ 0 w 1915637"/>
                <a:gd name="csY0" fmla="*/ 0 h 1823821"/>
                <a:gd name="csX1" fmla="*/ 1915637 w 1915637"/>
                <a:gd name="csY1" fmla="*/ 0 h 1823821"/>
                <a:gd name="csX2" fmla="*/ 1915637 w 1915637"/>
                <a:gd name="csY2" fmla="*/ 1823821 h 1823821"/>
                <a:gd name="csX3" fmla="*/ 0 w 1915637"/>
                <a:gd name="csY3" fmla="*/ 1823821 h 1823821"/>
                <a:gd name="csX4" fmla="*/ 0 w 1915637"/>
                <a:gd name="csY4" fmla="*/ 0 h 1823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15637" h="1823821">
                  <a:moveTo>
                    <a:pt x="0" y="0"/>
                  </a:moveTo>
                  <a:lnTo>
                    <a:pt x="1915637" y="0"/>
                  </a:lnTo>
                  <a:lnTo>
                    <a:pt x="1915637" y="1823821"/>
                  </a:lnTo>
                  <a:lnTo>
                    <a:pt x="0" y="18238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45721" rIns="45721" bIns="45721" numCol="1" spcCol="1270" anchor="t" anchorCtr="0">
              <a:noAutofit/>
            </a:bodyPr>
            <a:lstStyle/>
            <a:p>
              <a:pPr defTabSz="10668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400" dirty="0">
                  <a:solidFill>
                    <a:srgbClr val="FFAE0D"/>
                  </a:solidFill>
                </a:rPr>
                <a:t>직접적</a:t>
              </a:r>
              <a:endParaRPr lang="en-US" altLang="ko-KR" sz="2400" dirty="0">
                <a:solidFill>
                  <a:srgbClr val="FFAE0D"/>
                </a:solidFill>
              </a:endParaRPr>
            </a:p>
            <a:p>
              <a:pPr defTabSz="10668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200" dirty="0"/>
                <a:t>① 서로 다른 목적의 콘텐츠가 많고 정보 우선순위가 흐려지는 문제</a:t>
              </a: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98608CB4-2CBA-1702-BA97-B339A63EF54D}"/>
                </a:ext>
              </a:extLst>
            </p:cNvPr>
            <p:cNvSpPr/>
            <p:nvPr/>
          </p:nvSpPr>
          <p:spPr>
            <a:xfrm>
              <a:off x="5553210" y="3564899"/>
              <a:ext cx="1915637" cy="1823821"/>
            </a:xfrm>
            <a:custGeom>
              <a:avLst/>
              <a:gdLst>
                <a:gd name="csX0" fmla="*/ 0 w 1915637"/>
                <a:gd name="csY0" fmla="*/ 0 h 1823821"/>
                <a:gd name="csX1" fmla="*/ 1915637 w 1915637"/>
                <a:gd name="csY1" fmla="*/ 0 h 1823821"/>
                <a:gd name="csX2" fmla="*/ 1915637 w 1915637"/>
                <a:gd name="csY2" fmla="*/ 1823821 h 1823821"/>
                <a:gd name="csX3" fmla="*/ 0 w 1915637"/>
                <a:gd name="csY3" fmla="*/ 1823821 h 1823821"/>
                <a:gd name="csX4" fmla="*/ 0 w 1915637"/>
                <a:gd name="csY4" fmla="*/ 0 h 1823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15637" h="1823821">
                  <a:moveTo>
                    <a:pt x="0" y="0"/>
                  </a:moveTo>
                  <a:lnTo>
                    <a:pt x="1915637" y="0"/>
                  </a:lnTo>
                  <a:lnTo>
                    <a:pt x="1915637" y="1823821"/>
                  </a:lnTo>
                  <a:lnTo>
                    <a:pt x="0" y="18238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45721" rIns="45721" bIns="45721" numCol="1" spcCol="1270" anchor="t" anchorCtr="0">
              <a:noAutofit/>
            </a:bodyPr>
            <a:lstStyle/>
            <a:p>
              <a:pPr defTabSz="10668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2400" dirty="0">
                  <a:solidFill>
                    <a:srgbClr val="ECCF20"/>
                  </a:solidFill>
                </a:rPr>
                <a:t>부가적</a:t>
              </a:r>
              <a:endParaRPr lang="en-US" altLang="ko-KR" sz="2400" dirty="0">
                <a:solidFill>
                  <a:srgbClr val="ECCF20"/>
                </a:solidFill>
              </a:endParaRPr>
            </a:p>
            <a:p>
              <a:pPr defTabSz="10668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200" dirty="0"/>
                <a:t>② 사용자 목적에 따라 다음 행동이 달라지는 문제</a:t>
              </a:r>
            </a:p>
          </p:txBody>
        </p:sp>
        <p:sp>
          <p:nvSpPr>
            <p:cNvPr id="22" name="십자형 21">
              <a:extLst>
                <a:ext uri="{FF2B5EF4-FFF2-40B4-BE49-F238E27FC236}">
                  <a16:creationId xmlns:a16="http://schemas.microsoft.com/office/drawing/2014/main" id="{B8191BEE-9FAA-45B1-5875-DDB4EA11CAC4}"/>
                </a:ext>
              </a:extLst>
            </p:cNvPr>
            <p:cNvSpPr/>
            <p:nvPr/>
          </p:nvSpPr>
          <p:spPr>
            <a:xfrm>
              <a:off x="3258574" y="2806727"/>
              <a:ext cx="314987" cy="744177"/>
            </a:xfrm>
            <a:prstGeom prst="plus">
              <a:avLst>
                <a:gd name="adj" fmla="val 32810"/>
              </a:avLst>
            </a:prstGeom>
            <a:solidFill>
              <a:srgbClr val="FFAE0D"/>
            </a:solid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801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4BF59FF-067C-3AF8-86C9-F4D4D3166505}"/>
                </a:ext>
              </a:extLst>
            </p:cNvPr>
            <p:cNvSpPr/>
            <p:nvPr/>
          </p:nvSpPr>
          <p:spPr>
            <a:xfrm>
              <a:off x="7239684" y="3109089"/>
              <a:ext cx="399066" cy="256141"/>
            </a:xfrm>
            <a:prstGeom prst="rect">
              <a:avLst/>
            </a:prstGeom>
            <a:solidFill>
              <a:srgbClr val="ECCF20"/>
            </a:solid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직선 연결선 24">
              <a:extLst>
                <a:ext uri="{FF2B5EF4-FFF2-40B4-BE49-F238E27FC236}">
                  <a16:creationId xmlns:a16="http://schemas.microsoft.com/office/drawing/2014/main" id="{92FC0378-243F-CB9F-9908-01657841B911}"/>
                </a:ext>
              </a:extLst>
            </p:cNvPr>
            <p:cNvSpPr/>
            <p:nvPr/>
          </p:nvSpPr>
          <p:spPr>
            <a:xfrm>
              <a:off x="5504682" y="3568800"/>
              <a:ext cx="474" cy="1741926"/>
            </a:xfrm>
            <a:prstGeom prst="line">
              <a:avLst/>
            </a:prstGeom>
            <a:ln>
              <a:solidFill>
                <a:srgbClr val="FFAE0D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27" name="그래픽 26">
            <a:extLst>
              <a:ext uri="{FF2B5EF4-FFF2-40B4-BE49-F238E27FC236}">
                <a16:creationId xmlns:a16="http://schemas.microsoft.com/office/drawing/2014/main" id="{0C3B7013-5386-E40C-559E-947F53222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6656" y="4823809"/>
            <a:ext cx="2238375" cy="409575"/>
          </a:xfrm>
          <a:prstGeom prst="rect">
            <a:avLst/>
          </a:prstGeom>
        </p:spPr>
      </p:pic>
      <p:pic>
        <p:nvPicPr>
          <p:cNvPr id="28" name="그림 27" descr="BI유형1 : Symbol Mark + 국문/영문 로고 가로형">
            <a:extLst>
              <a:ext uri="{FF2B5EF4-FFF2-40B4-BE49-F238E27FC236}">
                <a16:creationId xmlns:a16="http://schemas.microsoft.com/office/drawing/2014/main" id="{D0B6FFA1-7836-FAF5-8574-775568A02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381" y="5891417"/>
            <a:ext cx="4038222" cy="77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9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A9A9-EB49-F9DB-CCF1-E269F2EA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FF115-9A20-C187-4B3C-E9A92823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</a:t>
            </a:r>
            <a:r>
              <a:rPr lang="ko-KR" altLang="ko-KR" sz="2800" dirty="0"/>
              <a:t>. 모두예술극장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EDE66967-A57D-05E8-6D65-B672367016DA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A14CCC-3184-607D-49E6-EA129A6F75DE}"/>
              </a:ext>
            </a:extLst>
          </p:cNvPr>
          <p:cNvSpPr txBox="1"/>
          <p:nvPr/>
        </p:nvSpPr>
        <p:spPr>
          <a:xfrm>
            <a:off x="41222" y="713682"/>
            <a:ext cx="4057499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i="1" dirty="0"/>
              <a:t>레퍼런스에서는 어떻게 해결하고 있는가</a:t>
            </a:r>
            <a:r>
              <a:rPr lang="en-US" altLang="ko-KR" sz="1801" i="1" dirty="0"/>
              <a:t>?</a:t>
            </a:r>
            <a:endParaRPr lang="ko-KR" altLang="en-US" sz="1801" i="1" dirty="0">
              <a:solidFill>
                <a:srgbClr val="FFAE0D"/>
              </a:solidFill>
            </a:endParaRPr>
          </a:p>
        </p:txBody>
      </p:sp>
      <p:pic>
        <p:nvPicPr>
          <p:cNvPr id="28" name="그림 27" descr="BI유형1 : Symbol Mark + 국문/영문 로고 가로형">
            <a:extLst>
              <a:ext uri="{FF2B5EF4-FFF2-40B4-BE49-F238E27FC236}">
                <a16:creationId xmlns:a16="http://schemas.microsoft.com/office/drawing/2014/main" id="{7A37E961-35AF-43F4-5B6C-5A6EE6336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381" y="5891417"/>
            <a:ext cx="4038222" cy="778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7C28BD-1CB7-C650-FC45-156DB722ED9D}"/>
              </a:ext>
            </a:extLst>
          </p:cNvPr>
          <p:cNvSpPr txBox="1"/>
          <p:nvPr/>
        </p:nvSpPr>
        <p:spPr>
          <a:xfrm>
            <a:off x="69503" y="1248284"/>
            <a:ext cx="6265310" cy="294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801" dirty="0"/>
              <a:t>모두예술극장은 공연 콘텐츠와 공연 일정, 공간 및 대관 관련 정보,</a:t>
            </a:r>
            <a:endParaRPr lang="en-US" altLang="ko-KR" sz="1801" dirty="0"/>
          </a:p>
          <a:p>
            <a:pPr>
              <a:lnSpc>
                <a:spcPct val="150000"/>
              </a:lnSpc>
              <a:buNone/>
            </a:pPr>
            <a:r>
              <a:rPr lang="ko-KR" altLang="ko-KR" sz="1801" dirty="0"/>
              <a:t>공지 및 </a:t>
            </a:r>
            <a:r>
              <a:rPr lang="ko-KR" altLang="ko-KR" sz="1801" dirty="0">
                <a:highlight>
                  <a:srgbClr val="FFFF00"/>
                </a:highlight>
              </a:rPr>
              <a:t>기타 콘텐츠를 구분하여 제공한다.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801" dirty="0"/>
              <a:t>따라서 단순히 많은 정보를 한꺼번에 노출하기보다</a:t>
            </a:r>
            <a:endParaRPr lang="en-US" altLang="ko-KR" sz="1801" dirty="0"/>
          </a:p>
          <a:p>
            <a:pPr>
              <a:lnSpc>
                <a:spcPct val="150000"/>
              </a:lnSpc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콘텐츠의 성격과 사용자의 목적에 따라 정보를 구분</a:t>
            </a:r>
            <a:r>
              <a:rPr lang="ko-KR" altLang="ko-KR" sz="1801" b="1" dirty="0"/>
              <a:t>하고, </a:t>
            </a:r>
            <a:r>
              <a:rPr lang="ko-KR" altLang="ko-KR" sz="1801" b="1" dirty="0">
                <a:highlight>
                  <a:srgbClr val="FFFF00"/>
                </a:highlight>
              </a:rPr>
              <a:t>페이지의 흐름에 따라 단계적으로 제공하는 방식</a:t>
            </a:r>
            <a:r>
              <a:rPr lang="ko-KR" altLang="ko-KR" sz="1801" dirty="0"/>
              <a:t>을 참고할 수 있다.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801" dirty="0">
                <a:solidFill>
                  <a:srgbClr val="ECCF20"/>
                </a:solidFill>
              </a:rPr>
              <a:t>특히 중요한 점은 콘텐츠를 줄이는 것이 아니라, 각 콘텐츠의 역할을 구분하여 사용자가 필요한 정보를 찾기 쉽게 구성한다는 것이다.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4C2A4-7676-D019-520F-D18DED2D2708}"/>
              </a:ext>
            </a:extLst>
          </p:cNvPr>
          <p:cNvSpPr txBox="1"/>
          <p:nvPr/>
        </p:nvSpPr>
        <p:spPr>
          <a:xfrm>
            <a:off x="6424367" y="713682"/>
            <a:ext cx="6099141" cy="452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1" b="1" i="1" dirty="0"/>
              <a:t>세종문화회관에 적용할 수 있는가</a:t>
            </a:r>
            <a:r>
              <a:rPr lang="en-US" altLang="ko-KR" sz="1801" b="1" i="1" dirty="0"/>
              <a:t>?</a:t>
            </a:r>
            <a:endParaRPr lang="ko-KR" altLang="ko-KR" sz="1801" b="1" i="1" dirty="0"/>
          </a:p>
          <a:p>
            <a:pPr>
              <a:buNone/>
            </a:pPr>
            <a:endParaRPr lang="en-US" altLang="ko-KR" sz="1801" dirty="0"/>
          </a:p>
          <a:p>
            <a:pPr>
              <a:buNone/>
            </a:pPr>
            <a:r>
              <a:rPr lang="ko-KR" altLang="ko-KR" sz="1801" dirty="0"/>
              <a:t>구조를 그대로 적용하기보다는 </a:t>
            </a:r>
            <a:r>
              <a:rPr lang="ko-KR" altLang="ko-KR" sz="1801" b="1" dirty="0"/>
              <a:t>정보를</a:t>
            </a:r>
            <a:endParaRPr lang="en-US" altLang="ko-KR" sz="1801" b="1" dirty="0"/>
          </a:p>
          <a:p>
            <a:pPr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사용자 목적에 따라 구분하고 콘텐츠의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흐름을 설계하는 원리</a:t>
            </a:r>
            <a:r>
              <a:rPr lang="ko-KR" altLang="ko-KR" sz="1801" dirty="0"/>
              <a:t>를 적용하는 것이 적절하다.</a:t>
            </a:r>
          </a:p>
          <a:p>
            <a:pPr>
              <a:buNone/>
            </a:pPr>
            <a:r>
              <a:rPr lang="ko-KR" altLang="ko-KR" sz="1801" dirty="0"/>
              <a:t>회관은 극장보다 프로그램과 서비스의 종류가 많고,</a:t>
            </a:r>
            <a:endParaRPr lang="en-US" altLang="ko-KR" sz="1801" dirty="0"/>
          </a:p>
          <a:p>
            <a:pPr>
              <a:buNone/>
            </a:pPr>
            <a:r>
              <a:rPr lang="ko-KR" altLang="ko-KR" sz="1801" dirty="0"/>
              <a:t>일반 관람객과 대관 이용자 등 사용자 목적도 다양하다.</a:t>
            </a:r>
            <a:endParaRPr lang="en-US" altLang="ko-KR" sz="1801" dirty="0"/>
          </a:p>
          <a:p>
            <a:pPr>
              <a:buNone/>
            </a:pPr>
            <a:r>
              <a:rPr lang="ko-KR" altLang="ko-KR" sz="1801" dirty="0"/>
              <a:t>따라서 동일한 메뉴 구조나 화면 구성을</a:t>
            </a:r>
            <a:endParaRPr lang="en-US" altLang="ko-KR" sz="1801" dirty="0"/>
          </a:p>
          <a:p>
            <a:pPr>
              <a:buNone/>
            </a:pPr>
            <a:r>
              <a:rPr lang="ko-KR" altLang="ko-KR" sz="1801" dirty="0"/>
              <a:t>그대로 적용하기보다는 </a:t>
            </a:r>
            <a:r>
              <a:rPr lang="ko-KR" altLang="ko-KR" sz="1801" dirty="0" err="1"/>
              <a:t>공연·전시·교육</a:t>
            </a:r>
            <a:r>
              <a:rPr lang="ko-KR" altLang="ko-KR" sz="1801" dirty="0"/>
              <a:t>, 대관, 소식,</a:t>
            </a:r>
            <a:endParaRPr lang="en-US" altLang="ko-KR" sz="1801" dirty="0"/>
          </a:p>
          <a:p>
            <a:pPr>
              <a:buNone/>
            </a:pPr>
            <a:r>
              <a:rPr lang="ko-KR" altLang="ko-KR" sz="1801" dirty="0"/>
              <a:t>이용정보 </a:t>
            </a:r>
            <a:r>
              <a:rPr lang="ko-KR" altLang="ko-KR" sz="1801" dirty="0">
                <a:highlight>
                  <a:srgbClr val="FFFF00"/>
                </a:highlight>
              </a:rPr>
              <a:t>등의 콘텐츠가 각각 </a:t>
            </a:r>
            <a:r>
              <a:rPr lang="ko-KR" altLang="ko-KR" sz="1801" dirty="0" err="1">
                <a:highlight>
                  <a:srgbClr val="FFFF00"/>
                </a:highlight>
              </a:rPr>
              <a:t>어떤사용자</a:t>
            </a:r>
            <a:r>
              <a:rPr lang="ko-KR" altLang="ko-KR" sz="1801" dirty="0">
                <a:highlight>
                  <a:srgbClr val="FFFF00"/>
                </a:highlight>
              </a:rPr>
              <a:t> 행동과</a:t>
            </a:r>
            <a:endParaRPr lang="en-US" altLang="ko-KR" sz="180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ko-KR" altLang="ko-KR" sz="1801" dirty="0">
                <a:highlight>
                  <a:srgbClr val="FFFF00"/>
                </a:highlight>
              </a:rPr>
              <a:t>연결되는지를 기준으로 정보구조를 재구성</a:t>
            </a:r>
            <a:r>
              <a:rPr lang="ko-KR" altLang="ko-KR" sz="1801" dirty="0"/>
              <a:t>할 필요가 있다.</a:t>
            </a:r>
          </a:p>
          <a:p>
            <a:pPr>
              <a:buNone/>
            </a:pPr>
            <a:endParaRPr lang="en-US" altLang="ko-KR" sz="1801" b="1" dirty="0"/>
          </a:p>
          <a:p>
            <a:pPr>
              <a:buNone/>
            </a:pPr>
            <a:r>
              <a:rPr lang="ko-KR" altLang="ko-KR" sz="1801" b="1" i="1" dirty="0"/>
              <a:t>적용가능원리</a:t>
            </a:r>
            <a:r>
              <a:rPr lang="en-US" altLang="ko-KR" sz="1801" b="1" i="1" dirty="0"/>
              <a:t>?</a:t>
            </a:r>
            <a:endParaRPr lang="ko-KR" altLang="ko-KR" sz="1801" b="1" i="1" dirty="0"/>
          </a:p>
          <a:p>
            <a:pPr>
              <a:buNone/>
            </a:pPr>
            <a:r>
              <a:rPr lang="ko-KR" altLang="ko-KR" sz="1801" b="1" dirty="0"/>
              <a:t>콘텐츠의 양을 단순히 줄이는 것이 아니라, </a:t>
            </a:r>
            <a:r>
              <a:rPr lang="ko-KR" altLang="ko-KR" sz="1801" b="1" dirty="0">
                <a:highlight>
                  <a:srgbClr val="FFFF00"/>
                </a:highlight>
              </a:rPr>
              <a:t>사용자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목적과 콘텐츠의 역할에 따라 정보를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구분하고 순차적으로 제공</a:t>
            </a:r>
            <a:r>
              <a:rPr lang="ko-KR" altLang="ko-KR" sz="1801" b="1" dirty="0"/>
              <a:t>한다.</a:t>
            </a:r>
            <a:endParaRPr lang="ko-KR" altLang="ko-KR" sz="180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1077A36-33D3-9A22-FCF8-7243C974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57" y="4646010"/>
            <a:ext cx="5747616" cy="192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16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BB95-85F1-FC9E-C71C-F3170574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AE6F5-EE89-ABF9-BEDF-BE396227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B</a:t>
            </a:r>
            <a:r>
              <a:rPr lang="ko-KR" altLang="ko-KR" sz="2800" dirty="0"/>
              <a:t>. 서울아트마켓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71B99D7C-7560-5507-4853-D749FFB48550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5D835A-CA73-ADD2-C91F-B1E38A7EB167}"/>
              </a:ext>
            </a:extLst>
          </p:cNvPr>
          <p:cNvSpPr txBox="1"/>
          <p:nvPr/>
        </p:nvSpPr>
        <p:spPr>
          <a:xfrm>
            <a:off x="69503" y="713682"/>
            <a:ext cx="5539447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b="1" dirty="0"/>
              <a:t>참고 요소:</a:t>
            </a:r>
            <a:r>
              <a:rPr lang="ko-KR" altLang="ko-KR" sz="1801" dirty="0"/>
              <a:t> 콘텐츠 흐름 및 정보구조</a:t>
            </a:r>
            <a:r>
              <a:rPr lang="en-US" altLang="ko-KR" sz="1801" dirty="0"/>
              <a:t> - </a:t>
            </a:r>
            <a:r>
              <a:rPr lang="ko-KR" altLang="ko-KR" sz="1801" dirty="0">
                <a:hlinkClick r:id="rId3"/>
              </a:rPr>
              <a:t>www.pams.or.kr</a:t>
            </a:r>
            <a:r>
              <a:rPr lang="en-US" altLang="ko-KR" sz="1801" dirty="0">
                <a:hlinkClick r:id="rId3"/>
              </a:rPr>
              <a:t> </a:t>
            </a:r>
            <a:endParaRPr lang="ko-KR" altLang="en-US" sz="1801" dirty="0">
              <a:solidFill>
                <a:srgbClr val="FFAE0D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CF3366B-B9BA-429B-9AC1-50C374AA4B9E}"/>
              </a:ext>
            </a:extLst>
          </p:cNvPr>
          <p:cNvSpPr txBox="1">
            <a:spLocks/>
          </p:cNvSpPr>
          <p:nvPr/>
        </p:nvSpPr>
        <p:spPr>
          <a:xfrm>
            <a:off x="144963" y="4685513"/>
            <a:ext cx="3982039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2800" dirty="0"/>
              <a:t>2. 어떤 문제와 연결되는가?</a:t>
            </a:r>
            <a:endParaRPr lang="ko-KR" altLang="en-US" sz="2800" dirty="0">
              <a:latin typeface="+mj-ea"/>
            </a:endParaRP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878B16D3-A4E1-EA97-B460-77853CE67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6656" y="4823809"/>
            <a:ext cx="2238375" cy="4095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E070058-529A-D44A-ACD4-E3B909E20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63" y="1117178"/>
            <a:ext cx="7373541" cy="35549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7CF36-4D3B-787B-04CC-5C12737DF9A1}"/>
              </a:ext>
            </a:extLst>
          </p:cNvPr>
          <p:cNvSpPr txBox="1"/>
          <p:nvPr/>
        </p:nvSpPr>
        <p:spPr>
          <a:xfrm>
            <a:off x="119796" y="5270550"/>
            <a:ext cx="27365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/>
              <a:t>서울아트마켓은 세종문화회관의 </a:t>
            </a:r>
            <a:r>
              <a:rPr lang="ko-KR" altLang="ko-KR" sz="1600" b="1" dirty="0">
                <a:solidFill>
                  <a:srgbClr val="ECCF20"/>
                </a:solidFill>
              </a:rPr>
              <a:t>③ 콘텐츠를 많이 보여주는 방식이 탐색과 행동의 우선순위를 흐릴 가능성이 있는 문제</a:t>
            </a:r>
            <a:r>
              <a:rPr lang="ko-KR" altLang="ko-KR" sz="1600" dirty="0">
                <a:highlight>
                  <a:srgbClr val="FFFF00"/>
                </a:highlight>
              </a:rPr>
              <a:t>와 가장 직접적으로 연결된다.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5B37D-A713-3C16-FA8B-B6B621F98BA0}"/>
              </a:ext>
            </a:extLst>
          </p:cNvPr>
          <p:cNvSpPr txBox="1"/>
          <p:nvPr/>
        </p:nvSpPr>
        <p:spPr>
          <a:xfrm>
            <a:off x="2881489" y="5270551"/>
            <a:ext cx="38869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/>
              <a:t>세종문화회관의 </a:t>
            </a:r>
            <a:r>
              <a:rPr lang="ko-KR" altLang="ko-KR" sz="1600" dirty="0" err="1"/>
              <a:t>Hero</a:t>
            </a:r>
            <a:r>
              <a:rPr lang="ko-KR" altLang="ko-KR" sz="1600" dirty="0"/>
              <a:t> 영역에서는 서로 다른 4개의 행사 콘텐츠가 동시에 노출된다</a:t>
            </a:r>
            <a:r>
              <a:rPr lang="ko-KR" altLang="ko-KR" sz="1600" dirty="0">
                <a:solidFill>
                  <a:srgbClr val="ECCF20"/>
                </a:solidFill>
              </a:rPr>
              <a:t>. 각 콘텐츠가 큰 면적을 차지하면서 여러 프로그램이 동일한 수준에서 경쟁하기 때문에 </a:t>
            </a:r>
            <a:r>
              <a:rPr lang="ko-KR" altLang="ko-KR" sz="1600" dirty="0">
                <a:highlight>
                  <a:srgbClr val="FFFF00"/>
                </a:highlight>
              </a:rPr>
              <a:t>사용자가 어떤 정보를 우선적으로 확인해야 하는지 판단하는 과정이 추가될 수 있다.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1E67B63-15C2-5F4C-F1AF-B19EE67EC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439" y="1117178"/>
            <a:ext cx="3831371" cy="18395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649A878-3B6C-CB1F-0553-3147940D5C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159" y="3193332"/>
            <a:ext cx="3987035" cy="180438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F6D9440-571C-0D2F-A85C-C2F31A7E3B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611" y="5486885"/>
            <a:ext cx="5136907" cy="113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57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2D62-6BD0-1C53-D466-4B49D2B6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54A48-C8CA-3FAE-650B-C62DD572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B</a:t>
            </a:r>
            <a:r>
              <a:rPr lang="ko-KR" altLang="ko-KR" sz="2800" dirty="0"/>
              <a:t>. 서울아트마켓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52DE6F22-A54A-E864-407F-35B4CEAC56A4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92F827-AEAC-1699-E004-88A228F96294}"/>
              </a:ext>
            </a:extLst>
          </p:cNvPr>
          <p:cNvSpPr txBox="1"/>
          <p:nvPr/>
        </p:nvSpPr>
        <p:spPr>
          <a:xfrm>
            <a:off x="41222" y="713682"/>
            <a:ext cx="4057499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i="1" dirty="0"/>
              <a:t>레퍼런스에서는 어떻게 해결하고 있는가</a:t>
            </a:r>
            <a:r>
              <a:rPr lang="en-US" altLang="ko-KR" sz="1801" i="1" dirty="0"/>
              <a:t>?</a:t>
            </a:r>
            <a:endParaRPr lang="ko-KR" altLang="en-US" sz="1801" i="1" dirty="0">
              <a:solidFill>
                <a:srgbClr val="FFAE0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219FE-A00B-100B-1775-32540E253990}"/>
              </a:ext>
            </a:extLst>
          </p:cNvPr>
          <p:cNvSpPr txBox="1"/>
          <p:nvPr/>
        </p:nvSpPr>
        <p:spPr>
          <a:xfrm>
            <a:off x="69503" y="1248283"/>
            <a:ext cx="6265310" cy="3361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801" dirty="0">
                <a:highlight>
                  <a:srgbClr val="FFFF00"/>
                </a:highlight>
              </a:rPr>
              <a:t>서울아트마켓은 </a:t>
            </a:r>
            <a:r>
              <a:rPr lang="ko-KR" altLang="ko-KR" sz="1801" dirty="0" err="1">
                <a:highlight>
                  <a:srgbClr val="FFFF00"/>
                </a:highlight>
              </a:rPr>
              <a:t>Hero</a:t>
            </a:r>
            <a:r>
              <a:rPr lang="ko-KR" altLang="ko-KR" sz="1801" dirty="0">
                <a:highlight>
                  <a:srgbClr val="FFFF00"/>
                </a:highlight>
              </a:rPr>
              <a:t> 영역에서 하나의</a:t>
            </a:r>
            <a:endParaRPr lang="en-US" altLang="ko-KR" sz="180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ko-KR" sz="1801" dirty="0">
                <a:highlight>
                  <a:srgbClr val="FFFF00"/>
                </a:highlight>
              </a:rPr>
              <a:t>주요 메시지를 중심으로 콘텐츠를 전달</a:t>
            </a:r>
            <a:r>
              <a:rPr lang="ko-KR" altLang="ko-KR" sz="1801" dirty="0"/>
              <a:t>하고, </a:t>
            </a:r>
            <a:endParaRPr lang="en-US" altLang="ko-KR" sz="1801" dirty="0"/>
          </a:p>
          <a:p>
            <a:pPr>
              <a:lnSpc>
                <a:spcPct val="150000"/>
              </a:lnSpc>
            </a:pPr>
            <a:r>
              <a:rPr lang="ko-KR" altLang="ko-KR" sz="1801" dirty="0">
                <a:highlight>
                  <a:srgbClr val="FFFF00"/>
                </a:highlight>
              </a:rPr>
              <a:t>외의 정보는 별도의 영역에서 구분하여 제공한다.</a:t>
            </a:r>
          </a:p>
          <a:p>
            <a:pPr>
              <a:lnSpc>
                <a:spcPct val="150000"/>
              </a:lnSpc>
            </a:pPr>
            <a:r>
              <a:rPr lang="ko-KR" altLang="ko-KR" sz="1801" dirty="0"/>
              <a:t>이를 통해 첫 화면에서 여러 콘텐츠가 동시에 경쟁하기보다 </a:t>
            </a:r>
            <a:r>
              <a:rPr lang="ko-KR" altLang="ko-KR" sz="1801" b="1" dirty="0">
                <a:highlight>
                  <a:srgbClr val="FFFF00"/>
                </a:highlight>
              </a:rPr>
              <a:t>핵심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ko-KR" sz="1801" b="1" dirty="0">
                <a:highlight>
                  <a:srgbClr val="FFFF00"/>
                </a:highlight>
              </a:rPr>
              <a:t>콘텐츠에 시각적 초점을 집중</a:t>
            </a:r>
            <a:r>
              <a:rPr lang="ko-KR" altLang="ko-KR" sz="1801" b="1" dirty="0"/>
              <a:t>시키는 구조</a:t>
            </a:r>
            <a:r>
              <a:rPr lang="ko-KR" altLang="ko-KR" sz="1801" dirty="0"/>
              <a:t>를 확인할 수 있다.</a:t>
            </a:r>
          </a:p>
          <a:p>
            <a:pPr>
              <a:lnSpc>
                <a:spcPct val="150000"/>
              </a:lnSpc>
            </a:pPr>
            <a:r>
              <a:rPr lang="ko-KR" altLang="ko-KR" sz="1801" dirty="0"/>
              <a:t>특히 </a:t>
            </a:r>
            <a:r>
              <a:rPr lang="ko-KR" altLang="ko-KR" sz="1801" dirty="0" err="1"/>
              <a:t>Hero의</a:t>
            </a:r>
            <a:r>
              <a:rPr lang="ko-KR" altLang="ko-KR" sz="1801" dirty="0"/>
              <a:t> 역할을 여러 정보를 동시에 전달하는 영역으로 사용하기보다, </a:t>
            </a:r>
            <a:r>
              <a:rPr lang="ko-KR" altLang="ko-KR" sz="1801" dirty="0">
                <a:highlight>
                  <a:srgbClr val="FFFF00"/>
                </a:highlight>
              </a:rPr>
              <a:t>사용자가 가장 먼저 인식해야 할 핵심 콘텐츠를 전달하고 이후 다른 콘텐츠를 탐색하도록 연결하는 방식으로 참고할 수 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82414-2E8C-67FD-F876-06729B69D038}"/>
              </a:ext>
            </a:extLst>
          </p:cNvPr>
          <p:cNvSpPr txBox="1"/>
          <p:nvPr/>
        </p:nvSpPr>
        <p:spPr>
          <a:xfrm>
            <a:off x="6424367" y="713682"/>
            <a:ext cx="6099141" cy="508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1" b="1" i="1" dirty="0"/>
              <a:t>세종문화회관에 적용할 수 있는가</a:t>
            </a:r>
            <a:r>
              <a:rPr lang="en-US" altLang="ko-KR" sz="1801" b="1" i="1" dirty="0"/>
              <a:t>?</a:t>
            </a:r>
            <a:endParaRPr lang="ko-KR" altLang="ko-KR" sz="1801" b="1" i="1" dirty="0"/>
          </a:p>
          <a:p>
            <a:pPr>
              <a:buNone/>
            </a:pPr>
            <a:endParaRPr lang="en-US" altLang="ko-KR" sz="1801" dirty="0"/>
          </a:p>
          <a:p>
            <a:r>
              <a:rPr lang="ko-KR" altLang="ko-KR" sz="1801" dirty="0"/>
              <a:t>서울아트마켓의 </a:t>
            </a:r>
            <a:r>
              <a:rPr lang="ko-KR" altLang="ko-KR" sz="1801" dirty="0" err="1">
                <a:solidFill>
                  <a:srgbClr val="ECCF20"/>
                </a:solidFill>
              </a:rPr>
              <a:t>Hero</a:t>
            </a:r>
            <a:r>
              <a:rPr lang="ko-KR" altLang="ko-KR" sz="1801" dirty="0">
                <a:solidFill>
                  <a:srgbClr val="ECCF20"/>
                </a:solidFill>
              </a:rPr>
              <a:t> 구성 자체를 그대로</a:t>
            </a:r>
            <a:endParaRPr lang="en-US" altLang="ko-KR" sz="1801" dirty="0">
              <a:solidFill>
                <a:srgbClr val="ECCF20"/>
              </a:solidFill>
            </a:endParaRPr>
          </a:p>
          <a:p>
            <a:r>
              <a:rPr lang="ko-KR" altLang="ko-KR" sz="1801" dirty="0">
                <a:solidFill>
                  <a:srgbClr val="ECCF20"/>
                </a:solidFill>
              </a:rPr>
              <a:t>적용하는 것은 적절하지 않다.</a:t>
            </a:r>
          </a:p>
          <a:p>
            <a:r>
              <a:rPr lang="ko-KR" altLang="ko-KR" sz="1801" dirty="0"/>
              <a:t>서울아트마켓과 세종문화회관은 </a:t>
            </a:r>
            <a:r>
              <a:rPr lang="ko-KR" altLang="ko-KR" sz="1801" dirty="0">
                <a:solidFill>
                  <a:srgbClr val="ECCF20"/>
                </a:solidFill>
              </a:rPr>
              <a:t>서비스의</a:t>
            </a:r>
            <a:endParaRPr lang="en-US" altLang="ko-KR" sz="1801" dirty="0">
              <a:solidFill>
                <a:srgbClr val="ECCF20"/>
              </a:solidFill>
            </a:endParaRPr>
          </a:p>
          <a:p>
            <a:r>
              <a:rPr lang="ko-KR" altLang="ko-KR" sz="1801" dirty="0">
                <a:solidFill>
                  <a:srgbClr val="ECCF20"/>
                </a:solidFill>
              </a:rPr>
              <a:t>목적과 콘텐츠 규모가 다르기 때문이다.</a:t>
            </a:r>
            <a:endParaRPr lang="en-US" altLang="ko-KR" sz="1801" dirty="0">
              <a:solidFill>
                <a:srgbClr val="ECCF20"/>
              </a:solidFill>
            </a:endParaRPr>
          </a:p>
          <a:p>
            <a:r>
              <a:rPr lang="ko-KR" altLang="ko-KR" sz="1801" dirty="0"/>
              <a:t>서울아트마켓은 특정 문화예술 행사와 관련된</a:t>
            </a:r>
            <a:endParaRPr lang="en-US" altLang="ko-KR" sz="1801" dirty="0"/>
          </a:p>
          <a:p>
            <a:r>
              <a:rPr lang="ko-KR" altLang="ko-KR" sz="1801" dirty="0"/>
              <a:t>정보를 중심으로 구성할 수 있지만, 세종문화회관은</a:t>
            </a:r>
            <a:endParaRPr lang="en-US" altLang="ko-KR" sz="1801" dirty="0"/>
          </a:p>
          <a:p>
            <a:r>
              <a:rPr lang="ko-KR" altLang="ko-KR" sz="1801" dirty="0" err="1">
                <a:solidFill>
                  <a:srgbClr val="ECCF20"/>
                </a:solidFill>
              </a:rPr>
              <a:t>공연·전시·교육·대관·소식·멤버십</a:t>
            </a:r>
            <a:r>
              <a:rPr lang="ko-KR" altLang="ko-KR" sz="1801" dirty="0">
                <a:solidFill>
                  <a:srgbClr val="ECCF20"/>
                </a:solidFill>
              </a:rPr>
              <a:t> 등 다양한</a:t>
            </a:r>
            <a:endParaRPr lang="en-US" altLang="ko-KR" sz="1801" dirty="0">
              <a:solidFill>
                <a:srgbClr val="ECCF20"/>
              </a:solidFill>
            </a:endParaRPr>
          </a:p>
          <a:p>
            <a:r>
              <a:rPr lang="ko-KR" altLang="ko-KR" sz="1801" dirty="0">
                <a:solidFill>
                  <a:srgbClr val="ECCF20"/>
                </a:solidFill>
              </a:rPr>
              <a:t>목적을 동시에 제공해야 </a:t>
            </a:r>
            <a:r>
              <a:rPr lang="ko-KR" altLang="ko-KR" sz="1801" dirty="0"/>
              <a:t>한다.</a:t>
            </a:r>
          </a:p>
          <a:p>
            <a:r>
              <a:rPr lang="ko-KR" altLang="ko-KR" sz="1801" dirty="0"/>
              <a:t>따라서 참고해야 하는 것은 </a:t>
            </a:r>
            <a:r>
              <a:rPr lang="ko-KR" altLang="ko-KR" sz="1801" b="1" dirty="0"/>
              <a:t>하나의 큰 배너라는</a:t>
            </a:r>
            <a:endParaRPr lang="en-US" altLang="ko-KR" sz="1801" b="1" dirty="0"/>
          </a:p>
          <a:p>
            <a:r>
              <a:rPr lang="ko-KR" altLang="ko-KR" sz="1801" b="1" dirty="0"/>
              <a:t>시각적 형태가 아니라, </a:t>
            </a:r>
            <a:r>
              <a:rPr lang="ko-KR" altLang="ko-KR" sz="1801" b="1" dirty="0" err="1">
                <a:highlight>
                  <a:srgbClr val="FFFF00"/>
                </a:highlight>
              </a:rPr>
              <a:t>Hero에서</a:t>
            </a:r>
            <a:r>
              <a:rPr lang="ko-KR" altLang="ko-KR" sz="1801" b="1" dirty="0">
                <a:highlight>
                  <a:srgbClr val="FFFF00"/>
                </a:highlight>
              </a:rPr>
              <a:t> 정보의 우선순위를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r>
              <a:rPr lang="ko-KR" altLang="ko-KR" sz="1801" b="1" dirty="0">
                <a:highlight>
                  <a:srgbClr val="FFFF00"/>
                </a:highlight>
              </a:rPr>
              <a:t>명확하게 만드는 원리</a:t>
            </a:r>
            <a:r>
              <a:rPr lang="ko-KR" altLang="ko-KR" sz="1801" dirty="0"/>
              <a:t>이다.</a:t>
            </a:r>
          </a:p>
          <a:p>
            <a:r>
              <a:rPr lang="ko-KR" altLang="ko-KR" sz="1801" dirty="0"/>
              <a:t>예를 들어 </a:t>
            </a:r>
            <a:r>
              <a:rPr lang="ko-KR" altLang="ko-KR" sz="1801" dirty="0" err="1">
                <a:highlight>
                  <a:srgbClr val="FFFF00"/>
                </a:highlight>
              </a:rPr>
              <a:t>Hero에서는</a:t>
            </a:r>
            <a:r>
              <a:rPr lang="ko-KR" altLang="ko-KR" sz="1801" dirty="0">
                <a:highlight>
                  <a:srgbClr val="FFFF00"/>
                </a:highlight>
              </a:rPr>
              <a:t> 대표 프로그램을</a:t>
            </a:r>
            <a:endParaRPr lang="en-US" altLang="ko-KR" sz="1801" dirty="0">
              <a:highlight>
                <a:srgbClr val="FFFF00"/>
              </a:highlight>
            </a:endParaRPr>
          </a:p>
          <a:p>
            <a:r>
              <a:rPr lang="ko-KR" altLang="ko-KR" sz="1801" dirty="0">
                <a:highlight>
                  <a:srgbClr val="FFFF00"/>
                </a:highlight>
              </a:rPr>
              <a:t>집중적으로 보여주고, 그 아래의 프로그램</a:t>
            </a:r>
            <a:endParaRPr lang="en-US" altLang="ko-KR" sz="1801" dirty="0">
              <a:highlight>
                <a:srgbClr val="FFFF00"/>
              </a:highlight>
            </a:endParaRPr>
          </a:p>
          <a:p>
            <a:r>
              <a:rPr lang="ko-KR" altLang="ko-KR" sz="1801" dirty="0">
                <a:highlight>
                  <a:srgbClr val="FFFF00"/>
                </a:highlight>
              </a:rPr>
              <a:t>탐색 영역에서 사용자가 여러 </a:t>
            </a:r>
            <a:r>
              <a:rPr lang="ko-KR" altLang="ko-KR" sz="1801" dirty="0" err="1">
                <a:highlight>
                  <a:srgbClr val="FFFF00"/>
                </a:highlight>
              </a:rPr>
              <a:t>공연·전시·교육</a:t>
            </a:r>
            <a:endParaRPr lang="en-US" altLang="ko-KR" sz="1801" dirty="0">
              <a:highlight>
                <a:srgbClr val="FFFF00"/>
              </a:highlight>
            </a:endParaRPr>
          </a:p>
          <a:p>
            <a:r>
              <a:rPr lang="ko-KR" altLang="ko-KR" sz="1801" dirty="0">
                <a:highlight>
                  <a:srgbClr val="FFFF00"/>
                </a:highlight>
              </a:rPr>
              <a:t>콘텐츠를 비교하고 선택하도록 구성하는 방식을 검토할 수 </a:t>
            </a:r>
            <a:r>
              <a:rPr lang="ko-KR" altLang="ko-KR" sz="1801" dirty="0"/>
              <a:t>있다.</a:t>
            </a:r>
          </a:p>
          <a:p>
            <a:pPr>
              <a:buNone/>
            </a:pPr>
            <a:endParaRPr lang="ko-KR" altLang="ko-KR" sz="180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6B3898-CA5B-B03E-4611-3A4403451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11" y="5486885"/>
            <a:ext cx="5136907" cy="11369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462DDF-D8C4-80D8-63BB-F02D5AF38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21" y="4522509"/>
            <a:ext cx="6087671" cy="203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72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92BF-263A-5CF4-9808-848DFEA6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67942-800A-EA28-6465-6FDC9B13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B</a:t>
            </a:r>
            <a:r>
              <a:rPr lang="ko-KR" altLang="ko-KR" sz="2800" dirty="0"/>
              <a:t>. 서울아트마켓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074FDF0C-4122-F245-FD7D-D4D55C8FCE66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9CCAD-3CC1-5602-0BF6-F60674A67329}"/>
              </a:ext>
            </a:extLst>
          </p:cNvPr>
          <p:cNvSpPr txBox="1"/>
          <p:nvPr/>
        </p:nvSpPr>
        <p:spPr>
          <a:xfrm>
            <a:off x="41222" y="713681"/>
            <a:ext cx="4057499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1" i="1" dirty="0"/>
              <a:t>적용가능원리</a:t>
            </a:r>
            <a:r>
              <a:rPr lang="en-US" altLang="ko-KR" sz="1801" i="1" dirty="0"/>
              <a:t>?</a:t>
            </a:r>
            <a:endParaRPr lang="ko-KR" altLang="en-US" sz="180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AE564-CFCD-B542-49BF-770EEAABCF88}"/>
              </a:ext>
            </a:extLst>
          </p:cNvPr>
          <p:cNvSpPr txBox="1"/>
          <p:nvPr/>
        </p:nvSpPr>
        <p:spPr>
          <a:xfrm>
            <a:off x="69503" y="1248283"/>
            <a:ext cx="6265310" cy="203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b="1" dirty="0" err="1">
                <a:highlight>
                  <a:srgbClr val="FFFF00"/>
                </a:highlight>
              </a:rPr>
              <a:t>Hero에서는</a:t>
            </a:r>
            <a:r>
              <a:rPr lang="ko-KR" altLang="ko-KR" sz="1801" b="1" dirty="0">
                <a:highlight>
                  <a:srgbClr val="FFFF00"/>
                </a:highlight>
              </a:rPr>
              <a:t> 여러 콘텐츠를 동일한 수준으로 경쟁시키기보다 핵심 콘텐츠에 시각적 우선순위를 부여하고, 상세한 탐색은 별도의 영역에서 제공한다.</a:t>
            </a:r>
            <a:endParaRPr lang="ko-KR" altLang="ko-KR" sz="1801" dirty="0">
              <a:highlight>
                <a:srgbClr val="FFFF00"/>
              </a:highlight>
            </a:endParaRPr>
          </a:p>
          <a:p>
            <a:endParaRPr lang="en-US" altLang="ko-KR" sz="1801" dirty="0">
              <a:highlight>
                <a:srgbClr val="FFFF00"/>
              </a:highlight>
            </a:endParaRPr>
          </a:p>
          <a:p>
            <a:r>
              <a:rPr lang="ko-KR" altLang="ko-KR" sz="1801" dirty="0">
                <a:highlight>
                  <a:srgbClr val="FFFF00"/>
                </a:highlight>
              </a:rPr>
              <a:t>이를 통해</a:t>
            </a:r>
          </a:p>
          <a:p>
            <a:r>
              <a:rPr lang="ko-KR" altLang="ko-KR" sz="1801" b="1" dirty="0" err="1">
                <a:highlight>
                  <a:srgbClr val="FFFF00"/>
                </a:highlight>
              </a:rPr>
              <a:t>Hero</a:t>
            </a:r>
            <a:r>
              <a:rPr lang="ko-KR" altLang="ko-KR" sz="1801" b="1" dirty="0">
                <a:highlight>
                  <a:srgbClr val="FFFF00"/>
                </a:highlight>
              </a:rPr>
              <a:t> → 관심 → 프로그램 탐색 → 상세정보 → </a:t>
            </a:r>
            <a:r>
              <a:rPr lang="ko-KR" altLang="ko-KR" sz="1801" b="1" dirty="0" err="1">
                <a:highlight>
                  <a:srgbClr val="FFFF00"/>
                </a:highlight>
              </a:rPr>
              <a:t>예매·신청</a:t>
            </a:r>
            <a:endParaRPr lang="ko-KR" altLang="ko-KR" sz="1801" dirty="0">
              <a:highlight>
                <a:srgbClr val="FFFF00"/>
              </a:highlight>
            </a:endParaRPr>
          </a:p>
          <a:p>
            <a:r>
              <a:rPr lang="ko-KR" altLang="ko-KR" sz="1801" dirty="0">
                <a:highlight>
                  <a:srgbClr val="FFFF00"/>
                </a:highlight>
              </a:rPr>
              <a:t>과 같은 사용자 행동 흐름을 보다 명확하게 설계할 수 있다.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9AD4A-2967-2360-0BDC-7FDC6FD1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11" y="5486885"/>
            <a:ext cx="5136907" cy="11369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5236D2-F2EB-8E81-F63B-BA01874E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20" y="144914"/>
            <a:ext cx="5450398" cy="503388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715050-AA08-D4D9-50E1-DCECA2CB6E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978"/>
          <a:stretch>
            <a:fillRect/>
          </a:stretch>
        </p:blipFill>
        <p:spPr>
          <a:xfrm rot="1715015">
            <a:off x="4736391" y="5825572"/>
            <a:ext cx="541404" cy="5632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A8F3E5-596C-8F80-06B7-C1436596A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57" y="3429000"/>
            <a:ext cx="4697017" cy="30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73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3F40-7D2C-A7AA-C208-75B36E232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78EB4-F6DD-872F-470F-30DA2AD3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</a:t>
            </a:r>
            <a:r>
              <a:rPr lang="ko-KR" altLang="ko-KR" sz="2800" dirty="0"/>
              <a:t>. 강진군문화관광재단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169A148F-A884-FDB1-C185-54FB30EC7170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12AE9A-7FF8-D225-E32C-E060E3F520CD}"/>
              </a:ext>
            </a:extLst>
          </p:cNvPr>
          <p:cNvSpPr txBox="1"/>
          <p:nvPr/>
        </p:nvSpPr>
        <p:spPr>
          <a:xfrm>
            <a:off x="69500" y="713682"/>
            <a:ext cx="602650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b="1" dirty="0"/>
              <a:t>참고 요소:</a:t>
            </a:r>
            <a:r>
              <a:rPr lang="ko-KR" altLang="ko-KR" sz="1801" dirty="0"/>
              <a:t> 콘텐츠 흐름 및 섹션 기능</a:t>
            </a:r>
            <a:r>
              <a:rPr lang="en-US" altLang="ko-KR" sz="1801" dirty="0"/>
              <a:t> - </a:t>
            </a:r>
            <a:r>
              <a:rPr lang="ko-KR" altLang="ko-KR" sz="1801" dirty="0">
                <a:hlinkClick r:id="rId3"/>
              </a:rPr>
              <a:t>www.gangjin.or.kr</a:t>
            </a:r>
            <a:endParaRPr lang="ko-KR" altLang="en-US" sz="1801" dirty="0">
              <a:solidFill>
                <a:srgbClr val="FFAE0D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2E7331B-5677-3535-1182-5E71A56CEDC2}"/>
              </a:ext>
            </a:extLst>
          </p:cNvPr>
          <p:cNvSpPr txBox="1">
            <a:spLocks/>
          </p:cNvSpPr>
          <p:nvPr/>
        </p:nvSpPr>
        <p:spPr>
          <a:xfrm>
            <a:off x="144963" y="4685513"/>
            <a:ext cx="3982039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2800" dirty="0"/>
              <a:t>2. 어떤 문제와 연결되는가?</a:t>
            </a:r>
            <a:endParaRPr lang="ko-KR" altLang="en-US" sz="2800" dirty="0">
              <a:latin typeface="+mj-ea"/>
            </a:endParaRP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B21B7D40-6967-99EF-F2B0-1E630ED20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6656" y="4823809"/>
            <a:ext cx="2238375" cy="409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D6A290-A071-9454-2365-3E10C41B349A}"/>
              </a:ext>
            </a:extLst>
          </p:cNvPr>
          <p:cNvSpPr txBox="1"/>
          <p:nvPr/>
        </p:nvSpPr>
        <p:spPr>
          <a:xfrm>
            <a:off x="119797" y="5270550"/>
            <a:ext cx="5976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/>
              <a:t>강진군문화관광재단은 세종문화회관의 </a:t>
            </a:r>
            <a:r>
              <a:rPr lang="ko-KR" altLang="ko-KR" sz="1600" b="1" dirty="0">
                <a:solidFill>
                  <a:srgbClr val="ECCF20"/>
                </a:solidFill>
              </a:rPr>
              <a:t>① 콘텐츠가 많고 서로 다른 목적의 정보가 섞이는 문제</a:t>
            </a:r>
            <a:r>
              <a:rPr lang="ko-KR" altLang="ko-KR" sz="1600" dirty="0">
                <a:solidFill>
                  <a:srgbClr val="ECCF20"/>
                </a:solidFill>
              </a:rPr>
              <a:t>와 </a:t>
            </a:r>
            <a:r>
              <a:rPr lang="ko-KR" altLang="ko-KR" sz="1600" b="1" dirty="0">
                <a:solidFill>
                  <a:srgbClr val="ECCF20"/>
                </a:solidFill>
              </a:rPr>
              <a:t>② 서로 다른 사용자의 목적을 하나의 구조에서 해결해야 하는 문제</a:t>
            </a:r>
            <a:r>
              <a:rPr lang="ko-KR" altLang="ko-KR" sz="1600" dirty="0"/>
              <a:t>를 </a:t>
            </a:r>
            <a:r>
              <a:rPr lang="ko-KR" altLang="ko-KR" sz="1600" dirty="0">
                <a:highlight>
                  <a:srgbClr val="FFFF00"/>
                </a:highlight>
              </a:rPr>
              <a:t>검토하기 위한 레퍼런스로 활용할 수 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512CC2-0086-B4E3-0370-5FF3FE4C4220}"/>
              </a:ext>
            </a:extLst>
          </p:cNvPr>
          <p:cNvSpPr txBox="1"/>
          <p:nvPr/>
        </p:nvSpPr>
        <p:spPr>
          <a:xfrm>
            <a:off x="119797" y="6101548"/>
            <a:ext cx="59762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/>
              <a:t>확인한 화면에서는 추천, 예약, 소식, SNS, 교통안내 등 </a:t>
            </a:r>
            <a:r>
              <a:rPr lang="ko-KR" altLang="ko-KR" sz="1600" dirty="0">
                <a:highlight>
                  <a:srgbClr val="FFFF00"/>
                </a:highlight>
              </a:rPr>
              <a:t>서로 다른 기능을 각각의 </a:t>
            </a:r>
            <a:r>
              <a:rPr lang="ko-KR" altLang="ko-KR" sz="1600" dirty="0" err="1">
                <a:highlight>
                  <a:srgbClr val="FFFF00"/>
                </a:highlight>
              </a:rPr>
              <a:t>섹션으로</a:t>
            </a:r>
            <a:r>
              <a:rPr lang="ko-KR" altLang="ko-KR" sz="1600" dirty="0">
                <a:highlight>
                  <a:srgbClr val="FFFF00"/>
                </a:highlight>
              </a:rPr>
              <a:t> 구분하여 제공하고 있다.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4809A2-3A16-60AA-250C-A516710FB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96" y="1117178"/>
            <a:ext cx="7462848" cy="35683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4CA1D4-501C-FABA-01AE-2CDD72F0D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159" y="1083013"/>
            <a:ext cx="3900144" cy="20485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E74E852-2450-0B3F-1CB3-BE9807F9B7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6207" y="3194199"/>
            <a:ext cx="3802096" cy="2006238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AC0AE838-DE37-1583-8B2D-B37FA6A3C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8742" y="5774990"/>
            <a:ext cx="5171401" cy="7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30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AE12-06C6-D9E8-6748-56F804A2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C826B-9AA8-A566-9D48-11507F96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</a:t>
            </a:r>
            <a:r>
              <a:rPr lang="ko-KR" altLang="ko-KR" sz="2800" dirty="0"/>
              <a:t>. 강진군문화관광재단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0827F8E5-C200-3694-5061-64139F1988C1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38DDB-1FC0-9BAA-8C60-A456E48A72AC}"/>
              </a:ext>
            </a:extLst>
          </p:cNvPr>
          <p:cNvSpPr txBox="1"/>
          <p:nvPr/>
        </p:nvSpPr>
        <p:spPr>
          <a:xfrm>
            <a:off x="41222" y="713682"/>
            <a:ext cx="4057499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i="1" dirty="0"/>
              <a:t>레퍼런스에서는 어떻게 해결하고 있는가</a:t>
            </a:r>
            <a:r>
              <a:rPr lang="en-US" altLang="ko-KR" sz="1801" i="1" dirty="0"/>
              <a:t>?</a:t>
            </a:r>
            <a:endParaRPr lang="ko-KR" altLang="en-US" sz="1801" i="1" dirty="0">
              <a:solidFill>
                <a:srgbClr val="FFAE0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E0390-79B8-3B2E-80BF-3A0336C3D9B6}"/>
              </a:ext>
            </a:extLst>
          </p:cNvPr>
          <p:cNvSpPr txBox="1"/>
          <p:nvPr/>
        </p:nvSpPr>
        <p:spPr>
          <a:xfrm>
            <a:off x="86419" y="1257709"/>
            <a:ext cx="6354866" cy="3361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801" dirty="0">
                <a:highlight>
                  <a:srgbClr val="FFFF00"/>
                </a:highlight>
              </a:rPr>
              <a:t>각 섹션이 서로 다른 정보와 사용자 행동을 담당</a:t>
            </a:r>
            <a:r>
              <a:rPr lang="ko-KR" altLang="ko-KR" sz="1801" dirty="0"/>
              <a:t>하도록 구성되어 있다는 점이 주요 참고 요소이다.</a:t>
            </a:r>
          </a:p>
          <a:p>
            <a:pPr>
              <a:lnSpc>
                <a:spcPct val="150000"/>
              </a:lnSpc>
            </a:pPr>
            <a:r>
              <a:rPr lang="ko-KR" altLang="ko-KR" sz="1801" dirty="0"/>
              <a:t>예를 들어 </a:t>
            </a:r>
            <a:r>
              <a:rPr lang="ko-KR" altLang="ko-KR" sz="1801" dirty="0">
                <a:highlight>
                  <a:srgbClr val="FFFF00"/>
                </a:highlight>
              </a:rPr>
              <a:t>추천 콘텐츠는 사용자의 발견을 지원하고, 예약 관련 영역은 실제 행동으로 연결하며, 소식과 </a:t>
            </a:r>
            <a:r>
              <a:rPr lang="ko-KR" altLang="ko-KR" sz="1801" dirty="0" err="1">
                <a:highlight>
                  <a:srgbClr val="FFFF00"/>
                </a:highlight>
              </a:rPr>
              <a:t>SNS는</a:t>
            </a:r>
            <a:r>
              <a:rPr lang="ko-KR" altLang="ko-KR" sz="1801" dirty="0">
                <a:highlight>
                  <a:srgbClr val="FFFF00"/>
                </a:highlight>
              </a:rPr>
              <a:t> 지속적인 관심과 재방문을 유도하는 역할을 할 수 있다.</a:t>
            </a:r>
          </a:p>
          <a:p>
            <a:pPr>
              <a:lnSpc>
                <a:spcPct val="150000"/>
              </a:lnSpc>
            </a:pPr>
            <a:r>
              <a:rPr lang="ko-KR" altLang="ko-KR" sz="1801" dirty="0"/>
              <a:t>따라서 각 섹션을 단순한 콘텐츠 묶음으로 구성하는 것이 아니라 </a:t>
            </a:r>
            <a:r>
              <a:rPr lang="ko-KR" altLang="ko-KR" sz="1801" b="1" dirty="0">
                <a:highlight>
                  <a:srgbClr val="FFFF00"/>
                </a:highlight>
              </a:rPr>
              <a:t>각 영역이 어떤 사용자 행동을 지원하는지에 따라 기능적 역할을 부여하는 방식</a:t>
            </a:r>
            <a:r>
              <a:rPr lang="ko-KR" altLang="ko-KR" sz="1801" dirty="0">
                <a:highlight>
                  <a:srgbClr val="FFFF00"/>
                </a:highlight>
              </a:rPr>
              <a:t>을 참고할 수 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641A2-74CF-E153-4EB3-76F2E6A1DEE7}"/>
              </a:ext>
            </a:extLst>
          </p:cNvPr>
          <p:cNvSpPr txBox="1"/>
          <p:nvPr/>
        </p:nvSpPr>
        <p:spPr>
          <a:xfrm>
            <a:off x="6424367" y="713681"/>
            <a:ext cx="6099141" cy="508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1" b="1" i="1" dirty="0"/>
              <a:t>세종문화회관에 적용할 수 있는가</a:t>
            </a:r>
            <a:r>
              <a:rPr lang="en-US" altLang="ko-KR" sz="1801" b="1" i="1" dirty="0"/>
              <a:t>?</a:t>
            </a:r>
            <a:endParaRPr lang="ko-KR" altLang="ko-KR" sz="1801" b="1" i="1" dirty="0"/>
          </a:p>
          <a:p>
            <a:pPr>
              <a:buNone/>
            </a:pPr>
            <a:endParaRPr lang="en-US" altLang="ko-KR" sz="1801" dirty="0"/>
          </a:p>
          <a:p>
            <a:r>
              <a:rPr lang="ko-KR" altLang="ko-KR" sz="1801" dirty="0"/>
              <a:t>세종문화회관에 적용할 수 있는 것은</a:t>
            </a:r>
            <a:endParaRPr lang="en-US" altLang="ko-KR" sz="1801" dirty="0"/>
          </a:p>
          <a:p>
            <a:r>
              <a:rPr lang="ko-KR" altLang="ko-KR" sz="1801" dirty="0"/>
              <a:t>개별 섹션의 디자인이나 기능을 그대로</a:t>
            </a:r>
            <a:endParaRPr lang="en-US" altLang="ko-KR" sz="1801" dirty="0"/>
          </a:p>
          <a:p>
            <a:r>
              <a:rPr lang="ko-KR" altLang="ko-KR" sz="1801" dirty="0"/>
              <a:t>가져오는 것이 아니라 </a:t>
            </a:r>
            <a:r>
              <a:rPr lang="ko-KR" altLang="ko-KR" sz="1801" b="1" dirty="0">
                <a:highlight>
                  <a:srgbClr val="FFFF00"/>
                </a:highlight>
              </a:rPr>
              <a:t>각 섹션에 명확한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r>
              <a:rPr lang="ko-KR" altLang="ko-KR" sz="1801" b="1" dirty="0">
                <a:highlight>
                  <a:srgbClr val="FFFF00"/>
                </a:highlight>
              </a:rPr>
              <a:t>목적을 부여하는 방식</a:t>
            </a:r>
            <a:r>
              <a:rPr lang="ko-KR" altLang="ko-KR" sz="1801" dirty="0">
                <a:highlight>
                  <a:srgbClr val="FFFF00"/>
                </a:highlight>
              </a:rPr>
              <a:t>이다.</a:t>
            </a:r>
          </a:p>
          <a:p>
            <a:r>
              <a:rPr lang="ko-KR" altLang="ko-KR" sz="1801" dirty="0"/>
              <a:t>세종문화회관 역시 프로그램 탐색,</a:t>
            </a:r>
            <a:endParaRPr lang="en-US" altLang="ko-KR" sz="1801" dirty="0"/>
          </a:p>
          <a:p>
            <a:r>
              <a:rPr lang="ko-KR" altLang="ko-KR" sz="1801" dirty="0" err="1"/>
              <a:t>예매·신청</a:t>
            </a:r>
            <a:r>
              <a:rPr lang="ko-KR" altLang="ko-KR" sz="1801" dirty="0"/>
              <a:t>, 대관, 이용정보, 소식 및 이벤트</a:t>
            </a:r>
            <a:endParaRPr lang="en-US" altLang="ko-KR" sz="1801" dirty="0"/>
          </a:p>
          <a:p>
            <a:r>
              <a:rPr lang="ko-KR" altLang="ko-KR" sz="1801" dirty="0"/>
              <a:t>등 </a:t>
            </a:r>
            <a:r>
              <a:rPr lang="ko-KR" altLang="ko-KR" sz="1801" dirty="0">
                <a:highlight>
                  <a:srgbClr val="FFFF00"/>
                </a:highlight>
              </a:rPr>
              <a:t>서로 다른 사용자 행동을 지원해야 한다.</a:t>
            </a:r>
          </a:p>
          <a:p>
            <a:r>
              <a:rPr lang="ko-KR" altLang="ko-KR" sz="1801" dirty="0"/>
              <a:t>따라서 리뉴얼 과정에서 각 섹션을 설계할</a:t>
            </a:r>
            <a:r>
              <a:rPr lang="en-US" altLang="ko-KR" sz="1801" dirty="0"/>
              <a:t> </a:t>
            </a:r>
            <a:r>
              <a:rPr lang="ko-KR" altLang="ko-KR" sz="1801" dirty="0"/>
              <a:t>때</a:t>
            </a:r>
            <a:endParaRPr lang="en-US" altLang="ko-KR" sz="1801" dirty="0"/>
          </a:p>
          <a:p>
            <a:r>
              <a:rPr lang="ko-KR" altLang="ko-KR" sz="1801" dirty="0"/>
              <a:t>단순히 “어떤 콘텐츠를 넣을 </a:t>
            </a:r>
            <a:r>
              <a:rPr lang="ko-KR" altLang="ko-KR" sz="1801" dirty="0" err="1"/>
              <a:t>것인가”보다</a:t>
            </a:r>
            <a:endParaRPr lang="en-US" altLang="ko-KR" sz="1801" dirty="0"/>
          </a:p>
          <a:p>
            <a:r>
              <a:rPr lang="ko-KR" altLang="ko-KR" sz="1801" b="1" dirty="0">
                <a:highlight>
                  <a:srgbClr val="FFFF00"/>
                </a:highlight>
              </a:rPr>
              <a:t>“이 섹션에서 사용자가 무엇을 하게 할 것인가”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r>
              <a:rPr lang="ko-KR" altLang="ko-KR" sz="1801" dirty="0" err="1">
                <a:highlight>
                  <a:srgbClr val="FFFF00"/>
                </a:highlight>
              </a:rPr>
              <a:t>를</a:t>
            </a:r>
            <a:r>
              <a:rPr lang="ko-KR" altLang="ko-KR" sz="1801" dirty="0">
                <a:highlight>
                  <a:srgbClr val="FFFF00"/>
                </a:highlight>
              </a:rPr>
              <a:t> 먼저 결정하는 것이 중요하다.</a:t>
            </a:r>
            <a:endParaRPr lang="en-US" altLang="ko-KR" sz="1801" dirty="0">
              <a:highlight>
                <a:srgbClr val="FFFF00"/>
              </a:highlight>
            </a:endParaRPr>
          </a:p>
          <a:p>
            <a:endParaRPr lang="en-US" altLang="ko-KR" sz="1801" dirty="0">
              <a:highlight>
                <a:srgbClr val="FFFF00"/>
              </a:highlight>
            </a:endParaRPr>
          </a:p>
          <a:p>
            <a:r>
              <a:rPr lang="ko-KR" altLang="ko-KR" sz="1801" b="1" i="1" dirty="0"/>
              <a:t>적용가능원리</a:t>
            </a:r>
            <a:r>
              <a:rPr lang="en-US" altLang="ko-KR" sz="1801" b="1" i="1" dirty="0"/>
              <a:t>?</a:t>
            </a:r>
            <a:endParaRPr lang="ko-KR" altLang="ko-KR" sz="1801" b="1" i="1" dirty="0"/>
          </a:p>
          <a:p>
            <a:r>
              <a:rPr lang="ko-KR" altLang="ko-KR" sz="1801" b="1" dirty="0">
                <a:highlight>
                  <a:srgbClr val="FFFF00"/>
                </a:highlight>
              </a:rPr>
              <a:t>각 섹션에 명확한 사용자 목적과 행동을 부여하고,</a:t>
            </a:r>
            <a:endParaRPr lang="en-US" altLang="ko-KR" sz="1801" b="1" dirty="0">
              <a:highlight>
                <a:srgbClr val="FFFF00"/>
              </a:highlight>
            </a:endParaRPr>
          </a:p>
          <a:p>
            <a:r>
              <a:rPr lang="ko-KR" altLang="ko-KR" sz="1801" b="1" dirty="0">
                <a:highlight>
                  <a:srgbClr val="FFFF00"/>
                </a:highlight>
              </a:rPr>
              <a:t>서로 다른 목적의 콘텐츠를 기능적으로 구분한다.</a:t>
            </a:r>
            <a:endParaRPr lang="ko-KR" altLang="ko-KR" sz="1801" dirty="0">
              <a:highlight>
                <a:srgbClr val="FFFF00"/>
              </a:highlight>
            </a:endParaRPr>
          </a:p>
          <a:p>
            <a:pPr>
              <a:buNone/>
            </a:pPr>
            <a:endParaRPr lang="ko-KR" altLang="ko-KR" sz="1801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5D6B1279-475C-8E04-CC21-3419E4C99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08742" y="5774990"/>
            <a:ext cx="5171401" cy="7498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87820C-52C3-B1C8-B1B0-770692D66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59" y="4735543"/>
            <a:ext cx="3384885" cy="17893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A8C3B77-3CE4-8C9C-38AB-2F213AF9A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228" y="4321779"/>
            <a:ext cx="2431772" cy="239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23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1CBAB-6C7E-54A9-708D-5A5AEA8F1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6A510-1CEF-86DF-09B9-5AE1E3A5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555" y="2766220"/>
            <a:ext cx="1678894" cy="1325563"/>
          </a:xfrm>
        </p:spPr>
        <p:txBody>
          <a:bodyPr>
            <a:noAutofit/>
          </a:bodyPr>
          <a:lstStyle/>
          <a:p>
            <a:r>
              <a:rPr lang="ko-KR" altLang="en-US" sz="5001" spc="6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정리</a:t>
            </a:r>
          </a:p>
        </p:txBody>
      </p:sp>
    </p:spTree>
    <p:extLst>
      <p:ext uri="{BB962C8B-B14F-4D97-AF65-F5344CB8AC3E}">
        <p14:creationId xmlns:p14="http://schemas.microsoft.com/office/powerpoint/2010/main" val="2925240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D012-505B-EBD5-2EE3-94A1165B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A0212-9ACD-F0AC-FED2-BE8AB38C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2. </a:t>
            </a:r>
            <a:r>
              <a:rPr lang="ko-KR" altLang="ko-KR" sz="2800" dirty="0"/>
              <a:t>세 레퍼런스의 종합 분석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A2760FB8-96D5-1767-99BE-EFEBAAA51D5C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B7B17-C16D-CA98-C9E5-CAECA97AC7A4}"/>
              </a:ext>
            </a:extLst>
          </p:cNvPr>
          <p:cNvSpPr txBox="1"/>
          <p:nvPr/>
        </p:nvSpPr>
        <p:spPr>
          <a:xfrm>
            <a:off x="41220" y="713682"/>
            <a:ext cx="622760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i="1" dirty="0"/>
              <a:t>세 레퍼런스는 각각 서로 다른 문제에 대한 해결 방향을 제시한다.</a:t>
            </a:r>
            <a:endParaRPr lang="ko-KR" altLang="en-US" sz="1801" i="1" dirty="0">
              <a:solidFill>
                <a:srgbClr val="FFAE0D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DF26A1-232F-315A-F13F-1ACD0B639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586127"/>
              </p:ext>
            </p:extLst>
          </p:nvPr>
        </p:nvGraphicFramePr>
        <p:xfrm>
          <a:off x="168359" y="1190652"/>
          <a:ext cx="11502030" cy="1036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5508">
                  <a:extLst>
                    <a:ext uri="{9D8B030D-6E8A-4147-A177-3AD203B41FA5}">
                      <a16:colId xmlns:a16="http://schemas.microsoft.com/office/drawing/2014/main" val="2340241125"/>
                    </a:ext>
                  </a:extLst>
                </a:gridCol>
                <a:gridCol w="2875508">
                  <a:extLst>
                    <a:ext uri="{9D8B030D-6E8A-4147-A177-3AD203B41FA5}">
                      <a16:colId xmlns:a16="http://schemas.microsoft.com/office/drawing/2014/main" val="732482727"/>
                    </a:ext>
                  </a:extLst>
                </a:gridCol>
                <a:gridCol w="2337979">
                  <a:extLst>
                    <a:ext uri="{9D8B030D-6E8A-4147-A177-3AD203B41FA5}">
                      <a16:colId xmlns:a16="http://schemas.microsoft.com/office/drawing/2014/main" val="831649257"/>
                    </a:ext>
                  </a:extLst>
                </a:gridCol>
                <a:gridCol w="3413035">
                  <a:extLst>
                    <a:ext uri="{9D8B030D-6E8A-4147-A177-3AD203B41FA5}">
                      <a16:colId xmlns:a16="http://schemas.microsoft.com/office/drawing/2014/main" val="1065992266"/>
                    </a:ext>
                  </a:extLst>
                </a:gridCol>
              </a:tblGrid>
              <a:tr h="254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레퍼런스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주요 참고 요소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연결되는 기존 문제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적용할 핵심 원리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421150"/>
                  </a:ext>
                </a:extLst>
              </a:tr>
              <a:tr h="254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모두예술극장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콘텐츠 </a:t>
                      </a:r>
                      <a:r>
                        <a:rPr lang="ko-KR" sz="1100" dirty="0" err="1"/>
                        <a:t>흐름·정보구조</a:t>
                      </a:r>
                      <a:endParaRPr lang="ko-KR" sz="1100" dirty="0"/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①, ②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사용자 목적과 콘텐츠 역할에 따른 정보 구분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255321"/>
                  </a:ext>
                </a:extLst>
              </a:tr>
              <a:tr h="254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서울아트마켓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 err="1"/>
                        <a:t>Hero·레이아웃</a:t>
                      </a:r>
                      <a:endParaRPr lang="ko-KR" sz="1100" dirty="0"/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③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핵심 콘텐츠에 시각적 우선순위 부여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445082"/>
                  </a:ext>
                </a:extLst>
              </a:tr>
              <a:tr h="254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강진군문화관광재단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섹션 </a:t>
                      </a:r>
                      <a:r>
                        <a:rPr lang="ko-KR" sz="1100" dirty="0" err="1"/>
                        <a:t>기능·콘텐츠</a:t>
                      </a:r>
                      <a:r>
                        <a:rPr lang="ko-KR" sz="1100" dirty="0"/>
                        <a:t> 흐름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①, ②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섹션별 사용자 행동과 기능 명확화</a:t>
                      </a:r>
                    </a:p>
                  </a:txBody>
                  <a:tcPr marT="45721" marB="45721" anchor="ctr">
                    <a:solidFill>
                      <a:srgbClr val="F6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460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113038-14C3-DFD7-EF9E-FF87A42B0717}"/>
              </a:ext>
            </a:extLst>
          </p:cNvPr>
          <p:cNvSpPr txBox="1"/>
          <p:nvPr/>
        </p:nvSpPr>
        <p:spPr>
          <a:xfrm>
            <a:off x="41220" y="3000337"/>
            <a:ext cx="10199803" cy="266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801" dirty="0"/>
              <a:t>따라서 세 레퍼런스의 공통점은 </a:t>
            </a:r>
            <a:r>
              <a:rPr lang="ko-KR" altLang="ko-KR" sz="1801" dirty="0">
                <a:highlight>
                  <a:srgbClr val="FFFF00"/>
                </a:highlight>
              </a:rPr>
              <a:t>단순히 콘텐츠를 많이 보여주는 것이 아니라</a:t>
            </a:r>
            <a:r>
              <a:rPr lang="en-US" altLang="ko-KR" sz="1801" dirty="0">
                <a:highlight>
                  <a:srgbClr val="FFFF00"/>
                </a:highlight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801" b="1" dirty="0">
                <a:highlight>
                  <a:srgbClr val="FFFF00"/>
                </a:highlight>
              </a:rPr>
              <a:t>콘텐츠의 우선순위와 역할을 구분하여 사용자의 행동을 유도한다는 점</a:t>
            </a:r>
            <a:r>
              <a:rPr lang="ko-KR" altLang="ko-KR" sz="1801" dirty="0"/>
              <a:t>에 있다.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801" dirty="0"/>
              <a:t>세종문화회관의 </a:t>
            </a:r>
            <a:r>
              <a:rPr lang="ko-KR" altLang="ko-KR" sz="1801" dirty="0" err="1">
                <a:solidFill>
                  <a:srgbClr val="ECCF20"/>
                </a:solidFill>
              </a:rPr>
              <a:t>리뉴얼에서도</a:t>
            </a:r>
            <a:r>
              <a:rPr lang="ko-KR" altLang="ko-KR" sz="1801" dirty="0">
                <a:solidFill>
                  <a:srgbClr val="ECCF20"/>
                </a:solidFill>
              </a:rPr>
              <a:t> 이러한 원리를 활용하여</a:t>
            </a:r>
            <a:endParaRPr lang="en-US" altLang="ko-KR" sz="1801" dirty="0">
              <a:solidFill>
                <a:srgbClr val="ECCF2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801" dirty="0">
                <a:solidFill>
                  <a:srgbClr val="ECCF20"/>
                </a:solidFill>
              </a:rPr>
              <a:t>기존의 다양한 콘텐츠를 무조건 삭제하기보다,</a:t>
            </a:r>
            <a:endParaRPr lang="en-US" altLang="ko-KR" sz="1801" dirty="0">
              <a:solidFill>
                <a:srgbClr val="ECCF2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2400" i="1" dirty="0">
                <a:highlight>
                  <a:srgbClr val="FFFF00"/>
                </a:highlight>
              </a:rPr>
              <a:t>사용자 목적 → 정보 우선순위 → 콘텐츠 배치 → CTA</a:t>
            </a:r>
            <a:endParaRPr lang="en-US" altLang="ko-KR" sz="24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801" dirty="0">
                <a:highlight>
                  <a:srgbClr val="FFFF00"/>
                </a:highlight>
              </a:rPr>
              <a:t>의 관계를 명확하게 만드는 방향으로 개선할 필요가 있다.</a:t>
            </a:r>
          </a:p>
        </p:txBody>
      </p:sp>
    </p:spTree>
    <p:extLst>
      <p:ext uri="{BB962C8B-B14F-4D97-AF65-F5344CB8AC3E}">
        <p14:creationId xmlns:p14="http://schemas.microsoft.com/office/powerpoint/2010/main" val="2478060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824A-78B6-B97B-953B-423319BD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1648A-C93B-8DCD-9933-B70AFA41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3. </a:t>
            </a:r>
            <a:r>
              <a:rPr lang="ko-KR" altLang="ko-KR" sz="2800" dirty="0"/>
              <a:t>최종적으로 참고할 방향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EB084771-411E-7B3D-3266-247C245A2DEE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27F44-2551-2D90-B7B6-06CE4C09DB97}"/>
              </a:ext>
            </a:extLst>
          </p:cNvPr>
          <p:cNvSpPr txBox="1"/>
          <p:nvPr/>
        </p:nvSpPr>
        <p:spPr>
          <a:xfrm>
            <a:off x="41220" y="713682"/>
            <a:ext cx="622760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1" i="1" dirty="0"/>
              <a:t>세 레퍼런스는 각각 서로 다른 문제에 대한 해결 방향을 제시한다.</a:t>
            </a:r>
            <a:endParaRPr lang="ko-KR" altLang="en-US" sz="1801" i="1" dirty="0">
              <a:solidFill>
                <a:srgbClr val="FFAE0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C60C5-7583-AB66-F447-99DE359224B7}"/>
              </a:ext>
            </a:extLst>
          </p:cNvPr>
          <p:cNvSpPr txBox="1"/>
          <p:nvPr/>
        </p:nvSpPr>
        <p:spPr>
          <a:xfrm>
            <a:off x="41222" y="1248283"/>
            <a:ext cx="10608667" cy="5050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1" b="1" dirty="0"/>
              <a:t>5. 최종적으로 참고할 방향</a:t>
            </a:r>
          </a:p>
          <a:p>
            <a:pPr>
              <a:buNone/>
            </a:pPr>
            <a:r>
              <a:rPr lang="ko-KR" altLang="ko-KR" sz="1401" dirty="0"/>
              <a:t>이번 레퍼런스 조사를 통해 세종문화회관에 적용할 수 있는 핵심 방향은 다음과 같이 정리할 수 있다.</a:t>
            </a:r>
          </a:p>
          <a:p>
            <a:pPr>
              <a:buNone/>
            </a:pPr>
            <a:endParaRPr lang="en-US" altLang="ko-KR" sz="1401" b="1" dirty="0"/>
          </a:p>
          <a:p>
            <a:pPr>
              <a:buNone/>
            </a:pPr>
            <a:r>
              <a:rPr lang="ko-KR" altLang="ko-KR" sz="1801" b="1" dirty="0"/>
              <a:t>① 정보의 양보다 </a:t>
            </a:r>
            <a:r>
              <a:rPr lang="ko-KR" altLang="ko-KR" sz="1801" b="1" dirty="0">
                <a:highlight>
                  <a:srgbClr val="FFFF00"/>
                </a:highlight>
              </a:rPr>
              <a:t>정보의 구조를 개선한다</a:t>
            </a:r>
          </a:p>
          <a:p>
            <a:pPr>
              <a:buNone/>
            </a:pPr>
            <a:r>
              <a:rPr lang="ko-KR" altLang="ko-KR" sz="1401" dirty="0"/>
              <a:t>세종문화회관은 다양한 문화예술 콘텐츠와 서비스를 제공하기</a:t>
            </a:r>
            <a:endParaRPr lang="en-US" altLang="ko-KR" sz="1401" dirty="0"/>
          </a:p>
          <a:p>
            <a:pPr>
              <a:buNone/>
            </a:pPr>
            <a:r>
              <a:rPr lang="ko-KR" altLang="ko-KR" sz="1401" dirty="0"/>
              <a:t>때문에 콘텐츠를 무조건 줄이는 것은 적절하지 않다.</a:t>
            </a:r>
          </a:p>
          <a:p>
            <a:pPr>
              <a:buNone/>
            </a:pPr>
            <a:r>
              <a:rPr lang="ko-KR" altLang="ko-KR" sz="1401" dirty="0">
                <a:highlight>
                  <a:srgbClr val="FFAE0D"/>
                </a:highlight>
              </a:rPr>
              <a:t>대신 </a:t>
            </a:r>
            <a:r>
              <a:rPr lang="ko-KR" altLang="ko-KR" sz="1401" b="1" dirty="0">
                <a:highlight>
                  <a:srgbClr val="FFAE0D"/>
                </a:highlight>
              </a:rPr>
              <a:t>사용자 목적과 콘텐츠의 성격에 따라 정보를 구분하고 우선순위를 재설정</a:t>
            </a:r>
            <a:r>
              <a:rPr lang="ko-KR" altLang="ko-KR" sz="1401" dirty="0">
                <a:highlight>
                  <a:srgbClr val="FFAE0D"/>
                </a:highlight>
              </a:rPr>
              <a:t>할 필요가 있다.</a:t>
            </a:r>
          </a:p>
          <a:p>
            <a:pPr>
              <a:buNone/>
            </a:pPr>
            <a:endParaRPr lang="en-US" altLang="ko-KR" sz="1801" b="1" dirty="0"/>
          </a:p>
          <a:p>
            <a:pPr>
              <a:buNone/>
            </a:pPr>
            <a:r>
              <a:rPr lang="ko-KR" altLang="ko-KR" sz="1801" b="1" dirty="0"/>
              <a:t>② </a:t>
            </a:r>
            <a:r>
              <a:rPr lang="ko-KR" altLang="ko-KR" sz="1801" b="1" dirty="0" err="1">
                <a:highlight>
                  <a:srgbClr val="FFFF00"/>
                </a:highlight>
              </a:rPr>
              <a:t>Hero의</a:t>
            </a:r>
            <a:r>
              <a:rPr lang="ko-KR" altLang="ko-KR" sz="1801" b="1" dirty="0">
                <a:highlight>
                  <a:srgbClr val="FFFF00"/>
                </a:highlight>
              </a:rPr>
              <a:t> 역할을 명확하게 한다</a:t>
            </a:r>
          </a:p>
          <a:p>
            <a:pPr>
              <a:buNone/>
            </a:pPr>
            <a:r>
              <a:rPr lang="ko-KR" altLang="ko-KR" sz="1401" dirty="0" err="1"/>
              <a:t>Hero에서</a:t>
            </a:r>
            <a:r>
              <a:rPr lang="ko-KR" altLang="ko-KR" sz="1401" dirty="0"/>
              <a:t> 여러 프로그램을 동시에 강조하기보다</a:t>
            </a:r>
            <a:endParaRPr lang="en-US" altLang="ko-KR" sz="1401" dirty="0"/>
          </a:p>
          <a:p>
            <a:pPr>
              <a:buNone/>
            </a:pPr>
            <a:r>
              <a:rPr lang="ko-KR" altLang="ko-KR" sz="1401" b="1" dirty="0">
                <a:highlight>
                  <a:srgbClr val="FFAE0D"/>
                </a:highlight>
              </a:rPr>
              <a:t>가장 우선적으로 전달할 콘텐츠를 집중적으로 보여주는 </a:t>
            </a:r>
            <a:r>
              <a:rPr lang="ko-KR" altLang="ko-KR" sz="1401" b="1" dirty="0"/>
              <a:t>방식</a:t>
            </a:r>
            <a:r>
              <a:rPr lang="ko-KR" altLang="ko-KR" sz="1401" dirty="0"/>
              <a:t>을 검토한다.</a:t>
            </a:r>
          </a:p>
          <a:p>
            <a:pPr>
              <a:buNone/>
            </a:pPr>
            <a:r>
              <a:rPr lang="ko-KR" altLang="ko-KR" sz="1401" dirty="0">
                <a:highlight>
                  <a:srgbClr val="FFAE0D"/>
                </a:highlight>
              </a:rPr>
              <a:t>다양한 프로그램은 별도의 탐색 영역에서 </a:t>
            </a:r>
            <a:r>
              <a:rPr lang="ko-KR" altLang="ko-KR" sz="1401" dirty="0"/>
              <a:t>사용자가 비교하고 선택할 수 있도록 구성한다.</a:t>
            </a:r>
          </a:p>
          <a:p>
            <a:pPr>
              <a:buNone/>
            </a:pPr>
            <a:endParaRPr lang="en-US" altLang="ko-KR" sz="1801" b="1" dirty="0"/>
          </a:p>
          <a:p>
            <a:pPr>
              <a:buNone/>
            </a:pPr>
            <a:r>
              <a:rPr lang="ko-KR" altLang="ko-KR" sz="1801" b="1" dirty="0"/>
              <a:t>③ </a:t>
            </a:r>
            <a:r>
              <a:rPr lang="ko-KR" altLang="ko-KR" sz="1801" b="1" dirty="0">
                <a:highlight>
                  <a:srgbClr val="FFFF00"/>
                </a:highlight>
              </a:rPr>
              <a:t>섹션마다 사용자 행동을 명확</a:t>
            </a:r>
            <a:r>
              <a:rPr lang="ko-KR" altLang="ko-KR" sz="1801" b="1" dirty="0"/>
              <a:t>하게 한다</a:t>
            </a:r>
          </a:p>
          <a:p>
            <a:pPr>
              <a:buNone/>
            </a:pPr>
            <a:r>
              <a:rPr lang="ko-KR" altLang="ko-KR" sz="1401" dirty="0"/>
              <a:t>각 </a:t>
            </a:r>
            <a:r>
              <a:rPr lang="ko-KR" altLang="ko-KR" sz="1401" dirty="0">
                <a:highlight>
                  <a:srgbClr val="FFAE0D"/>
                </a:highlight>
              </a:rPr>
              <a:t>섹션을</a:t>
            </a:r>
            <a:r>
              <a:rPr lang="ko-KR" altLang="ko-KR" sz="1401" dirty="0"/>
              <a:t> 단순한 콘텐츠 모음으로 구성하기보다,</a:t>
            </a:r>
          </a:p>
          <a:p>
            <a:pPr>
              <a:buNone/>
            </a:pPr>
            <a:r>
              <a:rPr lang="ko-KR" altLang="ko-KR" sz="1401" b="1" dirty="0"/>
              <a:t>발견 → 탐색 → 정보 확인 → </a:t>
            </a:r>
            <a:r>
              <a:rPr lang="ko-KR" altLang="ko-KR" sz="1401" b="1" dirty="0" err="1"/>
              <a:t>예매·신청</a:t>
            </a:r>
            <a:r>
              <a:rPr lang="ko-KR" altLang="ko-KR" sz="1401" b="1" dirty="0"/>
              <a:t> → 이용 → 재방문</a:t>
            </a:r>
            <a:endParaRPr lang="ko-KR" altLang="ko-KR" sz="1401" dirty="0"/>
          </a:p>
          <a:p>
            <a:pPr>
              <a:buNone/>
            </a:pPr>
            <a:r>
              <a:rPr lang="ko-KR" altLang="ko-KR" sz="1401" dirty="0"/>
              <a:t>이라는 </a:t>
            </a:r>
            <a:r>
              <a:rPr lang="ko-KR" altLang="ko-KR" sz="1401" dirty="0">
                <a:highlight>
                  <a:srgbClr val="FFAE0D"/>
                </a:highlight>
              </a:rPr>
              <a:t>사용자 행동 흐름과 연결하여 설계한다.</a:t>
            </a:r>
          </a:p>
          <a:p>
            <a:pPr>
              <a:buNone/>
            </a:pPr>
            <a:endParaRPr lang="en-US" altLang="ko-KR" sz="1801" b="1" dirty="0"/>
          </a:p>
          <a:p>
            <a:pPr>
              <a:buNone/>
            </a:pPr>
            <a:r>
              <a:rPr lang="ko-KR" altLang="ko-KR" sz="1801" b="1" dirty="0"/>
              <a:t>④ 사용자 </a:t>
            </a:r>
            <a:r>
              <a:rPr lang="ko-KR" altLang="ko-KR" sz="1801" b="1" dirty="0">
                <a:highlight>
                  <a:srgbClr val="FFFF00"/>
                </a:highlight>
              </a:rPr>
              <a:t>목적에 따른 경로를 명확하게</a:t>
            </a:r>
            <a:r>
              <a:rPr lang="ko-KR" altLang="ko-KR" sz="1801" b="1" dirty="0"/>
              <a:t> 한다</a:t>
            </a:r>
          </a:p>
          <a:p>
            <a:pPr>
              <a:buNone/>
            </a:pPr>
            <a:r>
              <a:rPr lang="ko-KR" altLang="ko-KR" sz="1401" dirty="0"/>
              <a:t>일반 관람객의 </a:t>
            </a:r>
            <a:r>
              <a:rPr lang="ko-KR" altLang="ko-KR" sz="1401" b="1" dirty="0"/>
              <a:t>프로그램 </a:t>
            </a:r>
            <a:r>
              <a:rPr lang="ko-KR" altLang="ko-KR" sz="1401" b="1" dirty="0" err="1"/>
              <a:t>탐색·예매·신청</a:t>
            </a:r>
            <a:r>
              <a:rPr lang="ko-KR" altLang="ko-KR" sz="1401" dirty="0" err="1"/>
              <a:t>과</a:t>
            </a:r>
            <a:r>
              <a:rPr lang="ko-KR" altLang="ko-KR" sz="1401" dirty="0"/>
              <a:t> 대관 이용자의 </a:t>
            </a:r>
            <a:r>
              <a:rPr lang="ko-KR" altLang="ko-KR" sz="1401" b="1" dirty="0"/>
              <a:t>시설 정보 </a:t>
            </a:r>
            <a:r>
              <a:rPr lang="ko-KR" altLang="ko-KR" sz="1401" b="1" dirty="0" err="1"/>
              <a:t>확인·대관</a:t>
            </a:r>
            <a:r>
              <a:rPr lang="ko-KR" altLang="ko-KR" sz="1401" b="1" dirty="0"/>
              <a:t> 신청</a:t>
            </a:r>
            <a:r>
              <a:rPr lang="ko-KR" altLang="ko-KR" sz="1401" dirty="0"/>
              <a:t>은 </a:t>
            </a:r>
            <a:r>
              <a:rPr lang="ko-KR" altLang="ko-KR" sz="1401" dirty="0">
                <a:highlight>
                  <a:srgbClr val="FFAE0D"/>
                </a:highlight>
              </a:rPr>
              <a:t>서로 다른 목적이므로,</a:t>
            </a:r>
            <a:endParaRPr lang="en-US" altLang="ko-KR" sz="1401" dirty="0">
              <a:highlight>
                <a:srgbClr val="FFAE0D"/>
              </a:highlight>
            </a:endParaRPr>
          </a:p>
          <a:p>
            <a:pPr>
              <a:buNone/>
            </a:pPr>
            <a:r>
              <a:rPr lang="ko-KR" altLang="ko-KR" sz="1401" dirty="0"/>
              <a:t>동일한 콘텐츠 흐름 안에서 경쟁시키기보다 </a:t>
            </a:r>
            <a:r>
              <a:rPr lang="ko-KR" altLang="ko-KR" sz="1401" dirty="0">
                <a:highlight>
                  <a:srgbClr val="FFAE0D"/>
                </a:highlight>
              </a:rPr>
              <a:t>사용자가 자신의 목적에 맞는 경로를 빠르게 인식할 수 있도록 </a:t>
            </a:r>
            <a:r>
              <a:rPr lang="ko-KR" altLang="ko-KR" sz="1401" dirty="0" err="1">
                <a:highlight>
                  <a:srgbClr val="FFAE0D"/>
                </a:highlight>
              </a:rPr>
              <a:t>구조화</a:t>
            </a:r>
            <a:r>
              <a:rPr lang="ko-KR" altLang="ko-KR" sz="1401" dirty="0" err="1"/>
              <a:t>할</a:t>
            </a:r>
            <a:r>
              <a:rPr lang="ko-KR" altLang="ko-KR" sz="1401" dirty="0"/>
              <a:t> 필요가 있다.</a:t>
            </a:r>
          </a:p>
        </p:txBody>
      </p:sp>
    </p:spTree>
    <p:extLst>
      <p:ext uri="{BB962C8B-B14F-4D97-AF65-F5344CB8AC3E}">
        <p14:creationId xmlns:p14="http://schemas.microsoft.com/office/powerpoint/2010/main" val="1267798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FFDE-D1A8-EABE-0FDF-C6C1503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5C4B0-6BF7-6AEA-6953-597B2F45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7" y="144914"/>
            <a:ext cx="3982039" cy="73781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3. </a:t>
            </a:r>
            <a:r>
              <a:rPr lang="ko-KR" altLang="ko-KR" sz="2800" dirty="0"/>
              <a:t>최종적으로 참고할 방향</a:t>
            </a:r>
            <a:endParaRPr lang="ko-KR" altLang="en-US" sz="2800" dirty="0">
              <a:latin typeface="+mj-ea"/>
            </a:endParaRPr>
          </a:p>
        </p:txBody>
      </p:sp>
      <p:sp>
        <p:nvSpPr>
          <p:cNvPr id="8" name="그래픽 6">
            <a:extLst>
              <a:ext uri="{FF2B5EF4-FFF2-40B4-BE49-F238E27FC236}">
                <a16:creationId xmlns:a16="http://schemas.microsoft.com/office/drawing/2014/main" id="{61667AAF-30DF-090B-8E74-C46FB5913A0D}"/>
              </a:ext>
            </a:extLst>
          </p:cNvPr>
          <p:cNvSpPr/>
          <p:nvPr/>
        </p:nvSpPr>
        <p:spPr>
          <a:xfrm>
            <a:off x="168359" y="301119"/>
            <a:ext cx="378396" cy="378396"/>
          </a:xfrm>
          <a:custGeom>
            <a:avLst/>
            <a:gdLst>
              <a:gd name="csX0" fmla="*/ 350372 w 378397"/>
              <a:gd name="csY0" fmla="*/ 112117 h 378397"/>
              <a:gd name="csX1" fmla="*/ 336351 w 378397"/>
              <a:gd name="csY1" fmla="*/ 112117 h 378397"/>
              <a:gd name="csX2" fmla="*/ 336351 w 378397"/>
              <a:gd name="csY2" fmla="*/ 378397 h 378397"/>
              <a:gd name="csX3" fmla="*/ 350372 w 378397"/>
              <a:gd name="csY3" fmla="*/ 378397 h 378397"/>
              <a:gd name="csX4" fmla="*/ 322331 w 378397"/>
              <a:gd name="csY4" fmla="*/ 112117 h 378397"/>
              <a:gd name="csX5" fmla="*/ 308326 w 378397"/>
              <a:gd name="csY5" fmla="*/ 112117 h 378397"/>
              <a:gd name="csX6" fmla="*/ 308326 w 378397"/>
              <a:gd name="csY6" fmla="*/ 378397 h 378397"/>
              <a:gd name="csX7" fmla="*/ 322331 w 378397"/>
              <a:gd name="csY7" fmla="*/ 378397 h 378397"/>
              <a:gd name="csX8" fmla="*/ 70071 w 378397"/>
              <a:gd name="csY8" fmla="*/ 112117 h 378397"/>
              <a:gd name="csX9" fmla="*/ 56066 w 378397"/>
              <a:gd name="csY9" fmla="*/ 112117 h 378397"/>
              <a:gd name="csX10" fmla="*/ 56066 w 378397"/>
              <a:gd name="csY10" fmla="*/ 378397 h 378397"/>
              <a:gd name="csX11" fmla="*/ 70071 w 378397"/>
              <a:gd name="csY11" fmla="*/ 378397 h 378397"/>
              <a:gd name="csX12" fmla="*/ 42046 w 378397"/>
              <a:gd name="csY12" fmla="*/ 112117 h 378397"/>
              <a:gd name="csX13" fmla="*/ 28026 w 378397"/>
              <a:gd name="csY13" fmla="*/ 112117 h 378397"/>
              <a:gd name="csX14" fmla="*/ 28026 w 378397"/>
              <a:gd name="csY14" fmla="*/ 378397 h 378397"/>
              <a:gd name="csX15" fmla="*/ 42046 w 378397"/>
              <a:gd name="csY15" fmla="*/ 378397 h 378397"/>
              <a:gd name="csX16" fmla="*/ 14020 w 378397"/>
              <a:gd name="csY16" fmla="*/ 112117 h 378397"/>
              <a:gd name="csX17" fmla="*/ 0 w 378397"/>
              <a:gd name="csY17" fmla="*/ 112117 h 378397"/>
              <a:gd name="csX18" fmla="*/ 0 w 378397"/>
              <a:gd name="csY18" fmla="*/ 378397 h 378397"/>
              <a:gd name="csX19" fmla="*/ 14020 w 378397"/>
              <a:gd name="csY19" fmla="*/ 378397 h 378397"/>
              <a:gd name="csX20" fmla="*/ 0 w 378397"/>
              <a:gd name="csY20" fmla="*/ 42046 h 378397"/>
              <a:gd name="csX21" fmla="*/ 378397 w 378397"/>
              <a:gd name="csY21" fmla="*/ 42046 h 378397"/>
              <a:gd name="csX22" fmla="*/ 378397 w 378397"/>
              <a:gd name="csY22" fmla="*/ 0 h 378397"/>
              <a:gd name="csX23" fmla="*/ 0 w 378397"/>
              <a:gd name="csY23" fmla="*/ 0 h 378397"/>
              <a:gd name="csX24" fmla="*/ 378397 w 378397"/>
              <a:gd name="csY24" fmla="*/ 112117 h 378397"/>
              <a:gd name="csX25" fmla="*/ 364377 w 378397"/>
              <a:gd name="csY25" fmla="*/ 112117 h 378397"/>
              <a:gd name="csX26" fmla="*/ 364377 w 378397"/>
              <a:gd name="csY26" fmla="*/ 378397 h 378397"/>
              <a:gd name="csX27" fmla="*/ 378397 w 378397"/>
              <a:gd name="csY27" fmla="*/ 378397 h 37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78397" h="378397">
                <a:moveTo>
                  <a:pt x="350372" y="112117"/>
                </a:moveTo>
                <a:lnTo>
                  <a:pt x="336351" y="112117"/>
                </a:lnTo>
                <a:lnTo>
                  <a:pt x="336351" y="378397"/>
                </a:lnTo>
                <a:lnTo>
                  <a:pt x="350372" y="378397"/>
                </a:lnTo>
                <a:close/>
                <a:moveTo>
                  <a:pt x="322331" y="112117"/>
                </a:moveTo>
                <a:lnTo>
                  <a:pt x="308326" y="112117"/>
                </a:lnTo>
                <a:lnTo>
                  <a:pt x="308326" y="378397"/>
                </a:lnTo>
                <a:lnTo>
                  <a:pt x="322331" y="378397"/>
                </a:lnTo>
                <a:close/>
                <a:moveTo>
                  <a:pt x="70071" y="112117"/>
                </a:moveTo>
                <a:lnTo>
                  <a:pt x="56066" y="112117"/>
                </a:lnTo>
                <a:lnTo>
                  <a:pt x="56066" y="378397"/>
                </a:lnTo>
                <a:lnTo>
                  <a:pt x="70071" y="378397"/>
                </a:lnTo>
                <a:close/>
                <a:moveTo>
                  <a:pt x="42046" y="112117"/>
                </a:moveTo>
                <a:lnTo>
                  <a:pt x="28026" y="112117"/>
                </a:lnTo>
                <a:lnTo>
                  <a:pt x="28026" y="378397"/>
                </a:lnTo>
                <a:lnTo>
                  <a:pt x="42046" y="378397"/>
                </a:lnTo>
                <a:close/>
                <a:moveTo>
                  <a:pt x="14020" y="112117"/>
                </a:moveTo>
                <a:lnTo>
                  <a:pt x="0" y="112117"/>
                </a:lnTo>
                <a:lnTo>
                  <a:pt x="0" y="378397"/>
                </a:lnTo>
                <a:lnTo>
                  <a:pt x="14020" y="378397"/>
                </a:lnTo>
                <a:close/>
                <a:moveTo>
                  <a:pt x="0" y="42046"/>
                </a:moveTo>
                <a:lnTo>
                  <a:pt x="378397" y="42046"/>
                </a:lnTo>
                <a:lnTo>
                  <a:pt x="378397" y="0"/>
                </a:lnTo>
                <a:lnTo>
                  <a:pt x="0" y="0"/>
                </a:lnTo>
                <a:close/>
                <a:moveTo>
                  <a:pt x="378397" y="112117"/>
                </a:moveTo>
                <a:lnTo>
                  <a:pt x="364377" y="112117"/>
                </a:lnTo>
                <a:lnTo>
                  <a:pt x="364377" y="378397"/>
                </a:lnTo>
                <a:lnTo>
                  <a:pt x="378397" y="378397"/>
                </a:lnTo>
                <a:close/>
              </a:path>
            </a:pathLst>
          </a:custGeom>
          <a:solidFill>
            <a:srgbClr val="FFAE0D"/>
          </a:solidFill>
          <a:ln w="1480" cap="flat">
            <a:noFill/>
            <a:prstDash val="solid"/>
            <a:miter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838C1-B5F1-73C2-6261-7D216CC49AF3}"/>
              </a:ext>
            </a:extLst>
          </p:cNvPr>
          <p:cNvSpPr txBox="1"/>
          <p:nvPr/>
        </p:nvSpPr>
        <p:spPr>
          <a:xfrm>
            <a:off x="28282" y="679516"/>
            <a:ext cx="7371760" cy="189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801" b="1" i="1" dirty="0"/>
              <a:t>한 문장으로 정리</a:t>
            </a:r>
          </a:p>
          <a:p>
            <a:pPr>
              <a:buNone/>
            </a:pPr>
            <a:r>
              <a:rPr lang="ko-KR" altLang="ko-KR" sz="1801" b="1" dirty="0"/>
              <a:t>세종문화회관 </a:t>
            </a:r>
            <a:r>
              <a:rPr lang="ko-KR" altLang="ko-KR" sz="1801" b="1" dirty="0" err="1"/>
              <a:t>리뉴얼에서는</a:t>
            </a:r>
            <a:r>
              <a:rPr lang="ko-KR" altLang="ko-KR" sz="1801" b="1" dirty="0"/>
              <a:t> 레퍼런스 사이트의 시각적 형태를 그대로 적용하기보다, </a:t>
            </a:r>
            <a:r>
              <a:rPr lang="ko-KR" altLang="ko-KR" sz="2400" b="1" dirty="0">
                <a:highlight>
                  <a:srgbClr val="FFFF00"/>
                </a:highlight>
              </a:rPr>
              <a:t>콘텐츠의 우선순위를 명확하게 하고 </a:t>
            </a:r>
            <a:r>
              <a:rPr lang="ko-KR" altLang="ko-KR" sz="2400" b="1" dirty="0">
                <a:highlight>
                  <a:srgbClr val="FFAE0D"/>
                </a:highlight>
              </a:rPr>
              <a:t>사용자 목적에 따라 정보를 </a:t>
            </a:r>
            <a:r>
              <a:rPr lang="ko-KR" altLang="ko-KR" sz="2400" dirty="0">
                <a:highlight>
                  <a:srgbClr val="FFAE0D"/>
                </a:highlight>
              </a:rPr>
              <a:t>구분하며</a:t>
            </a:r>
            <a:r>
              <a:rPr lang="ko-KR" altLang="ko-KR" sz="2400" dirty="0"/>
              <a:t> </a:t>
            </a:r>
            <a:r>
              <a:rPr lang="ko-KR" altLang="ko-KR" sz="2400" dirty="0">
                <a:highlight>
                  <a:srgbClr val="ECCF20"/>
                </a:highlight>
              </a:rPr>
              <a:t>각 섹션을 실제 행동으로 연결하는 </a:t>
            </a:r>
            <a:r>
              <a:rPr lang="ko-KR" altLang="ko-KR" sz="2400" dirty="0">
                <a:highlight>
                  <a:srgbClr val="FFFF00"/>
                </a:highlight>
              </a:rPr>
              <a:t>정보구조와 콘텐츠 흐름을 참고하는 것이 적절하다.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0E58FC4-78D2-AF28-D282-2FD292776F18}"/>
              </a:ext>
            </a:extLst>
          </p:cNvPr>
          <p:cNvSpPr txBox="1">
            <a:spLocks/>
          </p:cNvSpPr>
          <p:nvPr/>
        </p:nvSpPr>
        <p:spPr>
          <a:xfrm>
            <a:off x="1615275" y="4511904"/>
            <a:ext cx="8961454" cy="737812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latin typeface="PKS 흘림체-흑" panose="00000400000000000000" pitchFamily="2" charset="-127"/>
                <a:ea typeface="PKS 흘림체-흑" panose="00000400000000000000" pitchFamily="2" charset="-127"/>
              </a:rPr>
              <a:t>세종문화회관 </a:t>
            </a:r>
            <a:r>
              <a:rPr lang="ko-KR" altLang="en-US" sz="2800" dirty="0" err="1">
                <a:latin typeface="PKS 흘림체-흑" panose="00000400000000000000" pitchFamily="2" charset="-127"/>
                <a:ea typeface="PKS 흘림체-흑" panose="00000400000000000000" pitchFamily="2" charset="-127"/>
              </a:rPr>
              <a:t>홈페지</a:t>
            </a:r>
            <a:r>
              <a:rPr lang="ko-KR" altLang="en-US" sz="2800" dirty="0">
                <a:latin typeface="PKS 흘림체-흑" panose="00000400000000000000" pitchFamily="2" charset="-127"/>
                <a:ea typeface="PKS 흘림체-흑" panose="00000400000000000000" pitchFamily="2" charset="-127"/>
              </a:rPr>
              <a:t> 개편 과업을 문제없이 </a:t>
            </a:r>
            <a:r>
              <a:rPr lang="ko-KR" altLang="en-US" sz="2800" dirty="0" err="1">
                <a:latin typeface="PKS 흘림체-흑" panose="00000400000000000000" pitchFamily="2" charset="-127"/>
                <a:ea typeface="PKS 흘림체-흑" panose="00000400000000000000" pitchFamily="2" charset="-127"/>
              </a:rPr>
              <a:t>수행해나가자</a:t>
            </a:r>
            <a:endParaRPr lang="ko-KR" altLang="en-US" sz="2800" dirty="0">
              <a:latin typeface="PKS 흘림체-흑" panose="00000400000000000000" pitchFamily="2" charset="-127"/>
              <a:ea typeface="PKS 흘림체-흑" panose="00000400000000000000" pitchFamily="2" charset="-127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AB3BFAC5-F9E9-D8EC-BBB8-E799318E8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6814" y="4102328"/>
            <a:ext cx="22383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80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F27A4-0662-A204-C7B7-085C56CC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201B8-F1D6-C83B-F343-46E9FF56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387" y="2766220"/>
            <a:ext cx="7157227" cy="1325563"/>
          </a:xfrm>
        </p:spPr>
        <p:txBody>
          <a:bodyPr>
            <a:noAutofit/>
          </a:bodyPr>
          <a:lstStyle/>
          <a:p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레퍼런스</a:t>
            </a:r>
            <a: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(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디자인참고용</a:t>
            </a:r>
            <a: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)</a:t>
            </a:r>
            <a:endParaRPr lang="ko-KR" altLang="en-US" sz="5001" dirty="0"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6661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58F3F-E9C8-835B-1F31-1E5026EBC636}"/>
              </a:ext>
            </a:extLst>
          </p:cNvPr>
          <p:cNvSpPr txBox="1"/>
          <p:nvPr/>
        </p:nvSpPr>
        <p:spPr>
          <a:xfrm>
            <a:off x="348791" y="405353"/>
            <a:ext cx="11612474" cy="4062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1" dirty="0"/>
              <a:t>회관 사이트 분석 </a:t>
            </a:r>
            <a:r>
              <a:rPr lang="en-US" altLang="ko-KR" sz="1801" dirty="0"/>
              <a:t>-&gt; </a:t>
            </a:r>
            <a:r>
              <a:rPr lang="ko-KR" altLang="en-US" sz="1801" dirty="0"/>
              <a:t>문제점 도출 </a:t>
            </a:r>
            <a:r>
              <a:rPr lang="en-US" altLang="ko-KR" sz="1801" dirty="0"/>
              <a:t>-&gt; </a:t>
            </a:r>
            <a:r>
              <a:rPr lang="ko-KR" altLang="en-US" sz="1801" dirty="0"/>
              <a:t>레퍼런스 조사 </a:t>
            </a:r>
            <a:r>
              <a:rPr lang="en-US" altLang="ko-KR" sz="1801" dirty="0"/>
              <a:t>-&gt; </a:t>
            </a:r>
            <a:r>
              <a:rPr lang="ko-KR" altLang="en-US" sz="1801" dirty="0"/>
              <a:t>세종문화회관 사이트 적용가능 방향 정함</a:t>
            </a:r>
            <a:endParaRPr lang="en-US" altLang="ko-KR" sz="1801" dirty="0"/>
          </a:p>
          <a:p>
            <a:r>
              <a:rPr lang="ko-KR" altLang="en-US" sz="2400" dirty="0">
                <a:solidFill>
                  <a:srgbClr val="7A0000"/>
                </a:solidFill>
              </a:rPr>
              <a:t>이제 할 것은</a:t>
            </a:r>
            <a:r>
              <a:rPr lang="en-US" altLang="ko-KR" sz="2400" dirty="0">
                <a:solidFill>
                  <a:srgbClr val="7A0000"/>
                </a:solidFill>
              </a:rPr>
              <a:t>?</a:t>
            </a:r>
          </a:p>
          <a:p>
            <a:r>
              <a:rPr lang="en-US" altLang="ko-KR" sz="2400" dirty="0">
                <a:highlight>
                  <a:srgbClr val="FFEC02"/>
                </a:highlight>
              </a:rPr>
              <a:t>IA(</a:t>
            </a:r>
            <a:r>
              <a:rPr lang="ko-KR" altLang="en-US" sz="2400" dirty="0">
                <a:highlight>
                  <a:srgbClr val="FFEC02"/>
                </a:highlight>
              </a:rPr>
              <a:t>정보구조</a:t>
            </a:r>
            <a:r>
              <a:rPr lang="en-US" altLang="ko-KR" sz="2400" dirty="0">
                <a:highlight>
                  <a:srgbClr val="FFEC02"/>
                </a:highlight>
              </a:rPr>
              <a:t>)</a:t>
            </a:r>
            <a:r>
              <a:rPr lang="ko-KR" altLang="en-US" sz="2400" dirty="0">
                <a:highlight>
                  <a:srgbClr val="FFEC02"/>
                </a:highlight>
              </a:rPr>
              <a:t>를 </a:t>
            </a:r>
            <a:r>
              <a:rPr lang="ko-KR" altLang="en-US" sz="2400" dirty="0" err="1">
                <a:highlight>
                  <a:srgbClr val="FFEC02"/>
                </a:highlight>
              </a:rPr>
              <a:t>설계할것이다</a:t>
            </a:r>
            <a:r>
              <a:rPr lang="en-US" altLang="ko-KR" sz="2400" dirty="0">
                <a:highlight>
                  <a:srgbClr val="FFEC02"/>
                </a:highlight>
              </a:rPr>
              <a:t>.</a:t>
            </a:r>
          </a:p>
          <a:p>
            <a:r>
              <a:rPr lang="en-US" altLang="ko-KR" sz="2400" dirty="0">
                <a:highlight>
                  <a:srgbClr val="FFEC02"/>
                </a:highlight>
              </a:rPr>
              <a:t>- </a:t>
            </a:r>
            <a:r>
              <a:rPr lang="ko-KR" altLang="en-US" sz="2400" dirty="0">
                <a:highlight>
                  <a:srgbClr val="FFEC02"/>
                </a:highlight>
              </a:rPr>
              <a:t>어떤 정보가 사이트에 필요하고</a:t>
            </a:r>
            <a:r>
              <a:rPr lang="en-US" altLang="ko-KR" sz="2400" dirty="0">
                <a:highlight>
                  <a:srgbClr val="FFEC02"/>
                </a:highlight>
              </a:rPr>
              <a:t>,</a:t>
            </a:r>
          </a:p>
          <a:p>
            <a:r>
              <a:rPr lang="en-US" altLang="ko-KR" sz="2400" dirty="0">
                <a:highlight>
                  <a:srgbClr val="FFEC02"/>
                </a:highlight>
              </a:rPr>
              <a:t>- </a:t>
            </a:r>
            <a:r>
              <a:rPr lang="ko-KR" altLang="en-US" sz="2400" dirty="0">
                <a:highlight>
                  <a:srgbClr val="FFEC02"/>
                </a:highlight>
              </a:rPr>
              <a:t>그 정보를 어떻게 묶고</a:t>
            </a:r>
            <a:r>
              <a:rPr lang="en-US" altLang="ko-KR" sz="2400" dirty="0">
                <a:highlight>
                  <a:srgbClr val="FFEC02"/>
                </a:highlight>
              </a:rPr>
              <a:t>,</a:t>
            </a:r>
          </a:p>
          <a:p>
            <a:r>
              <a:rPr lang="en-US" altLang="ko-KR" sz="2400" dirty="0">
                <a:highlight>
                  <a:srgbClr val="FFEC02"/>
                </a:highlight>
              </a:rPr>
              <a:t>-</a:t>
            </a:r>
            <a:r>
              <a:rPr lang="ko-KR" altLang="en-US" sz="2400" dirty="0">
                <a:highlight>
                  <a:srgbClr val="FFEC02"/>
                </a:highlight>
              </a:rPr>
              <a:t> 어떤 순서로 찾아가게 </a:t>
            </a:r>
            <a:r>
              <a:rPr lang="ko-KR" altLang="en-US" sz="2400" dirty="0" err="1">
                <a:highlight>
                  <a:srgbClr val="FFEC02"/>
                </a:highlight>
              </a:rPr>
              <a:t>할것인지</a:t>
            </a:r>
            <a:r>
              <a:rPr lang="ko-KR" altLang="en-US" sz="2400" dirty="0"/>
              <a:t>    </a:t>
            </a:r>
            <a:r>
              <a:rPr lang="ko-KR" altLang="en-US" sz="2400" dirty="0" err="1"/>
              <a:t>정하는것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pPr marL="457206" indent="-457206">
              <a:buAutoNum type="alphaUcPeriod"/>
            </a:pPr>
            <a:r>
              <a:rPr lang="ko-KR" altLang="en-US" sz="2400" dirty="0"/>
              <a:t>구상한 내용을 실제 사이트의 구조로 만드는 단계이다</a:t>
            </a:r>
            <a:r>
              <a:rPr lang="en-US" altLang="ko-KR" sz="2400" dirty="0"/>
              <a:t>.</a:t>
            </a:r>
          </a:p>
          <a:p>
            <a:pPr marL="457206" indent="-457206">
              <a:buAutoNum type="alphaUcPeriod"/>
            </a:pPr>
            <a:r>
              <a:rPr lang="ko-KR" altLang="en-US" sz="2400" dirty="0"/>
              <a:t>메뉴내 항목</a:t>
            </a:r>
            <a:r>
              <a:rPr lang="en-US" altLang="ko-KR" sz="2400" dirty="0"/>
              <a:t>(GNB)</a:t>
            </a:r>
            <a:r>
              <a:rPr lang="ko-KR" altLang="en-US" sz="2400" dirty="0"/>
              <a:t>는 </a:t>
            </a:r>
            <a:r>
              <a:rPr lang="en-US" altLang="ko-KR" sz="2400" dirty="0"/>
              <a:t>IA</a:t>
            </a:r>
            <a:r>
              <a:rPr lang="ko-KR" altLang="en-US" sz="2400" dirty="0"/>
              <a:t>의 일부이다</a:t>
            </a:r>
            <a:r>
              <a:rPr lang="en-US" altLang="ko-KR" sz="2400" dirty="0"/>
              <a:t>.</a:t>
            </a:r>
          </a:p>
          <a:p>
            <a:pPr marL="457206" indent="-457206">
              <a:buAutoNum type="alphaUcPeriod"/>
            </a:pPr>
            <a:r>
              <a:rPr lang="en-US" altLang="ko-KR" sz="2400" dirty="0"/>
              <a:t>IA</a:t>
            </a:r>
            <a:r>
              <a:rPr lang="ko-KR" altLang="en-US" sz="2400" dirty="0"/>
              <a:t>는 사이트의 전체 정보구조</a:t>
            </a:r>
            <a:r>
              <a:rPr lang="en-US" altLang="ko-KR" sz="2400" dirty="0"/>
              <a:t>, </a:t>
            </a:r>
            <a:r>
              <a:rPr lang="ko-KR" altLang="en-US" sz="2400" dirty="0"/>
              <a:t>메뉴는 그 중에서 사용자가 이동할 수 있도록 보여주는 안내판</a:t>
            </a:r>
            <a:endParaRPr lang="en-US" altLang="ko-KR" sz="2400" dirty="0"/>
          </a:p>
          <a:p>
            <a:pPr marL="457206" indent="-457206">
              <a:buAutoNum type="alphaUcPeriod"/>
            </a:pPr>
            <a:r>
              <a:rPr lang="en-US" altLang="ko-KR" sz="2400" dirty="0"/>
              <a:t>IA</a:t>
            </a:r>
            <a:r>
              <a:rPr lang="ko-KR" altLang="en-US" sz="2400" dirty="0"/>
              <a:t>를 만들면서 이 페이지가 </a:t>
            </a:r>
            <a:r>
              <a:rPr lang="ko-KR" altLang="en-US" sz="2400" dirty="0" err="1"/>
              <a:t>필요하긴한데</a:t>
            </a:r>
            <a:r>
              <a:rPr lang="en-US" altLang="ko-KR" sz="2400" dirty="0"/>
              <a:t>, </a:t>
            </a:r>
            <a:r>
              <a:rPr lang="ko-KR" altLang="en-US" sz="2400" dirty="0"/>
              <a:t>메인 메뉴에서까지 보여줘야 할지는 생각할거리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8E682-9C26-3C61-A857-4C018FED7289}"/>
              </a:ext>
            </a:extLst>
          </p:cNvPr>
          <p:cNvSpPr txBox="1"/>
          <p:nvPr/>
        </p:nvSpPr>
        <p:spPr>
          <a:xfrm>
            <a:off x="2412941" y="5310956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KS 붓글체-가는" panose="00000400000000000000" pitchFamily="2" charset="-127"/>
                <a:ea typeface="PKS 붓글체-가는" panose="00000400000000000000" pitchFamily="2" charset="-127"/>
              </a:rPr>
              <a:t>정보구조설계 임무의 달성을 위해 </a:t>
            </a:r>
            <a:r>
              <a:rPr lang="ko-KR" altLang="en-US" sz="2800" dirty="0">
                <a:solidFill>
                  <a:srgbClr val="7A0000"/>
                </a:solidFill>
                <a:latin typeface="PKS 붓글체-굵은" panose="00000400000000000000" pitchFamily="2" charset="-127"/>
                <a:ea typeface="PKS 붓글체-굵은" panose="00000400000000000000" pitchFamily="2" charset="-127"/>
              </a:rPr>
              <a:t>노력하자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448AF1-36FF-5A37-C1B8-BAB09B431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978"/>
          <a:stretch>
            <a:fillRect/>
          </a:stretch>
        </p:blipFill>
        <p:spPr>
          <a:xfrm rot="372138">
            <a:off x="2045068" y="994842"/>
            <a:ext cx="112300" cy="1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30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FB8A-6D13-5B9E-DB7A-22067D43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6C042-2038-FD7B-9D1A-A789441DCA3E}"/>
              </a:ext>
            </a:extLst>
          </p:cNvPr>
          <p:cNvSpPr txBox="1"/>
          <p:nvPr/>
        </p:nvSpPr>
        <p:spPr>
          <a:xfrm>
            <a:off x="348792" y="405353"/>
            <a:ext cx="10399001" cy="5982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1" dirty="0">
                <a:solidFill>
                  <a:schemeClr val="bg1"/>
                </a:solidFill>
                <a:highlight>
                  <a:srgbClr val="7A0000"/>
                </a:highlight>
              </a:rPr>
              <a:t>프롬프트와 디자인 참고 레퍼런스</a:t>
            </a:r>
            <a:endParaRPr lang="en-US" altLang="ko-KR" sz="1801" dirty="0">
              <a:solidFill>
                <a:schemeClr val="bg1"/>
              </a:solidFill>
              <a:highlight>
                <a:srgbClr val="7A0000"/>
              </a:highlight>
            </a:endParaRPr>
          </a:p>
          <a:p>
            <a:r>
              <a:rPr lang="en-US" altLang="ko-KR" sz="2400" dirty="0">
                <a:solidFill>
                  <a:srgbClr val="7A0000"/>
                </a:solidFill>
                <a:latin typeface="페이퍼로지 6 SemiBold"/>
                <a:ea typeface="페이퍼로지 6 SemiBold"/>
              </a:rPr>
              <a:t>IA </a:t>
            </a:r>
            <a:r>
              <a:rPr lang="ko-KR" altLang="en-US" sz="2400" dirty="0">
                <a:solidFill>
                  <a:srgbClr val="7A0000"/>
                </a:solidFill>
                <a:latin typeface="페이퍼로지 6 SemiBold"/>
                <a:ea typeface="페이퍼로지 6 SemiBold"/>
              </a:rPr>
              <a:t>설계하기 프롬프트</a:t>
            </a:r>
            <a:endParaRPr lang="en-US" altLang="ko-KR" sz="2400" dirty="0">
              <a:solidFill>
                <a:srgbClr val="7A0000"/>
              </a:solidFill>
              <a:latin typeface="페이퍼로지 6 SemiBold"/>
              <a:ea typeface="페이퍼로지 6 SemiBold"/>
            </a:endParaRPr>
          </a:p>
          <a:p>
            <a:endParaRPr lang="en-US" altLang="ko-KR" sz="1051" dirty="0">
              <a:solidFill>
                <a:srgbClr val="7A0000"/>
              </a:solidFill>
              <a:latin typeface="페이퍼로지 6 SemiBold"/>
              <a:ea typeface="페이퍼로지 6 SemiBold"/>
            </a:endParaRP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이 내용을 바탕으로 리뉴얼 사이트의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IA(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정보구조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)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를 설계하려고 한다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[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리뉴얼할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사이트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]</a:t>
            </a: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사이트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/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브랜드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세종문화회관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사이트 주소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www.sejongpac.or.kr</a:t>
            </a:r>
          </a:p>
          <a:p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주요타깃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A.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문</a:t>
            </a:r>
            <a:r>
              <a:rPr lang="ko-KR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화예술 콘텐츠와 공식 정보를 이용하려는 일반 이용자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/ </a:t>
            </a:r>
            <a:r>
              <a:rPr lang="ko-KR" altLang="ko-KR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B</a:t>
            </a:r>
            <a:r>
              <a:rPr lang="ko-KR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 세종문화회관의 시설을 </a:t>
            </a:r>
            <a:r>
              <a:rPr lang="ko-KR" altLang="ko-KR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대관하려는</a:t>
            </a:r>
            <a:r>
              <a:rPr lang="ko-KR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외부 </a:t>
            </a:r>
            <a:r>
              <a:rPr lang="ko-KR" altLang="ko-KR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개인·단체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[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웹사이트목적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]</a:t>
            </a:r>
          </a:p>
          <a:p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A.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문화예술 프로그램 이용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/ B.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시설 대관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/ C.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지속적인 관계 형성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[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기존사이트문제점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]</a:t>
            </a: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① 서로 다른 목적의 콘텐츠가 많아 정보의 우선순위가 불명확함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</a:t>
            </a:r>
            <a:r>
              <a:rPr lang="ko-KR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세종문화회관 메인 페이지에는 </a:t>
            </a:r>
            <a:r>
              <a:rPr lang="ko-KR" altLang="ko-KR" sz="500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공연·전시·시즌</a:t>
            </a:r>
            <a:r>
              <a:rPr lang="ko-KR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프로그램 등의 문화예술 콘텐츠뿐만 아니라 멤버십, </a:t>
            </a:r>
            <a:r>
              <a:rPr lang="ko-KR" altLang="ko-KR" sz="500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F&amp;B,소식</a:t>
            </a:r>
            <a:r>
              <a:rPr lang="ko-KR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티켓오픈, 대관공고, 알림, 이용정보 등 서로 다른 목적의 콘텐츠가 연속적으로 배치되어 있다.</a:t>
            </a:r>
          </a:p>
          <a:p>
            <a:r>
              <a:rPr lang="ko-KR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문제는 콘텐츠가 많다는 사실 자체보다, </a:t>
            </a:r>
            <a:r>
              <a:rPr lang="ko-KR" altLang="ko-KR" sz="500" b="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서로 다른 성격의 정보가 하나의 흐름 안에서 경쟁하면서 사용자가 자신의 목적에 맞는 정보를 직접 찾아야 할 가능성이 있다는 점</a:t>
            </a:r>
            <a:r>
              <a:rPr lang="ko-KR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이다.</a:t>
            </a:r>
          </a:p>
          <a:p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② 서로 다른 사용자의 목적을 하나의 구조에서 해결해야 함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일반 관람객은 공연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전시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교육 등의 콘텐츠를 탐색하고 예매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신청하는 것이 주요 목적이지만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대관 이용자는 시설 정보를 확인하고 대관을 신청하는 것이 주요 목적이다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따라서 하나의 메인 화면에서 서로 다른 이용 목적과 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CTA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가 함께 제공될 경우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사용자가 자신에게 필요한 다음 행동을 빠르게 판단하기 어려울 가능성이 있다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③ 콘텐츠를 많이 보여주는 방식이 탐색과 행동의 우선순위를 흐릴 가능성이 있음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</a:t>
            </a: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③ 콘텐츠를 많이 보여주는 방식이 탐색과 행동의 우선순위를 흐릴 가능성이 있음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: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기존 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Hero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영역에서는 서로 다른 프로그램을 여러 개 동시에 노출한다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이는 세종문화회관에서 어떤 문화예술 콘텐츠를 제공하는지 보여주는 데에는 효과적이지만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</a:t>
            </a: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여러 프로그램이 비슷한 수준으로 경쟁하면서 사용자가 무엇을 먼저 확인해야 하는지 판단하는 과정이 추가될 가능성이 있다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따라서 콘텐츠를 </a:t>
            </a:r>
            <a:r>
              <a:rPr lang="ko-KR" altLang="en-US" sz="500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발견시키는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것과 콘텐츠의 탐색 우선순위를 제시하는 것은 별개의 문제로 판단하였다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[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레퍼런스 조사 후 적용하기로 한 방향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]</a:t>
            </a: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기존 레퍼런스 조사에서는 정보구조와 콘텐츠 흐름을 중심으로 다음과 같은 방향을 도출하였다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①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정보의 양보다 정보의 구조를 개선기존 콘텐츠를 무조건 삭제하기보다 사용자 목적과 콘텐츠의 성격에 따라 정보를 구분하고 우선순위를 재설정한다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② Hero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의 역할을 명확하게 </a:t>
            </a:r>
            <a:r>
              <a:rPr lang="ko-KR" altLang="en-US" sz="500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설정여러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프로그램을 동일한 수준으로 강조하기보다 가장 우선적으로 전달해야 하는 핵심 콘텐츠에 시각적 우선순위를 부여한다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다양한 프로그램은 별도의 탐색 영역에서 비교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선택할 수 있도록 구성한다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③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섹션별 사용자 행동을 명확하게 </a:t>
            </a:r>
            <a:r>
              <a:rPr lang="ko-KR" altLang="en-US" sz="500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설정각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섹션을 단순한 콘텐츠 모음으로 구성하지 않고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발견 → 탐색 → 정보 확인 → 예매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신청 → 이용 → 재방문이라는</a:t>
            </a:r>
            <a:endParaRPr lang="en-US" altLang="ko-KR" sz="500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사용자 행동 흐름과 연결한다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④ 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사용자 목적에 따른 경로를 명확하게 설정일반 이용자의 프로그램 탐색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예매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신청과 대관 이용자의 시설 정보 확인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·</a:t>
            </a:r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대관</a:t>
            </a:r>
            <a:endParaRPr lang="en-US" altLang="ko-KR" sz="500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ko-KR" altLang="en-US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신청이 서로 경쟁하지 않도록 사용자 목적에 따른 진입과 정보 경로를 명확하게 구성한다</a:t>
            </a:r>
            <a:r>
              <a:rPr lang="en-US" altLang="ko-KR" sz="500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.</a:t>
            </a:r>
          </a:p>
          <a:p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171453" indent="-171453">
              <a:buFontTx/>
              <a:buChar char="-"/>
            </a:pP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PDF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를 확인 한 후 위 내용을 바탕으로 다음 순서를 도와줘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171453" indent="-171453">
              <a:buFontTx/>
              <a:buChar char="-"/>
            </a:pP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이 사이트에 필요한 콘텐츠를 먼저 정리해줘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비슷한 콘텐츠끼리 그룹으로 묵어줘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각 그룹이 어떤 사용자를 위한 것인지 설명해줘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서로 목적이 다른 사용자의 콘텐츠가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섞여있다면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하나의 사이트에서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구성하는것이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좋은지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영역 또는 사이트를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분리하는것이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좋은지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 검토해줘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그 결과를 바탕으로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1depth/2depth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혹시 필요하면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3depth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까지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IA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를 제안해줘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기존 사이트의 어떤 문제를 해결하기위해 이렇게 구조 변경했는지 설명해줘</a:t>
            </a:r>
          </a:p>
          <a:p>
            <a:pPr marL="228604" indent="-228604">
              <a:buAutoNum type="arabicPeriod"/>
            </a:pP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내가 조사한 레퍼런스의 적용 방향이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IA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에 실제로 반영되었는지 확인해줘</a:t>
            </a:r>
          </a:p>
          <a:p>
            <a:pPr marL="228604" indent="-228604">
              <a:buAutoNum type="arabicPeriod"/>
            </a:pPr>
            <a:endParaRPr lang="ko-KR" altLang="en-US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단순히 기존사이트의 메뉴를 </a:t>
            </a:r>
            <a:r>
              <a:rPr lang="ko-KR" altLang="en-US" sz="1001" dirty="0" err="1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다시정리하지말고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</a:p>
          <a:p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사용자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웹사이트목적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, 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기존사이트의 문제점과 레퍼런스 조사결과를 근거로 </a:t>
            </a:r>
            <a:r>
              <a:rPr lang="en-US" altLang="ko-KR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IA</a:t>
            </a:r>
            <a:r>
              <a:rPr lang="ko-KR" altLang="en-US" sz="1001" dirty="0">
                <a:latin typeface="PKS 장고직체-가는" panose="00000400000000000000" pitchFamily="2" charset="-127"/>
                <a:ea typeface="PKS 장고직체-가는" panose="00000400000000000000" pitchFamily="2" charset="-127"/>
              </a:rPr>
              <a:t>를 제안해줘</a:t>
            </a:r>
            <a:endParaRPr lang="en-US" altLang="ko-KR" sz="1001" dirty="0"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7910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55F8-A249-0120-FE69-536C6260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C9F4A-F4AA-7B28-1C9A-2D6F8BD4DDB6}"/>
              </a:ext>
            </a:extLst>
          </p:cNvPr>
          <p:cNvSpPr txBox="1"/>
          <p:nvPr/>
        </p:nvSpPr>
        <p:spPr>
          <a:xfrm>
            <a:off x="348792" y="405352"/>
            <a:ext cx="3188693" cy="1108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1" dirty="0">
                <a:solidFill>
                  <a:schemeClr val="bg1"/>
                </a:solidFill>
                <a:highlight>
                  <a:srgbClr val="7A0000"/>
                </a:highlight>
              </a:rPr>
              <a:t>프롬프트와 디자인 참고 레퍼런스</a:t>
            </a:r>
            <a:endParaRPr lang="en-US" altLang="ko-KR" sz="1801" dirty="0">
              <a:solidFill>
                <a:schemeClr val="bg1"/>
              </a:solidFill>
              <a:highlight>
                <a:srgbClr val="7A0000"/>
              </a:highlight>
            </a:endParaRPr>
          </a:p>
          <a:p>
            <a:r>
              <a:rPr lang="ko-KR" altLang="en-US" sz="2400" dirty="0">
                <a:solidFill>
                  <a:srgbClr val="7A0000"/>
                </a:solidFill>
                <a:latin typeface="페이퍼로지 6 SemiBold"/>
                <a:ea typeface="페이퍼로지 6 SemiBold"/>
              </a:rPr>
              <a:t>디자인 참고용 레퍼런스</a:t>
            </a:r>
            <a:endParaRPr lang="en-US" altLang="ko-KR" sz="1001" dirty="0">
              <a:solidFill>
                <a:srgbClr val="7A0000"/>
              </a:solidFill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endParaRPr lang="en-US" altLang="ko-KR" sz="2400" dirty="0">
              <a:solidFill>
                <a:srgbClr val="7A0000"/>
              </a:solidFill>
              <a:latin typeface="페이퍼로지 6 SemiBold"/>
              <a:ea typeface="페이퍼로지 6 SemiBol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11CFCD-160F-5351-C409-12EFAE5E7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9" y="1309149"/>
            <a:ext cx="2260363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030D3B-2138-C165-0602-8487BDC9E4CD}"/>
              </a:ext>
            </a:extLst>
          </p:cNvPr>
          <p:cNvSpPr txBox="1"/>
          <p:nvPr/>
        </p:nvSpPr>
        <p:spPr>
          <a:xfrm>
            <a:off x="2609155" y="1309150"/>
            <a:ext cx="9350637" cy="2955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NOL </a:t>
            </a:r>
            <a:r>
              <a:rPr lang="ko-KR" altLang="en-US" sz="2400" dirty="0" err="1"/>
              <a:t>씨어터</a:t>
            </a:r>
            <a:r>
              <a:rPr lang="ko-KR" altLang="en-US" sz="2400" dirty="0"/>
              <a:t> 대학로</a:t>
            </a:r>
            <a:endParaRPr lang="en-US" altLang="ko-KR" sz="2400" dirty="0"/>
          </a:p>
          <a:p>
            <a:r>
              <a:rPr lang="ko-KR" altLang="ko-KR" sz="1801" dirty="0"/>
              <a:t> </a:t>
            </a:r>
            <a:r>
              <a:rPr lang="ko-KR" altLang="ko-KR" sz="1801" dirty="0">
                <a:hlinkClick r:id="rId3"/>
              </a:rPr>
              <a:t>www.noltheater-daehakro.com</a:t>
            </a:r>
            <a:endParaRPr lang="en-US" altLang="ko-KR" sz="1801" dirty="0"/>
          </a:p>
          <a:p>
            <a:r>
              <a:rPr lang="ko-KR" altLang="en-US" sz="1801" dirty="0"/>
              <a:t>선택한 이유</a:t>
            </a:r>
            <a:r>
              <a:rPr lang="en-US" altLang="ko-KR" sz="1801" dirty="0"/>
              <a:t>: </a:t>
            </a:r>
            <a:r>
              <a:rPr lang="ko-KR" altLang="en-US" sz="1801" dirty="0"/>
              <a:t>정보를 배치하는 섹션들이 명확하고 문화예술 </a:t>
            </a:r>
            <a:r>
              <a:rPr lang="ko-KR" altLang="en-US" sz="1801" dirty="0" err="1"/>
              <a:t>카테고리답게</a:t>
            </a:r>
            <a:r>
              <a:rPr lang="ko-KR" altLang="en-US" sz="1801" dirty="0"/>
              <a:t> 몰입감을 주면서도</a:t>
            </a:r>
            <a:endParaRPr lang="en-US" altLang="ko-KR" sz="1801" dirty="0"/>
          </a:p>
          <a:p>
            <a:r>
              <a:rPr lang="ko-KR" altLang="en-US" sz="1801" dirty="0"/>
              <a:t>메뉴나 클릭 </a:t>
            </a:r>
            <a:r>
              <a:rPr lang="en-US" altLang="ko-KR" sz="1801" dirty="0"/>
              <a:t>UI </a:t>
            </a:r>
            <a:r>
              <a:rPr lang="ko-KR" altLang="en-US" sz="1801" dirty="0"/>
              <a:t>등이 </a:t>
            </a:r>
            <a:r>
              <a:rPr lang="ko-KR" altLang="en-US" sz="1801" dirty="0" err="1"/>
              <a:t>여러군데에</a:t>
            </a:r>
            <a:r>
              <a:rPr lang="ko-KR" altLang="en-US" sz="1801" dirty="0"/>
              <a:t> 흩어져 있거나 레이아웃 중첩이 많이 없어서 사용자가 본인의 목적을</a:t>
            </a:r>
            <a:endParaRPr lang="en-US" altLang="ko-KR" sz="1801" dirty="0"/>
          </a:p>
          <a:p>
            <a:r>
              <a:rPr lang="ko-KR" altLang="en-US" sz="1801" dirty="0"/>
              <a:t>수행하기 위한 행동을 잘 할 수 있는 디자인이라 생각함</a:t>
            </a:r>
            <a:r>
              <a:rPr lang="en-US" altLang="ko-KR" sz="1801" dirty="0"/>
              <a:t>.</a:t>
            </a:r>
          </a:p>
          <a:p>
            <a:r>
              <a:rPr lang="ko-KR" altLang="en-US" sz="1801" dirty="0"/>
              <a:t>또한 한번의 슬라이드 턴 마다 하나의 메시지만을 히어로에서 잘 강조하고 </a:t>
            </a:r>
            <a:r>
              <a:rPr lang="ko-KR" altLang="en-US" sz="1801" dirty="0" err="1"/>
              <a:t>있는것이</a:t>
            </a:r>
            <a:r>
              <a:rPr lang="ko-KR" altLang="en-US" sz="1801" dirty="0"/>
              <a:t> 사용자에게 무엇이</a:t>
            </a:r>
            <a:endParaRPr lang="en-US" altLang="ko-KR" sz="1801" dirty="0"/>
          </a:p>
          <a:p>
            <a:r>
              <a:rPr lang="ko-KR" altLang="en-US" sz="1801" dirty="0"/>
              <a:t>세종문화회관이 현재 가장 </a:t>
            </a:r>
            <a:r>
              <a:rPr lang="ko-KR" altLang="en-US" sz="1801" dirty="0" err="1"/>
              <a:t>전달하고픈지</a:t>
            </a:r>
            <a:r>
              <a:rPr lang="ko-KR" altLang="en-US" sz="1801" dirty="0"/>
              <a:t> 알릴 수 있기에 사용자 행동 유도 관점에서도 좋다고 판단함</a:t>
            </a:r>
            <a:r>
              <a:rPr lang="en-US" altLang="ko-KR" sz="1801" dirty="0"/>
              <a:t>.</a:t>
            </a:r>
          </a:p>
          <a:p>
            <a:endParaRPr lang="en-US" altLang="ko-KR" sz="1801" dirty="0"/>
          </a:p>
          <a:p>
            <a:r>
              <a:rPr lang="ko-KR" altLang="en-US" sz="1801" dirty="0" err="1"/>
              <a:t>참고하고픈</a:t>
            </a:r>
            <a:r>
              <a:rPr lang="ko-KR" altLang="en-US" sz="1801" dirty="0"/>
              <a:t> 부분</a:t>
            </a:r>
            <a:r>
              <a:rPr lang="en-US" altLang="ko-KR" sz="1801" dirty="0"/>
              <a:t>: </a:t>
            </a:r>
            <a:r>
              <a:rPr lang="ko-KR" altLang="en-US" sz="1801" dirty="0" err="1"/>
              <a:t>비짓</a:t>
            </a:r>
            <a:r>
              <a:rPr lang="ko-KR" altLang="en-US" sz="1801" dirty="0"/>
              <a:t> 가이드 섹션의 스타일같이 사용자들이 주로 하는 행동으로 쉽게 연계될 수 있는</a:t>
            </a:r>
            <a:endParaRPr lang="en-US" altLang="ko-KR" sz="1801" dirty="0"/>
          </a:p>
          <a:p>
            <a:r>
              <a:rPr lang="en-US" altLang="ko-KR" sz="1801" dirty="0"/>
              <a:t>CTA UI</a:t>
            </a:r>
            <a:r>
              <a:rPr lang="ko-KR" altLang="en-US" sz="1801" dirty="0"/>
              <a:t>섹션</a:t>
            </a:r>
            <a:r>
              <a:rPr lang="en-US" altLang="ko-KR" sz="1801" dirty="0"/>
              <a:t>, </a:t>
            </a:r>
            <a:r>
              <a:rPr lang="ko-KR" altLang="en-US" sz="1801" dirty="0"/>
              <a:t>하나의 통일된 </a:t>
            </a:r>
            <a:r>
              <a:rPr lang="en-US" altLang="ko-KR" sz="1801" dirty="0"/>
              <a:t>HERO(</a:t>
            </a:r>
            <a:r>
              <a:rPr lang="ko-KR" altLang="en-US" sz="1801" dirty="0"/>
              <a:t>히어로</a:t>
            </a:r>
            <a:r>
              <a:rPr lang="en-US" altLang="ko-KR" sz="1801" dirty="0"/>
              <a:t>) </a:t>
            </a:r>
            <a:r>
              <a:rPr lang="ko-KR" altLang="en-US" sz="1801" dirty="0"/>
              <a:t>섹션</a:t>
            </a:r>
            <a:endParaRPr lang="en-US" altLang="ko-KR" sz="1801" dirty="0"/>
          </a:p>
        </p:txBody>
      </p:sp>
    </p:spTree>
    <p:extLst>
      <p:ext uri="{BB962C8B-B14F-4D97-AF65-F5344CB8AC3E}">
        <p14:creationId xmlns:p14="http://schemas.microsoft.com/office/powerpoint/2010/main" val="3402650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B3E0-15A8-D08F-FC1A-3BDDC054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6197A6-80EB-5649-73B8-F6578AECAC5F}"/>
              </a:ext>
            </a:extLst>
          </p:cNvPr>
          <p:cNvSpPr txBox="1"/>
          <p:nvPr/>
        </p:nvSpPr>
        <p:spPr>
          <a:xfrm>
            <a:off x="348792" y="405352"/>
            <a:ext cx="3188693" cy="1108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1" dirty="0">
                <a:solidFill>
                  <a:schemeClr val="bg1"/>
                </a:solidFill>
                <a:highlight>
                  <a:srgbClr val="7A0000"/>
                </a:highlight>
              </a:rPr>
              <a:t>프롬프트와 디자인 참고 레퍼런스</a:t>
            </a:r>
            <a:endParaRPr lang="en-US" altLang="ko-KR" sz="1801" dirty="0">
              <a:solidFill>
                <a:schemeClr val="bg1"/>
              </a:solidFill>
              <a:highlight>
                <a:srgbClr val="7A0000"/>
              </a:highlight>
            </a:endParaRPr>
          </a:p>
          <a:p>
            <a:r>
              <a:rPr lang="ko-KR" altLang="en-US" sz="2400" dirty="0">
                <a:solidFill>
                  <a:srgbClr val="7A0000"/>
                </a:solidFill>
                <a:latin typeface="페이퍼로지 6 SemiBold"/>
                <a:ea typeface="페이퍼로지 6 SemiBold"/>
              </a:rPr>
              <a:t>디자인 참고용 레퍼런스</a:t>
            </a:r>
            <a:endParaRPr lang="en-US" altLang="ko-KR" sz="1001" dirty="0">
              <a:solidFill>
                <a:srgbClr val="7A0000"/>
              </a:solidFill>
              <a:latin typeface="PKS 장고직체-가는" panose="00000400000000000000" pitchFamily="2" charset="-127"/>
              <a:ea typeface="PKS 장고직체-가는" panose="00000400000000000000" pitchFamily="2" charset="-127"/>
            </a:endParaRPr>
          </a:p>
          <a:p>
            <a:endParaRPr lang="en-US" altLang="ko-KR" sz="2400" dirty="0">
              <a:solidFill>
                <a:srgbClr val="7A0000"/>
              </a:solidFill>
              <a:latin typeface="페이퍼로지 6 SemiBold"/>
              <a:ea typeface="페이퍼로지 6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3BB47-E55F-4052-B8BF-7BE242ADF260}"/>
              </a:ext>
            </a:extLst>
          </p:cNvPr>
          <p:cNvSpPr txBox="1"/>
          <p:nvPr/>
        </p:nvSpPr>
        <p:spPr>
          <a:xfrm>
            <a:off x="2609154" y="1309148"/>
            <a:ext cx="9004388" cy="2678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구다이글로벌</a:t>
            </a:r>
            <a:endParaRPr lang="en-US" altLang="ko-KR" sz="2400" dirty="0"/>
          </a:p>
          <a:p>
            <a:r>
              <a:rPr lang="ko-KR" altLang="ko-KR" sz="1801" dirty="0"/>
              <a:t> </a:t>
            </a:r>
            <a:r>
              <a:rPr lang="ko-KR" altLang="ko-KR" sz="1801" dirty="0">
                <a:hlinkClick r:id="rId2"/>
              </a:rPr>
              <a:t>www.goodai-global.com</a:t>
            </a:r>
            <a:endParaRPr lang="en-US" altLang="ko-KR" sz="1801" dirty="0"/>
          </a:p>
          <a:p>
            <a:r>
              <a:rPr lang="ko-KR" altLang="en-US" sz="1801" dirty="0"/>
              <a:t>선택한 이유</a:t>
            </a:r>
            <a:r>
              <a:rPr lang="en-US" altLang="ko-KR" sz="1801" dirty="0"/>
              <a:t>: </a:t>
            </a:r>
            <a:r>
              <a:rPr lang="ko-KR" altLang="en-US" sz="1801" dirty="0"/>
              <a:t>전반적으로 간결하고 최소화</a:t>
            </a:r>
            <a:r>
              <a:rPr lang="en-US" altLang="ko-KR" sz="1801" dirty="0"/>
              <a:t>, </a:t>
            </a:r>
            <a:r>
              <a:rPr lang="ko-KR" altLang="en-US" sz="1801" dirty="0" err="1"/>
              <a:t>미니멀리즘적인</a:t>
            </a:r>
            <a:r>
              <a:rPr lang="ko-KR" altLang="en-US" sz="1801" dirty="0"/>
              <a:t> 레이아웃과 디자인을 지니고 있으며</a:t>
            </a:r>
            <a:endParaRPr lang="en-US" altLang="ko-KR" sz="1801" dirty="0"/>
          </a:p>
          <a:p>
            <a:r>
              <a:rPr lang="ko-KR" altLang="en-US" sz="1801" dirty="0"/>
              <a:t>이는 </a:t>
            </a:r>
            <a:r>
              <a:rPr lang="en-US" altLang="ko-KR" sz="1801" dirty="0"/>
              <a:t>ESG(</a:t>
            </a:r>
            <a:r>
              <a:rPr lang="ko-KR" altLang="en-US" sz="1801" dirty="0"/>
              <a:t>경영철학 등</a:t>
            </a:r>
            <a:r>
              <a:rPr lang="en-US" altLang="ko-KR" sz="1801" dirty="0"/>
              <a:t>)</a:t>
            </a:r>
            <a:r>
              <a:rPr lang="ko-KR" altLang="en-US" sz="1801" dirty="0"/>
              <a:t>등 세종문화회관의 </a:t>
            </a:r>
            <a:r>
              <a:rPr lang="ko-KR" altLang="en-US" sz="1801" dirty="0" err="1"/>
              <a:t>해리티지</a:t>
            </a:r>
            <a:r>
              <a:rPr lang="en-US" altLang="ko-KR" sz="1801" dirty="0"/>
              <a:t>(</a:t>
            </a:r>
            <a:r>
              <a:rPr lang="ko-KR" altLang="en-US" sz="1801" dirty="0"/>
              <a:t>역사 및 유산</a:t>
            </a:r>
            <a:r>
              <a:rPr lang="en-US" altLang="ko-KR" sz="1801" dirty="0"/>
              <a:t>) </a:t>
            </a:r>
            <a:r>
              <a:rPr lang="ko-KR" altLang="en-US" sz="1801" dirty="0"/>
              <a:t>혹은 재단 차원의 목표 달성 등</a:t>
            </a:r>
            <a:endParaRPr lang="en-US" altLang="ko-KR" sz="1801" dirty="0"/>
          </a:p>
          <a:p>
            <a:r>
              <a:rPr lang="ko-KR" altLang="en-US" sz="1801" dirty="0"/>
              <a:t>페이지 디자인 스타일로 </a:t>
            </a:r>
            <a:r>
              <a:rPr lang="ko-KR" altLang="en-US" sz="1801" dirty="0" err="1"/>
              <a:t>적용되었을때</a:t>
            </a:r>
            <a:r>
              <a:rPr lang="ko-KR" altLang="en-US" sz="1801" dirty="0"/>
              <a:t> 핵심적인 특정 데이터 강조 효과를 불러올 수 있다고 생각됨</a:t>
            </a:r>
            <a:r>
              <a:rPr lang="en-US" altLang="ko-KR" sz="1801" dirty="0"/>
              <a:t>.</a:t>
            </a:r>
          </a:p>
          <a:p>
            <a:r>
              <a:rPr lang="ko-KR" altLang="en-US" sz="1801" dirty="0"/>
              <a:t>또한 세종문화회관의 아이덴티티 소개 페이지 등 주된 </a:t>
            </a:r>
            <a:r>
              <a:rPr lang="ko-KR" altLang="en-US" sz="1801" dirty="0" err="1"/>
              <a:t>메인페이지는</a:t>
            </a:r>
            <a:r>
              <a:rPr lang="ko-KR" altLang="en-US" sz="1801" dirty="0"/>
              <a:t> 아니지만</a:t>
            </a:r>
            <a:endParaRPr lang="en-US" altLang="ko-KR" sz="1801" dirty="0"/>
          </a:p>
          <a:p>
            <a:r>
              <a:rPr lang="ko-KR" altLang="en-US" sz="1801" dirty="0"/>
              <a:t>특정 테마의 페이지</a:t>
            </a:r>
            <a:r>
              <a:rPr lang="en-US" altLang="ko-KR" sz="1801" dirty="0"/>
              <a:t>, </a:t>
            </a:r>
            <a:r>
              <a:rPr lang="ko-KR" altLang="en-US" sz="1801" dirty="0"/>
              <a:t>특히 성과나 데이터를 강조하는 페이지에 잘 쓰일 스타일로 보임</a:t>
            </a:r>
            <a:r>
              <a:rPr lang="en-US" altLang="ko-KR" sz="1801" dirty="0"/>
              <a:t>.</a:t>
            </a:r>
          </a:p>
          <a:p>
            <a:endParaRPr lang="en-US" altLang="ko-KR" sz="1801" dirty="0"/>
          </a:p>
          <a:p>
            <a:r>
              <a:rPr lang="ko-KR" altLang="en-US" sz="1801" dirty="0" err="1"/>
              <a:t>참고하고픈</a:t>
            </a:r>
            <a:r>
              <a:rPr lang="ko-KR" altLang="en-US" sz="1801" dirty="0"/>
              <a:t> 부분</a:t>
            </a:r>
            <a:r>
              <a:rPr lang="en-US" altLang="ko-KR" sz="1801" dirty="0"/>
              <a:t>: </a:t>
            </a:r>
            <a:r>
              <a:rPr lang="ko-KR" altLang="en-US" sz="1801" dirty="0" err="1"/>
              <a:t>타이포그래피</a:t>
            </a:r>
            <a:r>
              <a:rPr lang="ko-KR" altLang="en-US" sz="1801" dirty="0"/>
              <a:t> 요소의 위치</a:t>
            </a:r>
            <a:r>
              <a:rPr lang="en-US" altLang="ko-KR" sz="1801" dirty="0"/>
              <a:t>(</a:t>
            </a:r>
            <a:r>
              <a:rPr lang="ko-KR" altLang="en-US" sz="1801" dirty="0"/>
              <a:t>위계구조</a:t>
            </a:r>
            <a:r>
              <a:rPr lang="en-US" altLang="ko-KR" sz="1801" dirty="0"/>
              <a:t>), </a:t>
            </a:r>
            <a:r>
              <a:rPr lang="ko-KR" altLang="en-US" sz="1801" dirty="0"/>
              <a:t>등</a:t>
            </a:r>
            <a:r>
              <a:rPr lang="en-US" altLang="ko-KR" sz="1801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5F29CF-B7F5-6DE5-E15F-5D9F9D73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0" y="1309149"/>
            <a:ext cx="1933344" cy="51435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59F64B0B-D4AF-8594-8AE4-189EB433A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6182" y="5485479"/>
            <a:ext cx="3211010" cy="12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50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7EB5D-7B19-FBB0-1DBC-8B594AE7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6C19E-F5C0-9DBD-5871-F8FCF953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58" y="2766220"/>
            <a:ext cx="6029084" cy="1325563"/>
          </a:xfrm>
        </p:spPr>
        <p:txBody>
          <a:bodyPr>
            <a:noAutofit/>
          </a:bodyPr>
          <a:lstStyle/>
          <a:p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정보구조설계시안도</a:t>
            </a:r>
          </a:p>
        </p:txBody>
      </p:sp>
    </p:spTree>
    <p:extLst>
      <p:ext uri="{BB962C8B-B14F-4D97-AF65-F5344CB8AC3E}">
        <p14:creationId xmlns:p14="http://schemas.microsoft.com/office/powerpoint/2010/main" val="1998033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39FC-34B9-9A69-F3A8-D6CBA2B4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17CA0E1-DC28-5FA5-1E44-685072E3D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978"/>
          <a:stretch>
            <a:fillRect/>
          </a:stretch>
        </p:blipFill>
        <p:spPr>
          <a:xfrm rot="686453">
            <a:off x="6732267" y="565620"/>
            <a:ext cx="147330" cy="153266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1A8466D9-12F8-FAE0-CA82-3998654E5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3" y="672814"/>
            <a:ext cx="10193355" cy="551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12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F85B-5197-1C70-B039-8DE6F8A5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843236F1-C24C-E991-45C1-6E64A296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978"/>
          <a:stretch>
            <a:fillRect/>
          </a:stretch>
        </p:blipFill>
        <p:spPr>
          <a:xfrm rot="686453">
            <a:off x="10521910" y="3117803"/>
            <a:ext cx="147330" cy="15326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A0EFC8B0-AFF8-1CCF-C455-6F5F62ADE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509417"/>
            <a:ext cx="12192000" cy="383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47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8B1D4-C595-AEC3-C163-FFD71358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4F85D-DEF9-DF55-3C44-BD0CE117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639" y="2766220"/>
            <a:ext cx="6618725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5001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및 최상위</a:t>
            </a:r>
            <a:b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</a:br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네비게이션 메뉴 바</a:t>
            </a:r>
          </a:p>
        </p:txBody>
      </p:sp>
    </p:spTree>
    <p:extLst>
      <p:ext uri="{BB962C8B-B14F-4D97-AF65-F5344CB8AC3E}">
        <p14:creationId xmlns:p14="http://schemas.microsoft.com/office/powerpoint/2010/main" val="3786801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5303-B47B-EAC6-A210-9EFA3B6C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D470BE-D6D0-D05E-5DC7-6789053BB9F3}"/>
              </a:ext>
            </a:extLst>
          </p:cNvPr>
          <p:cNvSpPr txBox="1"/>
          <p:nvPr/>
        </p:nvSpPr>
        <p:spPr>
          <a:xfrm>
            <a:off x="621974" y="791707"/>
            <a:ext cx="1094805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① 이번달의 문화예술 - 핵심 발견</a:t>
            </a:r>
            <a:endParaRPr lang="en-US" altLang="ko-KR" sz="2000" dirty="0"/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화면 하나에 콘텐츠 하나만 노출해 기존 </a:t>
            </a:r>
            <a:r>
              <a:rPr lang="en-US" altLang="ko-KR" sz="2000" dirty="0"/>
              <a:t>4</a:t>
            </a:r>
            <a:r>
              <a:rPr lang="ko-KR" altLang="en-US" sz="2000" dirty="0"/>
              <a:t>분할 히어로의 시선 분산 문제를 해결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대표 이미지</a:t>
            </a:r>
            <a:r>
              <a:rPr lang="en-US" altLang="ko-KR" sz="2000" dirty="0"/>
              <a:t>, </a:t>
            </a:r>
            <a:r>
              <a:rPr lang="ko-KR" altLang="en-US" sz="2000" dirty="0"/>
              <a:t>프로그램명</a:t>
            </a:r>
            <a:r>
              <a:rPr lang="en-US" altLang="ko-KR" sz="2000" dirty="0"/>
              <a:t>, </a:t>
            </a:r>
            <a:r>
              <a:rPr lang="ko-KR" altLang="en-US" sz="2000" dirty="0"/>
              <a:t>기간</a:t>
            </a:r>
            <a:r>
              <a:rPr lang="en-US" altLang="ko-KR" sz="2000" dirty="0"/>
              <a:t>, </a:t>
            </a:r>
            <a:r>
              <a:rPr lang="ko-KR" altLang="en-US" sz="2000" dirty="0"/>
              <a:t>장소</a:t>
            </a:r>
            <a:r>
              <a:rPr lang="en-US" altLang="ko-KR" sz="2000" dirty="0"/>
              <a:t>, </a:t>
            </a:r>
            <a:r>
              <a:rPr lang="ko-KR" altLang="en-US" sz="2000" dirty="0"/>
              <a:t>소개</a:t>
            </a:r>
            <a:r>
              <a:rPr lang="en-US" altLang="ko-KR" sz="2000" dirty="0"/>
              <a:t>, </a:t>
            </a:r>
            <a:r>
              <a:rPr lang="ko-KR" altLang="en-US" sz="2000" dirty="0"/>
              <a:t>상세보기</a:t>
            </a:r>
            <a:r>
              <a:rPr lang="en-US" altLang="ko-KR" sz="2000" dirty="0"/>
              <a:t>·</a:t>
            </a:r>
            <a:r>
              <a:rPr lang="ko-KR" altLang="en-US" sz="2000" dirty="0"/>
              <a:t>예매하기 버튼으로 구성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우측에는 현재시간과 다음 티켓오픈 시각을 보여주는 </a:t>
            </a:r>
            <a:r>
              <a:rPr lang="en-US" altLang="ko-KR" sz="2000" dirty="0"/>
              <a:t>Liquid Glass </a:t>
            </a:r>
            <a:r>
              <a:rPr lang="ko-KR" altLang="en-US" sz="2000" dirty="0"/>
              <a:t>보조 영역 배치</a:t>
            </a:r>
          </a:p>
          <a:p>
            <a:pPr marL="342904" indent="-342904">
              <a:buFontTx/>
              <a:buChar char="-"/>
            </a:pPr>
            <a:r>
              <a:rPr lang="ko-KR" altLang="en-US" sz="2000" dirty="0"/>
              <a:t>하단 </a:t>
            </a:r>
            <a:r>
              <a:rPr lang="en-US" altLang="ko-KR" sz="2000" dirty="0"/>
              <a:t>CTA</a:t>
            </a:r>
            <a:r>
              <a:rPr lang="ko-KR" altLang="en-US" sz="2000" dirty="0"/>
              <a:t>는 개인예매와 단체</a:t>
            </a:r>
            <a:r>
              <a:rPr lang="en-US" altLang="ko-KR" sz="2000" dirty="0"/>
              <a:t>·</a:t>
            </a:r>
            <a:r>
              <a:rPr lang="ko-KR" altLang="en-US" sz="2000" dirty="0"/>
              <a:t>대관으로 분리해 관람객 경로와 대관이용자 경로를 첫 진입부터 나눔</a:t>
            </a:r>
            <a:endParaRPr lang="en-US" altLang="ko-KR" sz="2000" dirty="0"/>
          </a:p>
          <a:p>
            <a:pPr marL="342904" indent="-342904">
              <a:buFontTx/>
              <a:buChar char="-"/>
            </a:pPr>
            <a:endParaRPr lang="en-US" altLang="ko-KR" sz="2000" dirty="0"/>
          </a:p>
          <a:p>
            <a:r>
              <a:rPr lang="ko-KR" altLang="en-US" sz="2000" dirty="0">
                <a:highlight>
                  <a:srgbClr val="FFEC02"/>
                </a:highlight>
              </a:rPr>
              <a:t>② </a:t>
            </a:r>
            <a:r>
              <a:rPr lang="en-US" altLang="ko-KR" sz="2000" dirty="0">
                <a:highlight>
                  <a:srgbClr val="FFEC02"/>
                </a:highlight>
              </a:rPr>
              <a:t>Quick </a:t>
            </a:r>
            <a:r>
              <a:rPr lang="ko-KR" altLang="en-US" sz="2000" dirty="0">
                <a:highlight>
                  <a:srgbClr val="FFEC02"/>
                </a:highlight>
              </a:rPr>
              <a:t>예매 </a:t>
            </a:r>
            <a:r>
              <a:rPr lang="en-US" altLang="ko-KR" sz="2000" dirty="0">
                <a:highlight>
                  <a:srgbClr val="FFEC02"/>
                </a:highlight>
              </a:rPr>
              <a:t>- </a:t>
            </a:r>
            <a:r>
              <a:rPr lang="ko-KR" altLang="en-US" sz="2000" dirty="0">
                <a:highlight>
                  <a:srgbClr val="FFEC02"/>
                </a:highlight>
              </a:rPr>
              <a:t>빠른 탐색</a:t>
            </a:r>
            <a:r>
              <a:rPr lang="en-US" altLang="ko-KR" sz="2000" dirty="0">
                <a:highlight>
                  <a:srgbClr val="FFEC02"/>
                </a:highlight>
              </a:rPr>
              <a:t>·</a:t>
            </a:r>
            <a:r>
              <a:rPr lang="ko-KR" altLang="en-US" sz="2000" dirty="0">
                <a:highlight>
                  <a:srgbClr val="FFEC02"/>
                </a:highlight>
              </a:rPr>
              <a:t>예매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좌측 미니 캘린더</a:t>
            </a:r>
            <a:r>
              <a:rPr lang="en-US" altLang="ko-KR" sz="2000" dirty="0"/>
              <a:t>(</a:t>
            </a:r>
            <a:r>
              <a:rPr lang="ko-KR" altLang="en-US" sz="2000" dirty="0"/>
              <a:t>오늘 강조</a:t>
            </a:r>
            <a:r>
              <a:rPr lang="en-US" altLang="ko-KR" sz="2000" dirty="0"/>
              <a:t>, </a:t>
            </a:r>
            <a:r>
              <a:rPr lang="ko-KR" altLang="en-US" sz="2000" dirty="0"/>
              <a:t>공연 있는 날짜 표시</a:t>
            </a:r>
            <a:r>
              <a:rPr lang="en-US" altLang="ko-KR" sz="2000" dirty="0"/>
              <a:t>)</a:t>
            </a:r>
            <a:r>
              <a:rPr lang="ko-KR" altLang="en-US" sz="2000" dirty="0"/>
              <a:t>와 우측 선택 날짜의 포스터</a:t>
            </a:r>
            <a:r>
              <a:rPr lang="en-US" altLang="ko-KR" sz="2000" dirty="0"/>
              <a:t>·</a:t>
            </a:r>
            <a:r>
              <a:rPr lang="ko-KR" altLang="en-US" sz="2000" dirty="0"/>
              <a:t>정보로 구성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날짜에 마우스를 올리면 </a:t>
            </a:r>
            <a:r>
              <a:rPr lang="ko-KR" altLang="en-US" sz="2000" dirty="0" err="1"/>
              <a:t>플로팅</a:t>
            </a:r>
            <a:r>
              <a:rPr lang="ko-KR" altLang="en-US" sz="2000" dirty="0"/>
              <a:t> 프리뷰가 뜨고 오늘 날짜를 우선 노출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하단에 전체 프로그램 보기 링크로 다음 섹션과 연결</a:t>
            </a:r>
          </a:p>
          <a:p>
            <a:endParaRPr lang="en-US" altLang="ko-KR" sz="2000" dirty="0"/>
          </a:p>
          <a:p>
            <a:r>
              <a:rPr lang="ko-KR" altLang="en-US" sz="2000" dirty="0">
                <a:highlight>
                  <a:srgbClr val="FFEC02"/>
                </a:highlight>
              </a:rPr>
              <a:t>③ 프로그램 탐색 </a:t>
            </a:r>
            <a:r>
              <a:rPr lang="en-US" altLang="ko-KR" sz="2000" dirty="0">
                <a:highlight>
                  <a:srgbClr val="FFEC02"/>
                </a:highlight>
              </a:rPr>
              <a:t>- </a:t>
            </a:r>
            <a:r>
              <a:rPr lang="ko-KR" altLang="en-US" sz="2000" dirty="0">
                <a:highlight>
                  <a:srgbClr val="FFEC02"/>
                </a:highlight>
              </a:rPr>
              <a:t>공연</a:t>
            </a:r>
            <a:r>
              <a:rPr lang="en-US" altLang="ko-KR" sz="2000" dirty="0">
                <a:highlight>
                  <a:srgbClr val="FFEC02"/>
                </a:highlight>
              </a:rPr>
              <a:t>·</a:t>
            </a:r>
            <a:r>
              <a:rPr lang="ko-KR" altLang="en-US" sz="2000" dirty="0">
                <a:highlight>
                  <a:srgbClr val="FFEC02"/>
                </a:highlight>
              </a:rPr>
              <a:t>전시</a:t>
            </a:r>
            <a:r>
              <a:rPr lang="en-US" altLang="ko-KR" sz="2000" dirty="0">
                <a:highlight>
                  <a:srgbClr val="FFEC02"/>
                </a:highlight>
              </a:rPr>
              <a:t>·</a:t>
            </a:r>
            <a:r>
              <a:rPr lang="ko-KR" altLang="en-US" sz="2000" dirty="0">
                <a:highlight>
                  <a:srgbClr val="FFEC02"/>
                </a:highlight>
              </a:rPr>
              <a:t>교육</a:t>
            </a:r>
            <a:r>
              <a:rPr lang="en-US" altLang="ko-KR" sz="2000" dirty="0">
                <a:highlight>
                  <a:srgbClr val="FFEC02"/>
                </a:highlight>
              </a:rPr>
              <a:t>·</a:t>
            </a:r>
            <a:r>
              <a:rPr lang="ko-KR" altLang="en-US" sz="2000" dirty="0">
                <a:highlight>
                  <a:srgbClr val="FFEC02"/>
                </a:highlight>
              </a:rPr>
              <a:t>기획</a:t>
            </a:r>
            <a:r>
              <a:rPr lang="en-US" altLang="ko-KR" sz="2000" dirty="0">
                <a:highlight>
                  <a:srgbClr val="FFEC02"/>
                </a:highlight>
              </a:rPr>
              <a:t>/</a:t>
            </a:r>
            <a:r>
              <a:rPr lang="ko-KR" altLang="en-US" sz="2000" dirty="0">
                <a:highlight>
                  <a:srgbClr val="FFEC02"/>
                </a:highlight>
              </a:rPr>
              <a:t>시즌 프로그램 전체 탐색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히어로에서 콘텐츠를 하나로 압축한 만큼 다양한 콘텐츠 탐색은 이 섹션이 전담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전체</a:t>
            </a:r>
            <a:r>
              <a:rPr lang="en-US" altLang="ko-KR" sz="2000" dirty="0"/>
              <a:t>·</a:t>
            </a:r>
            <a:r>
              <a:rPr lang="ko-KR" altLang="en-US" sz="2000" dirty="0"/>
              <a:t>공연</a:t>
            </a:r>
            <a:r>
              <a:rPr lang="en-US" altLang="ko-KR" sz="2000" dirty="0"/>
              <a:t>·</a:t>
            </a:r>
            <a:r>
              <a:rPr lang="ko-KR" altLang="en-US" sz="2000" dirty="0"/>
              <a:t>전시</a:t>
            </a:r>
            <a:r>
              <a:rPr lang="en-US" altLang="ko-KR" sz="2000" dirty="0"/>
              <a:t>·</a:t>
            </a:r>
            <a:r>
              <a:rPr lang="ko-KR" altLang="en-US" sz="2000" dirty="0"/>
              <a:t>교육</a:t>
            </a:r>
            <a:r>
              <a:rPr lang="en-US" altLang="ko-KR" sz="2000" dirty="0"/>
              <a:t>·</a:t>
            </a:r>
            <a:r>
              <a:rPr lang="ko-KR" altLang="en-US" sz="2000" dirty="0"/>
              <a:t>기획시즌 탭으로 필터링하는 카드형 리스트</a:t>
            </a:r>
            <a:r>
              <a:rPr lang="en-US" altLang="ko-KR" sz="2000" dirty="0"/>
              <a:t>, Today </a:t>
            </a:r>
            <a:r>
              <a:rPr lang="ko-KR" altLang="en-US" sz="2000" dirty="0"/>
              <a:t>콘텐츠는 목록 맨 앞에 우선 배치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교육을 별도 대형 </a:t>
            </a:r>
            <a:r>
              <a:rPr lang="ko-KR" altLang="en-US" sz="2000" dirty="0" err="1"/>
              <a:t>섹션으로</a:t>
            </a:r>
            <a:r>
              <a:rPr lang="ko-KR" altLang="en-US" sz="2000" dirty="0"/>
              <a:t> 독립시키지 않고 이 탭 안에 통합해 서로 다른 정보가 경쟁하는 문제를 방지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66453-E12A-599F-34D7-A411F77CD968}"/>
              </a:ext>
            </a:extLst>
          </p:cNvPr>
          <p:cNvSpPr txBox="1"/>
          <p:nvPr/>
        </p:nvSpPr>
        <p:spPr>
          <a:xfrm>
            <a:off x="347417" y="52020"/>
            <a:ext cx="11497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《</a:t>
            </a:r>
            <a:r>
              <a:rPr lang="ko-KR" altLang="en-US" sz="2800" dirty="0" err="1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메인콘텐츠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: </a:t>
            </a:r>
            <a:r>
              <a:rPr lang="ko-KR" altLang="en-US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무엇을 보여주는가 → 그것에 따른 다음 행동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(</a:t>
            </a:r>
            <a:r>
              <a:rPr lang="en-US" altLang="ko-KR" sz="2800" dirty="0">
                <a:solidFill>
                  <a:srgbClr val="C00000"/>
                </a:solidFill>
                <a:latin typeface="PKS 제목명조체" panose="00000400000000000000" pitchFamily="2" charset="-127"/>
                <a:ea typeface="PKS 제목명조체" panose="00000400000000000000" pitchFamily="2" charset="-127"/>
              </a:rPr>
              <a:t>CTA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)》</a:t>
            </a:r>
            <a:endParaRPr lang="ko-KR" altLang="en-US" sz="2800" dirty="0">
              <a:solidFill>
                <a:srgbClr val="C00000"/>
              </a:solidFill>
              <a:latin typeface="PKS 붓글체" panose="00000400000000000000" pitchFamily="2" charset="-127"/>
              <a:ea typeface="PKS 붓글체" panose="000004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76A8-DF0F-5D17-E89F-6308D4C86486}"/>
              </a:ext>
            </a:extLst>
          </p:cNvPr>
          <p:cNvSpPr txBox="1"/>
          <p:nvPr/>
        </p:nvSpPr>
        <p:spPr>
          <a:xfrm>
            <a:off x="219074" y="5551139"/>
            <a:ext cx="117538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2400" dirty="0" err="1">
                <a:solidFill>
                  <a:srgbClr val="C00000"/>
                </a:solidFill>
                <a:highlight>
                  <a:srgbClr val="FFEC02"/>
                </a:highlight>
                <a:latin typeface="PnPCheonRiMaChe LB" panose="02010600000101010101" pitchFamily="2" charset="-120"/>
                <a:ea typeface="PnPCheonRiMaChe LB" panose="02010600000101010101" pitchFamily="2" charset="-120"/>
              </a:rPr>
              <a:t>Quick</a:t>
            </a:r>
            <a:r>
              <a:rPr lang="ko-KR" altLang="ko-KR" sz="2400" dirty="0">
                <a:solidFill>
                  <a:srgbClr val="C00000"/>
                </a:solidFill>
                <a:highlight>
                  <a:srgbClr val="FFEC02"/>
                </a:highlight>
                <a:latin typeface="PnPCheonRiMaChe LB" panose="02010600000101010101" pitchFamily="2" charset="-120"/>
                <a:ea typeface="PnPCheonRiMaChe LB" panose="02010600000101010101" pitchFamily="2" charset="-120"/>
              </a:rPr>
              <a:t> 예매 = 이미 관람 의향이 있는 사람 </a:t>
            </a:r>
            <a:r>
              <a:rPr lang="ko-KR" altLang="ko-KR" sz="2400" b="1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→ </a:t>
            </a:r>
            <a:r>
              <a:rPr lang="ko-KR" altLang="ko-KR" sz="28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빠르게 찾고 예매</a:t>
            </a:r>
            <a:endParaRPr lang="ko-KR" altLang="ko-KR" sz="2400" dirty="0">
              <a:solidFill>
                <a:srgbClr val="C00000"/>
              </a:solidFill>
              <a:highlight>
                <a:srgbClr val="FFEC02"/>
              </a:highlight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2400" dirty="0">
                <a:solidFill>
                  <a:srgbClr val="C00000"/>
                </a:solidFill>
                <a:highlight>
                  <a:srgbClr val="FFEC02"/>
                </a:highlight>
                <a:latin typeface="PnPCheonRiMaChe LB" panose="02010600000101010101" pitchFamily="2" charset="-120"/>
                <a:ea typeface="PnPCheonRiMaChe LB" panose="02010600000101010101" pitchFamily="2" charset="-120"/>
              </a:rPr>
              <a:t>프로그램 탐색 = 아직 결정하지 않은 사람 </a:t>
            </a:r>
            <a:r>
              <a:rPr lang="ko-KR" altLang="ko-KR" sz="2400" b="1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→</a:t>
            </a:r>
            <a:r>
              <a:rPr lang="ko-KR" altLang="ko-KR" sz="24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 </a:t>
            </a:r>
            <a:r>
              <a:rPr lang="ko-KR" altLang="ko-KR" sz="28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여러 프로그램을 </a:t>
            </a:r>
            <a:r>
              <a:rPr lang="ko-KR" altLang="ko-KR" sz="2800" dirty="0" err="1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비교·탐색</a:t>
            </a:r>
            <a:endParaRPr lang="ko-KR" altLang="ko-KR" sz="2400" dirty="0">
              <a:solidFill>
                <a:srgbClr val="C00000"/>
              </a:solidFill>
              <a:highlight>
                <a:srgbClr val="FFEC02"/>
              </a:highlight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58072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87C5-0217-FA45-6868-A2CAB2AB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439D42-8097-34E8-7FE8-6D5E4E6C2940}"/>
              </a:ext>
            </a:extLst>
          </p:cNvPr>
          <p:cNvSpPr txBox="1"/>
          <p:nvPr/>
        </p:nvSpPr>
        <p:spPr>
          <a:xfrm>
            <a:off x="411540" y="612846"/>
            <a:ext cx="117804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/>
              <a:t>④ 이용 안내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방문·관람·시설</a:t>
            </a:r>
            <a:r>
              <a:rPr lang="ko-KR" altLang="ko-KR" sz="1600" b="1" dirty="0"/>
              <a:t> 이용 지원</a:t>
            </a:r>
          </a:p>
          <a:p>
            <a:r>
              <a:rPr lang="ko-KR" altLang="ko-KR" sz="1600" dirty="0"/>
              <a:t>공간안내, 오시는 </a:t>
            </a:r>
            <a:r>
              <a:rPr lang="ko-KR" altLang="ko-KR" sz="1600" dirty="0" err="1"/>
              <a:t>길·주차</a:t>
            </a:r>
            <a:r>
              <a:rPr lang="ko-KR" altLang="ko-KR" sz="1600" dirty="0"/>
              <a:t>, 편의시설, 장애인 이용안내, 관람 유의사항, 고객지원 등 방문과 관람에 필요한 정보를 하나의 목적 아래 묶는다.</a:t>
            </a:r>
          </a:p>
          <a:p>
            <a:r>
              <a:rPr lang="ko-KR" altLang="ko-KR" sz="1600" dirty="0"/>
              <a:t>사용자가 실제 방문이나 관람을 준비할 때 필요한 정보를 빠르게 확인할 수 있도록 구성하며, F&amp;B 등 부가적인 시설 정보는 관련 이용정보에서 연결한다.</a:t>
            </a:r>
          </a:p>
          <a:p>
            <a:endParaRPr lang="ko-KR" altLang="en-US" sz="1600" dirty="0"/>
          </a:p>
          <a:p>
            <a:r>
              <a:rPr lang="ko-KR" altLang="ko-KR" sz="1600" b="1" dirty="0"/>
              <a:t>⑤ 세종의 소식 &amp; 참여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소식 확인과 지속적인 관계 형성</a:t>
            </a:r>
          </a:p>
          <a:p>
            <a:r>
              <a:rPr lang="ko-KR" altLang="ko-KR" sz="1600" dirty="0"/>
              <a:t>공지사항, 티켓오픈, 대관공고 등 회관의 주요 정보를 확인할 수 있는 콘텐츠와 이벤트, </a:t>
            </a:r>
            <a:r>
              <a:rPr lang="ko-KR" altLang="ko-KR" sz="1600" dirty="0" err="1"/>
              <a:t>뉴스레터·세종문화N</a:t>
            </a:r>
            <a:r>
              <a:rPr lang="ko-KR" altLang="ko-KR" sz="1600" dirty="0"/>
              <a:t>, 멤버십, 후원 등 이용자의 지속적인 관심과 참여를 유도하는 콘텐츠를 함께 구성한다.</a:t>
            </a:r>
          </a:p>
          <a:p>
            <a:r>
              <a:rPr lang="ko-KR" altLang="ko-KR" sz="1600" dirty="0"/>
              <a:t>다만 모든 콘텐츠를 메인에서 동일한 수준으로 제공하지 않고, 사용자의 관심과 행동에 따라 필요한 상세 정보로 이동할 수 있도록 한다.</a:t>
            </a:r>
          </a:p>
          <a:p>
            <a:endParaRPr lang="ko-KR" altLang="en-US" sz="1600" dirty="0"/>
          </a:p>
          <a:p>
            <a:r>
              <a:rPr lang="ko-KR" altLang="ko-KR" sz="1600" b="1" dirty="0"/>
              <a:t>⑥ 세종문화회관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기관과 브랜드 이해</a:t>
            </a:r>
          </a:p>
          <a:p>
            <a:r>
              <a:rPr lang="ko-KR" altLang="ko-KR" sz="1600" dirty="0"/>
              <a:t>기관소개, 서울시예술단, ESG, 정보공개, 협력 및 협찬 등 세종문화회관 자체에 관한 정보를 하나의 영역으로 묶는다.</a:t>
            </a:r>
          </a:p>
          <a:p>
            <a:r>
              <a:rPr lang="ko-KR" altLang="ko-KR" sz="1600" dirty="0"/>
              <a:t>이 영역은 프로그램 탐색이나 예매와 같은 일반 이용자의 1차 목적과는 구분하여, 회관의 활동과 정체성을 이해하고 필요한 정보를 확인할 수 있도록 한다.</a:t>
            </a:r>
          </a:p>
          <a:p>
            <a:endParaRPr lang="en-US" altLang="ko-KR" sz="1600" dirty="0"/>
          </a:p>
          <a:p>
            <a:r>
              <a:rPr lang="ko-KR" altLang="ko-KR" sz="1600" b="1" dirty="0">
                <a:solidFill>
                  <a:schemeClr val="bg2">
                    <a:lumMod val="50000"/>
                  </a:schemeClr>
                </a:solidFill>
              </a:rPr>
              <a:t>메인 콘텐츠 구성 원칙</a:t>
            </a:r>
          </a:p>
          <a:p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메인에서는 사이트 전체의 모든 정보를 보여주는 것이 아니라, 사용자의 주요 목적에 필요한 핵심 콘텐츠를 중심으로 구성한다.</a:t>
            </a:r>
          </a:p>
          <a:p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각 콘텐츠는 </a:t>
            </a:r>
            <a:r>
              <a:rPr lang="ko-KR" altLang="ko-KR" sz="1600" b="1" dirty="0">
                <a:solidFill>
                  <a:schemeClr val="bg2">
                    <a:lumMod val="50000"/>
                  </a:schemeClr>
                </a:solidFill>
              </a:rPr>
              <a:t>무엇을 보여줄 것인가</a:t>
            </a:r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와 </a:t>
            </a:r>
            <a:r>
              <a:rPr lang="ko-KR" altLang="ko-KR" sz="1600" b="1" dirty="0">
                <a:solidFill>
                  <a:schemeClr val="bg2">
                    <a:lumMod val="50000"/>
                  </a:schemeClr>
                </a:solidFill>
              </a:rPr>
              <a:t>사용자가 다음에 무엇을 할 것인가</a:t>
            </a:r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를 연결하여 판단한다.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B95A9-B20C-BC43-43C7-AEC15418707B}"/>
              </a:ext>
            </a:extLst>
          </p:cNvPr>
          <p:cNvSpPr txBox="1"/>
          <p:nvPr/>
        </p:nvSpPr>
        <p:spPr>
          <a:xfrm>
            <a:off x="347417" y="52020"/>
            <a:ext cx="11497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《</a:t>
            </a:r>
            <a:r>
              <a:rPr lang="ko-KR" altLang="en-US" sz="2800" dirty="0" err="1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메인콘텐츠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: </a:t>
            </a:r>
            <a:r>
              <a:rPr lang="ko-KR" altLang="en-US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무엇을 보여주는가 → 그것에 따른 다음 행동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(</a:t>
            </a:r>
            <a:r>
              <a:rPr lang="en-US" altLang="ko-KR" sz="2800" dirty="0">
                <a:solidFill>
                  <a:srgbClr val="C00000"/>
                </a:solidFill>
                <a:latin typeface="PKS 제목명조체" panose="00000400000000000000" pitchFamily="2" charset="-127"/>
                <a:ea typeface="PKS 제목명조체" panose="00000400000000000000" pitchFamily="2" charset="-127"/>
              </a:rPr>
              <a:t>CTA</a:t>
            </a:r>
            <a:r>
              <a:rPr lang="en-US" altLang="ko-KR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)》</a:t>
            </a:r>
            <a:endParaRPr lang="ko-KR" altLang="en-US" sz="2800" dirty="0">
              <a:solidFill>
                <a:srgbClr val="C00000"/>
              </a:solidFill>
              <a:latin typeface="PKS 붓글체" panose="00000400000000000000" pitchFamily="2" charset="-127"/>
              <a:ea typeface="PKS 붓글체" panose="000004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6143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29E7-41DD-CA89-2F1C-72CC692D3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61B24B-DEEF-A771-2FE8-2F97CF5AB4CD}"/>
              </a:ext>
            </a:extLst>
          </p:cNvPr>
          <p:cNvSpPr txBox="1"/>
          <p:nvPr/>
        </p:nvSpPr>
        <p:spPr>
          <a:xfrm>
            <a:off x="452436" y="606401"/>
            <a:ext cx="1128712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/>
              <a:t>① 프로그램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문화예술 콘텐츠 탐색</a:t>
            </a:r>
          </a:p>
          <a:p>
            <a:pPr lvl="0"/>
            <a:r>
              <a:rPr lang="ko-KR" altLang="ko-KR" sz="1600" dirty="0"/>
              <a:t>공연</a:t>
            </a:r>
            <a:r>
              <a:rPr lang="en-US" altLang="ko-KR" sz="1600" dirty="0"/>
              <a:t>, </a:t>
            </a:r>
            <a:r>
              <a:rPr lang="ko-KR" altLang="ko-KR" sz="1600" dirty="0"/>
              <a:t>전시</a:t>
            </a:r>
            <a:r>
              <a:rPr lang="en-US" altLang="ko-KR" sz="1600" dirty="0"/>
              <a:t>, </a:t>
            </a:r>
            <a:r>
              <a:rPr lang="ko-KR" altLang="ko-KR" sz="1600" dirty="0"/>
              <a:t>교육</a:t>
            </a:r>
            <a:r>
              <a:rPr lang="en-US" altLang="ko-KR" sz="1600" dirty="0"/>
              <a:t>, </a:t>
            </a:r>
            <a:r>
              <a:rPr lang="ko-KR" altLang="ko-KR" sz="1600" dirty="0" err="1"/>
              <a:t>기획·시즌</a:t>
            </a:r>
            <a:r>
              <a:rPr lang="ko-KR" altLang="ko-KR" sz="1600" dirty="0"/>
              <a:t> 프로그램</a:t>
            </a:r>
          </a:p>
          <a:p>
            <a:r>
              <a:rPr lang="ko-KR" altLang="ko-KR" sz="1600" dirty="0"/>
              <a:t>일반 관람객이 세종문화회관의 문화예술 콘텐츠를 탐색하고 비교할 수 있는 주요 진입점이다.</a:t>
            </a:r>
          </a:p>
          <a:p>
            <a:endParaRPr lang="ko-KR" altLang="en-US" sz="1600" dirty="0"/>
          </a:p>
          <a:p>
            <a:r>
              <a:rPr lang="ko-KR" altLang="ko-KR" sz="1600" b="1" dirty="0"/>
              <a:t>② 대관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시설 이용 목적의 </a:t>
            </a:r>
            <a:r>
              <a:rPr lang="ko-KR" altLang="ko-KR" sz="1600" b="1" dirty="0" err="1"/>
              <a:t>진입점</a:t>
            </a:r>
            <a:endParaRPr lang="ko-KR" altLang="ko-KR" sz="1600" b="1" dirty="0"/>
          </a:p>
          <a:p>
            <a:pPr lvl="0"/>
            <a:r>
              <a:rPr lang="ko-KR" altLang="ko-KR" sz="1600" dirty="0"/>
              <a:t>대관안내</a:t>
            </a:r>
            <a:r>
              <a:rPr lang="en-US" altLang="ko-KR" sz="1600" dirty="0"/>
              <a:t>, </a:t>
            </a:r>
            <a:r>
              <a:rPr lang="ko-KR" altLang="ko-KR" sz="1600" dirty="0"/>
              <a:t>대관시설</a:t>
            </a:r>
            <a:r>
              <a:rPr lang="en-US" altLang="ko-KR" sz="1600" dirty="0"/>
              <a:t>, </a:t>
            </a:r>
            <a:r>
              <a:rPr lang="ko-KR" altLang="ko-KR" sz="1600" dirty="0"/>
              <a:t>대관일정</a:t>
            </a:r>
            <a:r>
              <a:rPr lang="en-US" altLang="ko-KR" sz="1600" dirty="0"/>
              <a:t>, </a:t>
            </a:r>
            <a:r>
              <a:rPr lang="ko-KR" altLang="ko-KR" sz="1600" dirty="0"/>
              <a:t>대관절차</a:t>
            </a:r>
            <a:r>
              <a:rPr lang="en-US" altLang="ko-KR" sz="1600" dirty="0"/>
              <a:t>, </a:t>
            </a:r>
            <a:r>
              <a:rPr lang="ko-KR" altLang="ko-KR" sz="1600" dirty="0"/>
              <a:t>대관신청</a:t>
            </a:r>
            <a:r>
              <a:rPr lang="en-US" altLang="ko-KR" sz="1600" dirty="0"/>
              <a:t>, </a:t>
            </a:r>
            <a:r>
              <a:rPr lang="ko-KR" altLang="ko-KR" sz="1600" dirty="0"/>
              <a:t>대관문의</a:t>
            </a:r>
          </a:p>
          <a:p>
            <a:r>
              <a:rPr lang="ko-KR" altLang="ko-KR" sz="1600" dirty="0"/>
              <a:t>대관을 이용하려는 </a:t>
            </a:r>
            <a:r>
              <a:rPr lang="ko-KR" altLang="ko-KR" sz="1600" dirty="0" err="1"/>
              <a:t>개인·단체가</a:t>
            </a:r>
            <a:r>
              <a:rPr lang="ko-KR" altLang="ko-KR" sz="1600" dirty="0"/>
              <a:t> 필요한 정보를 확인하고 대관 신청까지 이어질 수 있도록 별도의 사용자 경로를 제공한다.</a:t>
            </a:r>
          </a:p>
          <a:p>
            <a:endParaRPr lang="en-US" altLang="ko-KR" sz="1600" dirty="0"/>
          </a:p>
          <a:p>
            <a:r>
              <a:rPr lang="ko-KR" altLang="ko-KR" sz="1600" b="1" dirty="0"/>
              <a:t>③ 이용안내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방문·관람</a:t>
            </a:r>
            <a:r>
              <a:rPr lang="ko-KR" altLang="ko-KR" sz="1600" b="1" dirty="0"/>
              <a:t> 지원</a:t>
            </a:r>
          </a:p>
          <a:p>
            <a:pPr lvl="0"/>
            <a:r>
              <a:rPr lang="ko-KR" altLang="ko-KR" sz="1600" dirty="0"/>
              <a:t>공간안내</a:t>
            </a:r>
            <a:r>
              <a:rPr lang="en-US" altLang="ko-KR" sz="1600" dirty="0"/>
              <a:t>, </a:t>
            </a:r>
            <a:r>
              <a:rPr lang="ko-KR" altLang="ko-KR" sz="1600" dirty="0"/>
              <a:t>오시는 길·주차</a:t>
            </a:r>
            <a:r>
              <a:rPr lang="en-US" altLang="ko-KR" sz="1600" dirty="0"/>
              <a:t>, </a:t>
            </a:r>
            <a:r>
              <a:rPr lang="ko-KR" altLang="ko-KR" sz="1600" dirty="0"/>
              <a:t>편의시설</a:t>
            </a:r>
            <a:r>
              <a:rPr lang="en-US" altLang="ko-KR" sz="1600" dirty="0"/>
              <a:t>, </a:t>
            </a:r>
            <a:r>
              <a:rPr lang="ko-KR" altLang="ko-KR" sz="1600" dirty="0"/>
              <a:t>장애인 이용안내</a:t>
            </a:r>
            <a:r>
              <a:rPr lang="en-US" altLang="ko-KR" sz="1600" dirty="0"/>
              <a:t>, </a:t>
            </a:r>
            <a:r>
              <a:rPr lang="ko-KR" altLang="ko-KR" sz="1600" dirty="0"/>
              <a:t>관람 유의사항</a:t>
            </a:r>
            <a:r>
              <a:rPr lang="en-US" altLang="ko-KR" sz="1600" dirty="0"/>
              <a:t>, </a:t>
            </a:r>
            <a:r>
              <a:rPr lang="ko-KR" altLang="ko-KR" sz="1600" dirty="0"/>
              <a:t>고객지원</a:t>
            </a:r>
          </a:p>
          <a:p>
            <a:r>
              <a:rPr lang="ko-KR" altLang="ko-KR" sz="1600" dirty="0"/>
              <a:t>프로그램 이용 전후에 필요한 공통적인 </a:t>
            </a:r>
            <a:r>
              <a:rPr lang="ko-KR" altLang="ko-KR" sz="1600" dirty="0" err="1"/>
              <a:t>방문·관람</a:t>
            </a:r>
            <a:r>
              <a:rPr lang="ko-KR" altLang="ko-KR" sz="1600" dirty="0"/>
              <a:t> 정보를 제공한다.</a:t>
            </a:r>
          </a:p>
          <a:p>
            <a:endParaRPr lang="ko-KR" altLang="en-US" sz="1600" dirty="0"/>
          </a:p>
          <a:p>
            <a:r>
              <a:rPr lang="ko-KR" altLang="ko-KR" sz="1600" b="1" dirty="0"/>
              <a:t>④ 소식과 </a:t>
            </a:r>
            <a:r>
              <a:rPr lang="ko-KR" altLang="en-US" sz="1600" b="1" dirty="0"/>
              <a:t>혜택</a:t>
            </a:r>
            <a:r>
              <a:rPr lang="ko-KR" altLang="ko-KR" sz="1600" b="1" dirty="0"/>
              <a:t>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정보 확인 및 관계 형성</a:t>
            </a:r>
          </a:p>
          <a:p>
            <a:pPr lvl="0"/>
            <a:r>
              <a:rPr lang="ko-KR" altLang="ko-KR" sz="1600" dirty="0"/>
              <a:t>공지사항</a:t>
            </a:r>
            <a:r>
              <a:rPr lang="en-US" altLang="ko-KR" sz="1600" dirty="0"/>
              <a:t>, </a:t>
            </a:r>
            <a:r>
              <a:rPr lang="ko-KR" altLang="ko-KR" sz="1600" dirty="0"/>
              <a:t>이벤트</a:t>
            </a:r>
            <a:r>
              <a:rPr lang="en-US" altLang="ko-KR" sz="1600" dirty="0"/>
              <a:t>, </a:t>
            </a:r>
            <a:r>
              <a:rPr lang="ko-KR" altLang="ko-KR" sz="1600" dirty="0" err="1"/>
              <a:t>뉴스레터·세종문화N</a:t>
            </a:r>
            <a:r>
              <a:rPr lang="en-US" altLang="ko-KR" sz="1600" dirty="0"/>
              <a:t>, </a:t>
            </a:r>
            <a:r>
              <a:rPr lang="ko-KR" altLang="ko-KR" sz="1600" dirty="0"/>
              <a:t>멤버십</a:t>
            </a:r>
          </a:p>
          <a:p>
            <a:r>
              <a:rPr lang="ko-KR" altLang="ko-KR" sz="1600" dirty="0"/>
              <a:t>회관의 주요 소식을 확인하고 </a:t>
            </a:r>
            <a:r>
              <a:rPr lang="ko-KR" altLang="ko-KR" sz="1600" dirty="0" err="1"/>
              <a:t>이벤트·뉴스레터·멤버십</a:t>
            </a:r>
            <a:r>
              <a:rPr lang="en-US" altLang="ko-KR" sz="1600" dirty="0"/>
              <a:t> </a:t>
            </a:r>
            <a:r>
              <a:rPr lang="ko-KR" altLang="en-US" sz="1600" dirty="0"/>
              <a:t>프로그램</a:t>
            </a:r>
            <a:r>
              <a:rPr lang="ko-KR" altLang="ko-KR" sz="1600" dirty="0"/>
              <a:t> 등을 통해 지속적으로 </a:t>
            </a:r>
            <a:r>
              <a:rPr lang="ko-KR" altLang="en-US" sz="1600" dirty="0"/>
              <a:t>회관과의 </a:t>
            </a:r>
            <a:r>
              <a:rPr lang="ko-KR" altLang="ko-KR" sz="1600" dirty="0"/>
              <a:t>관계를 형성할 수 있도록 한다.</a:t>
            </a:r>
          </a:p>
          <a:p>
            <a:endParaRPr lang="ko-KR" altLang="en-US" sz="1600" dirty="0"/>
          </a:p>
          <a:p>
            <a:r>
              <a:rPr lang="ko-KR" altLang="ko-KR" sz="1600" b="1" dirty="0"/>
              <a:t>⑤ </a:t>
            </a:r>
            <a:r>
              <a:rPr lang="ko-KR" altLang="en-US" sz="1600" b="1" dirty="0"/>
              <a:t>세종문화회관 </a:t>
            </a:r>
            <a:r>
              <a:rPr lang="en-US" altLang="ko-KR" sz="1600" b="1" dirty="0"/>
              <a:t>-</a:t>
            </a:r>
            <a:r>
              <a:rPr lang="ko-KR" altLang="ko-KR" sz="1600" b="1" dirty="0"/>
              <a:t> 기관 및 브랜드 정보</a:t>
            </a:r>
          </a:p>
          <a:p>
            <a:pPr lvl="0"/>
            <a:r>
              <a:rPr lang="ko-KR" altLang="ko-KR" sz="1600" dirty="0"/>
              <a:t>기관소개</a:t>
            </a:r>
            <a:r>
              <a:rPr lang="en-US" altLang="ko-KR" sz="1600" dirty="0"/>
              <a:t>, </a:t>
            </a:r>
            <a:r>
              <a:rPr lang="ko-KR" altLang="ko-KR" sz="1600" dirty="0"/>
              <a:t>서울시예술단</a:t>
            </a:r>
            <a:r>
              <a:rPr lang="en-US" altLang="ko-KR" sz="1600" dirty="0"/>
              <a:t>, </a:t>
            </a:r>
            <a:r>
              <a:rPr lang="ko-KR" altLang="ko-KR" sz="1600" dirty="0"/>
              <a:t>ESG</a:t>
            </a:r>
            <a:r>
              <a:rPr lang="en-US" altLang="ko-KR" sz="1600" dirty="0"/>
              <a:t>, </a:t>
            </a:r>
            <a:r>
              <a:rPr lang="ko-KR" altLang="ko-KR" sz="1600" dirty="0"/>
              <a:t>정보공개</a:t>
            </a:r>
            <a:r>
              <a:rPr lang="en-US" altLang="ko-KR" sz="1600" dirty="0"/>
              <a:t>, </a:t>
            </a:r>
            <a:r>
              <a:rPr lang="ko-KR" altLang="ko-KR" sz="1600" dirty="0"/>
              <a:t>협력 및 협찬</a:t>
            </a:r>
            <a:r>
              <a:rPr lang="en-US" altLang="ko-KR" sz="1600" dirty="0"/>
              <a:t>, </a:t>
            </a:r>
            <a:r>
              <a:rPr lang="ko-KR" altLang="ko-KR" sz="1600" dirty="0"/>
              <a:t>후원</a:t>
            </a:r>
          </a:p>
          <a:p>
            <a:r>
              <a:rPr lang="ko-KR" altLang="ko-KR" sz="1600" dirty="0"/>
              <a:t>세종문화회관의 기관 정보와 활동, 운영 방향 등을 </a:t>
            </a:r>
            <a:r>
              <a:rPr lang="ko-KR" altLang="en-US" sz="1600" dirty="0"/>
              <a:t>확인하고 협업과 후원을 할 수 있는 창구이다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ko-KR" altLang="ko-KR" sz="1600" b="1" dirty="0">
                <a:solidFill>
                  <a:schemeClr val="bg2">
                    <a:lumMod val="50000"/>
                  </a:schemeClr>
                </a:solidFill>
              </a:rPr>
              <a:t>GNB 구성 원칙</a:t>
            </a:r>
          </a:p>
          <a:p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사이트의 모든 정보를 메인 메뉴에 노출하는 것이 아니라, </a:t>
            </a:r>
            <a:r>
              <a:rPr lang="ko-KR" altLang="ko-KR" sz="1600" b="1" dirty="0">
                <a:solidFill>
                  <a:schemeClr val="bg2">
                    <a:lumMod val="50000"/>
                  </a:schemeClr>
                </a:solidFill>
              </a:rPr>
              <a:t>사용자의 주요 목적과 정보 탐색 경로를 기준으로 최상위 메뉴를 구성한다.</a:t>
            </a:r>
            <a:endParaRPr lang="ko-KR" altLang="ko-KR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ko-KR" altLang="ko-KR" sz="1600" dirty="0" err="1">
                <a:solidFill>
                  <a:schemeClr val="bg2">
                    <a:lumMod val="50000"/>
                  </a:schemeClr>
                </a:solidFill>
              </a:rPr>
              <a:t>IA에</a:t>
            </a:r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 필요한 페이지와 </a:t>
            </a:r>
            <a:r>
              <a:rPr lang="ko-KR" altLang="ko-KR" sz="1600" dirty="0" err="1">
                <a:solidFill>
                  <a:schemeClr val="bg2">
                    <a:lumMod val="50000"/>
                  </a:schemeClr>
                </a:solidFill>
              </a:rPr>
              <a:t>GNB에서</a:t>
            </a:r>
            <a:r>
              <a:rPr lang="ko-KR" altLang="ko-KR" sz="1600" dirty="0">
                <a:solidFill>
                  <a:schemeClr val="bg2">
                    <a:lumMod val="50000"/>
                  </a:schemeClr>
                </a:solidFill>
              </a:rPr>
              <a:t> 직접 접근해야 하는 페이지는 구분한다.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54B78-8DAC-0AE1-E10B-A4637D949F45}"/>
              </a:ext>
            </a:extLst>
          </p:cNvPr>
          <p:cNvSpPr txBox="1"/>
          <p:nvPr/>
        </p:nvSpPr>
        <p:spPr>
          <a:xfrm>
            <a:off x="2190556" y="19927"/>
            <a:ext cx="78108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《네비게이션 정하기(</a:t>
            </a:r>
            <a:r>
              <a:rPr lang="ko-KR" altLang="en-US" sz="2800" dirty="0">
                <a:solidFill>
                  <a:srgbClr val="C00000"/>
                </a:solidFill>
                <a:latin typeface="PKS 제목명조체" panose="00000400000000000000" pitchFamily="2" charset="-127"/>
                <a:ea typeface="PKS 제목명조체" panose="00000400000000000000" pitchFamily="2" charset="-127"/>
              </a:rPr>
              <a:t>GNB</a:t>
            </a:r>
            <a:r>
              <a:rPr lang="ko-KR" altLang="en-US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) (최상위 </a:t>
            </a:r>
            <a:r>
              <a:rPr lang="ko-KR" altLang="en-US" sz="2800" dirty="0" err="1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메뉴바</a:t>
            </a:r>
            <a:r>
              <a:rPr lang="ko-KR" altLang="en-US" sz="2800" dirty="0">
                <a:solidFill>
                  <a:srgbClr val="C00000"/>
                </a:solidFill>
                <a:latin typeface="PKS 붓글체" panose="00000400000000000000" pitchFamily="2" charset="-127"/>
                <a:ea typeface="PKS 붓글체" panose="00000400000000000000" pitchFamily="2" charset="-127"/>
              </a:rPr>
              <a:t>)》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807C0-850B-286E-1319-039C7B5F945C}"/>
              </a:ext>
            </a:extLst>
          </p:cNvPr>
          <p:cNvSpPr txBox="1"/>
          <p:nvPr/>
        </p:nvSpPr>
        <p:spPr>
          <a:xfrm>
            <a:off x="452436" y="6251599"/>
            <a:ext cx="9767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20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최상위 </a:t>
            </a:r>
            <a:r>
              <a:rPr lang="ko-KR" altLang="en-US" sz="2000" dirty="0" err="1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메뉴바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 안에서 보여줄 것이 있고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, </a:t>
            </a:r>
            <a:r>
              <a:rPr lang="ko-KR" altLang="en-US" sz="2000" dirty="0" err="1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메인페이지에서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 바로 보여줄 것이 있다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EC02"/>
                </a:highlight>
                <a:latin typeface="PnPCheonRiMaChe UB" panose="02010600000101010101" pitchFamily="2" charset="-120"/>
                <a:ea typeface="PnPCheonRiMaChe UB" panose="02010600000101010101" pitchFamily="2" charset="-120"/>
              </a:rPr>
              <a:t>.</a:t>
            </a:r>
            <a:endParaRPr lang="ko-KR" altLang="ko-KR" sz="2000" dirty="0">
              <a:solidFill>
                <a:srgbClr val="C00000"/>
              </a:solidFill>
              <a:highlight>
                <a:srgbClr val="FFEC02"/>
              </a:highlight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C86EAAE9-23B3-E76A-2764-BB24C8B9A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4700" y="2442867"/>
            <a:ext cx="4886325" cy="15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95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5A9F-D879-7061-0824-680609D2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239163F-A175-320A-FC62-1C8C5691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384" y="0"/>
            <a:ext cx="457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C446D9-8398-38CC-8B3A-1107339CD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149" y="0"/>
            <a:ext cx="3149271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DA8F266-DD58-F2C4-75EC-CFC4D72E45A8}"/>
              </a:ext>
            </a:extLst>
          </p:cNvPr>
          <p:cNvSpPr/>
          <p:nvPr/>
        </p:nvSpPr>
        <p:spPr>
          <a:xfrm>
            <a:off x="8327231" y="221456"/>
            <a:ext cx="1621189" cy="133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083A351-A237-7877-7052-B710C6E60F47}"/>
              </a:ext>
            </a:extLst>
          </p:cNvPr>
          <p:cNvGrpSpPr/>
          <p:nvPr/>
        </p:nvGrpSpPr>
        <p:grpSpPr>
          <a:xfrm>
            <a:off x="10291762" y="1047503"/>
            <a:ext cx="1471878" cy="1696420"/>
            <a:chOff x="10291762" y="1047503"/>
            <a:chExt cx="1471878" cy="1696420"/>
          </a:xfrm>
        </p:grpSpPr>
        <p:pic>
          <p:nvPicPr>
            <p:cNvPr id="5" name="그래픽 4">
              <a:hlinkClick r:id="rId5"/>
              <a:extLst>
                <a:ext uri="{FF2B5EF4-FFF2-40B4-BE49-F238E27FC236}">
                  <a16:creationId xmlns:a16="http://schemas.microsoft.com/office/drawing/2014/main" id="{6830F90D-3D30-9F0E-490F-D9C0A76846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91762" y="1047503"/>
              <a:ext cx="1471613" cy="101490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E4398D-599A-4E6C-A6F3-E9057D8A3ADF}"/>
                </a:ext>
              </a:extLst>
            </p:cNvPr>
            <p:cNvSpPr txBox="1"/>
            <p:nvPr/>
          </p:nvSpPr>
          <p:spPr>
            <a:xfrm>
              <a:off x="10291762" y="2005259"/>
              <a:ext cx="147187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WebGL</a:t>
              </a:r>
              <a:r>
                <a:rPr lang="en-US" altLang="ko-KR" sz="2400" dirty="0">
                  <a:solidFill>
                    <a:srgbClr val="C00000"/>
                  </a:solidFill>
                </a:rPr>
                <a:t>↑</a:t>
              </a:r>
              <a:b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Interactive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2835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C6F1-A555-8FEB-A1E3-B14C174A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7B834A2-0472-B439-F2E3-87DACF5D6D80}"/>
              </a:ext>
            </a:extLst>
          </p:cNvPr>
          <p:cNvGrpSpPr/>
          <p:nvPr/>
        </p:nvGrpSpPr>
        <p:grpSpPr>
          <a:xfrm>
            <a:off x="10291762" y="1047503"/>
            <a:ext cx="1471878" cy="1696420"/>
            <a:chOff x="10291762" y="1047503"/>
            <a:chExt cx="1471878" cy="1696420"/>
          </a:xfrm>
        </p:grpSpPr>
        <p:pic>
          <p:nvPicPr>
            <p:cNvPr id="5" name="그래픽 4">
              <a:hlinkClick r:id="rId3"/>
              <a:extLst>
                <a:ext uri="{FF2B5EF4-FFF2-40B4-BE49-F238E27FC236}">
                  <a16:creationId xmlns:a16="http://schemas.microsoft.com/office/drawing/2014/main" id="{FC222BEE-F2B9-E0A6-6B60-49DC4E578E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91762" y="1047503"/>
              <a:ext cx="1471613" cy="101490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A63771-ED83-A9A1-F847-71B5B6397C76}"/>
                </a:ext>
              </a:extLst>
            </p:cNvPr>
            <p:cNvSpPr txBox="1"/>
            <p:nvPr/>
          </p:nvSpPr>
          <p:spPr>
            <a:xfrm>
              <a:off x="10291762" y="2005259"/>
              <a:ext cx="147187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WebGL</a:t>
              </a:r>
              <a:r>
                <a:rPr lang="en-US" altLang="ko-KR" sz="2400" dirty="0">
                  <a:solidFill>
                    <a:srgbClr val="C00000"/>
                  </a:solidFill>
                </a:rPr>
                <a:t>↑</a:t>
              </a:r>
              <a:b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Interactive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2B3C05-5ECD-3E08-4295-77909D85D9C0}"/>
              </a:ext>
            </a:extLst>
          </p:cNvPr>
          <p:cNvSpPr txBox="1"/>
          <p:nvPr/>
        </p:nvSpPr>
        <p:spPr>
          <a:xfrm>
            <a:off x="288295" y="1331774"/>
            <a:ext cx="1139126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GNB</a:t>
            </a:r>
            <a:r>
              <a:rPr lang="ko-KR" altLang="en-US" sz="2800" dirty="0"/>
              <a:t>는 이것이다</a:t>
            </a:r>
            <a:r>
              <a:rPr lang="en-US" altLang="ko-KR" sz="2800" dirty="0"/>
              <a:t>(</a:t>
            </a:r>
            <a:r>
              <a:rPr lang="ko-KR" altLang="en-US" sz="2800" dirty="0" err="1"/>
              <a:t>최상위메뉴바</a:t>
            </a:r>
            <a:r>
              <a:rPr lang="en-US" altLang="ko-KR" sz="2800" dirty="0"/>
              <a:t>)</a:t>
            </a:r>
          </a:p>
          <a:p>
            <a:r>
              <a:rPr lang="ko-KR" altLang="en-US" sz="2800" dirty="0" err="1"/>
              <a:t>메인콘텐츠는</a:t>
            </a:r>
            <a:r>
              <a:rPr lang="ko-KR" altLang="en-US" sz="2800" dirty="0"/>
              <a:t> 이것이다</a:t>
            </a:r>
            <a:r>
              <a:rPr lang="en-US" altLang="ko-KR" sz="2800" dirty="0"/>
              <a:t>(</a:t>
            </a:r>
            <a:r>
              <a:rPr lang="ko-KR" altLang="en-US" sz="2800" dirty="0" err="1"/>
              <a:t>메인페이지</a:t>
            </a:r>
            <a:r>
              <a:rPr lang="ko-KR" altLang="en-US" sz="2800" dirty="0"/>
              <a:t> 구성요소들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*</a:t>
            </a:r>
            <a:r>
              <a:rPr lang="ko-KR" altLang="en-US" sz="2800" dirty="0"/>
              <a:t>참고로 채용은 공지사항 페이지 내부의 채용 공고 누르면 나온다</a:t>
            </a:r>
            <a:r>
              <a:rPr lang="en-US" altLang="ko-KR" sz="2800" dirty="0"/>
              <a:t>*</a:t>
            </a:r>
          </a:p>
          <a:p>
            <a:endParaRPr lang="en-US" altLang="ko-KR" sz="2800" dirty="0"/>
          </a:p>
          <a:p>
            <a:r>
              <a:rPr lang="en-US" altLang="ko-KR" sz="2800" dirty="0"/>
              <a:t>GNB</a:t>
            </a:r>
            <a:r>
              <a:rPr lang="ko-KR" altLang="en-US" sz="2800" dirty="0"/>
              <a:t>는 </a:t>
            </a:r>
            <a:r>
              <a:rPr lang="en-US" altLang="ko-KR" sz="2800" dirty="0"/>
              <a:t>1 </a:t>
            </a:r>
            <a:r>
              <a:rPr lang="ko-KR" altLang="en-US" sz="2800" dirty="0" err="1"/>
              <a:t>뎁스고</a:t>
            </a:r>
            <a:r>
              <a:rPr lang="en-US" altLang="ko-KR" sz="2800" dirty="0"/>
              <a:t>, </a:t>
            </a:r>
            <a:r>
              <a:rPr lang="ko-KR" altLang="en-US" sz="2800" dirty="0"/>
              <a:t>그 아래 </a:t>
            </a:r>
            <a:r>
              <a:rPr lang="en-US" altLang="ko-KR" sz="2800" dirty="0"/>
              <a:t>GNB </a:t>
            </a:r>
            <a:r>
              <a:rPr lang="ko-KR" altLang="en-US" sz="2800" dirty="0"/>
              <a:t>메뉴들은</a:t>
            </a:r>
            <a:r>
              <a:rPr lang="en-US" altLang="ko-KR" sz="2800" dirty="0"/>
              <a:t>(sub) 2 </a:t>
            </a:r>
            <a:r>
              <a:rPr lang="ko-KR" altLang="en-US" sz="2800" dirty="0" err="1"/>
              <a:t>뎁스들이다</a:t>
            </a:r>
            <a:r>
              <a:rPr lang="en-US" altLang="ko-KR" sz="2800" dirty="0"/>
              <a:t>.</a:t>
            </a:r>
          </a:p>
          <a:p>
            <a:r>
              <a:rPr lang="ko-KR" altLang="en-US" sz="2800" dirty="0"/>
              <a:t>서브 메뉴 아래의 </a:t>
            </a:r>
            <a:r>
              <a:rPr lang="ko-KR" altLang="en-US" sz="2800" dirty="0" err="1"/>
              <a:t>여러가지것들은</a:t>
            </a:r>
            <a:r>
              <a:rPr lang="ko-KR" altLang="en-US" sz="2800" dirty="0"/>
              <a:t> 이제 더 </a:t>
            </a:r>
            <a:r>
              <a:rPr lang="ko-KR" altLang="en-US" sz="2800" dirty="0" err="1"/>
              <a:t>깊숙히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있느냐에</a:t>
            </a:r>
            <a:r>
              <a:rPr lang="ko-KR" altLang="en-US" sz="2800" dirty="0"/>
              <a:t> 따라 </a:t>
            </a:r>
            <a:r>
              <a:rPr lang="ko-KR" altLang="en-US" sz="2800" dirty="0" err="1"/>
              <a:t>뎁스가</a:t>
            </a:r>
            <a:r>
              <a:rPr lang="ko-KR" altLang="en-US" sz="2800" dirty="0"/>
              <a:t> 깊어진다</a:t>
            </a:r>
          </a:p>
        </p:txBody>
      </p:sp>
    </p:spTree>
    <p:extLst>
      <p:ext uri="{BB962C8B-B14F-4D97-AF65-F5344CB8AC3E}">
        <p14:creationId xmlns:p14="http://schemas.microsoft.com/office/powerpoint/2010/main" val="7360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212E-751D-D010-FED3-68C576C0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2A0B7-7B1E-3EAC-CD8C-4F4BDDD4A5B6}"/>
              </a:ext>
            </a:extLst>
          </p:cNvPr>
          <p:cNvSpPr txBox="1"/>
          <p:nvPr/>
        </p:nvSpPr>
        <p:spPr>
          <a:xfrm>
            <a:off x="2951549" y="93524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디자인을 참고할 수 있는 레퍼런스들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796CF20-5D6E-E94C-0F38-5D92B08644ED}"/>
              </a:ext>
            </a:extLst>
          </p:cNvPr>
          <p:cNvGrpSpPr/>
          <p:nvPr/>
        </p:nvGrpSpPr>
        <p:grpSpPr>
          <a:xfrm>
            <a:off x="390524" y="844689"/>
            <a:ext cx="5705475" cy="5365611"/>
            <a:chOff x="152400" y="819150"/>
            <a:chExt cx="7410450" cy="708183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0DBDA5D-E892-B4F4-FE65-E99019607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819150"/>
              <a:ext cx="7410450" cy="2266950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90676C3-7AE5-6E84-878F-7B9238883936}"/>
                </a:ext>
              </a:extLst>
            </p:cNvPr>
            <p:cNvGrpSpPr/>
            <p:nvPr/>
          </p:nvGrpSpPr>
          <p:grpSpPr>
            <a:xfrm>
              <a:off x="152400" y="3100387"/>
              <a:ext cx="7362825" cy="4800600"/>
              <a:chOff x="152400" y="3167062"/>
              <a:chExt cx="7362825" cy="4800600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F21E2868-B0CA-7C71-4B19-159E50B7F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" y="3167062"/>
                <a:ext cx="7296150" cy="2447925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4F9F18F1-1EB2-A260-D26D-C85B937B1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0025" y="5614987"/>
                <a:ext cx="7315200" cy="2352675"/>
              </a:xfrm>
              <a:prstGeom prst="rect">
                <a:avLst/>
              </a:prstGeom>
            </p:spPr>
          </p:pic>
        </p:grpSp>
      </p:grpSp>
      <p:sp>
        <p:nvSpPr>
          <p:cNvPr id="14" name="TextBox 13">
            <a:hlinkClick r:id="rId6"/>
            <a:extLst>
              <a:ext uri="{FF2B5EF4-FFF2-40B4-BE49-F238E27FC236}">
                <a16:creationId xmlns:a16="http://schemas.microsoft.com/office/drawing/2014/main" id="{50075F19-FBBC-3E8C-B0EA-11F0EE4DAACE}"/>
              </a:ext>
            </a:extLst>
          </p:cNvPr>
          <p:cNvSpPr txBox="1"/>
          <p:nvPr/>
        </p:nvSpPr>
        <p:spPr>
          <a:xfrm>
            <a:off x="628650" y="61674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16" name="TextBox 15">
            <a:hlinkClick r:id="rId7"/>
            <a:extLst>
              <a:ext uri="{FF2B5EF4-FFF2-40B4-BE49-F238E27FC236}">
                <a16:creationId xmlns:a16="http://schemas.microsoft.com/office/drawing/2014/main" id="{62679DBC-9058-D423-C4EA-B3829C7CB041}"/>
              </a:ext>
            </a:extLst>
          </p:cNvPr>
          <p:cNvSpPr txBox="1"/>
          <p:nvPr/>
        </p:nvSpPr>
        <p:spPr>
          <a:xfrm>
            <a:off x="2436436" y="6058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18" name="TextBox 17">
            <a:hlinkClick r:id="rId8"/>
            <a:extLst>
              <a:ext uri="{FF2B5EF4-FFF2-40B4-BE49-F238E27FC236}">
                <a16:creationId xmlns:a16="http://schemas.microsoft.com/office/drawing/2014/main" id="{E947E015-7872-C453-D3C9-6AC87A67549C}"/>
              </a:ext>
            </a:extLst>
          </p:cNvPr>
          <p:cNvSpPr txBox="1"/>
          <p:nvPr/>
        </p:nvSpPr>
        <p:spPr>
          <a:xfrm>
            <a:off x="4287918" y="6058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20" name="TextBox 19">
            <a:hlinkClick r:id="rId9"/>
            <a:extLst>
              <a:ext uri="{FF2B5EF4-FFF2-40B4-BE49-F238E27FC236}">
                <a16:creationId xmlns:a16="http://schemas.microsoft.com/office/drawing/2014/main" id="{107F4D68-D32E-A405-1910-F44B64D9A53F}"/>
              </a:ext>
            </a:extLst>
          </p:cNvPr>
          <p:cNvSpPr txBox="1"/>
          <p:nvPr/>
        </p:nvSpPr>
        <p:spPr>
          <a:xfrm>
            <a:off x="628650" y="24210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22" name="TextBox 21">
            <a:hlinkClick r:id="rId10"/>
            <a:extLst>
              <a:ext uri="{FF2B5EF4-FFF2-40B4-BE49-F238E27FC236}">
                <a16:creationId xmlns:a16="http://schemas.microsoft.com/office/drawing/2014/main" id="{47F82DF9-97F7-153B-5451-921EB3F926B1}"/>
              </a:ext>
            </a:extLst>
          </p:cNvPr>
          <p:cNvSpPr txBox="1"/>
          <p:nvPr/>
        </p:nvSpPr>
        <p:spPr>
          <a:xfrm>
            <a:off x="2436436" y="24279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24" name="TextBox 23">
            <a:hlinkClick r:id="rId11"/>
            <a:extLst>
              <a:ext uri="{FF2B5EF4-FFF2-40B4-BE49-F238E27FC236}">
                <a16:creationId xmlns:a16="http://schemas.microsoft.com/office/drawing/2014/main" id="{E803C964-9AF5-FFC1-93FD-958C0BE31A30}"/>
              </a:ext>
            </a:extLst>
          </p:cNvPr>
          <p:cNvSpPr txBox="1"/>
          <p:nvPr/>
        </p:nvSpPr>
        <p:spPr>
          <a:xfrm>
            <a:off x="4287918" y="24279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26" name="TextBox 25">
            <a:hlinkClick r:id="rId12"/>
            <a:extLst>
              <a:ext uri="{FF2B5EF4-FFF2-40B4-BE49-F238E27FC236}">
                <a16:creationId xmlns:a16="http://schemas.microsoft.com/office/drawing/2014/main" id="{BF225131-26E3-FF92-60FC-9638DBA02FCB}"/>
              </a:ext>
            </a:extLst>
          </p:cNvPr>
          <p:cNvSpPr txBox="1"/>
          <p:nvPr/>
        </p:nvSpPr>
        <p:spPr>
          <a:xfrm>
            <a:off x="628650" y="42254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28" name="TextBox 27">
            <a:hlinkClick r:id="rId13"/>
            <a:extLst>
              <a:ext uri="{FF2B5EF4-FFF2-40B4-BE49-F238E27FC236}">
                <a16:creationId xmlns:a16="http://schemas.microsoft.com/office/drawing/2014/main" id="{C29EB009-7917-6F3A-6874-0FEB046F5226}"/>
              </a:ext>
            </a:extLst>
          </p:cNvPr>
          <p:cNvSpPr txBox="1"/>
          <p:nvPr/>
        </p:nvSpPr>
        <p:spPr>
          <a:xfrm>
            <a:off x="2436436" y="419279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30" name="TextBox 29">
            <a:hlinkClick r:id="rId14"/>
            <a:extLst>
              <a:ext uri="{FF2B5EF4-FFF2-40B4-BE49-F238E27FC236}">
                <a16:creationId xmlns:a16="http://schemas.microsoft.com/office/drawing/2014/main" id="{034306D0-5DF7-7F2F-C2FD-1C00FE83B6AD}"/>
              </a:ext>
            </a:extLst>
          </p:cNvPr>
          <p:cNvSpPr txBox="1"/>
          <p:nvPr/>
        </p:nvSpPr>
        <p:spPr>
          <a:xfrm>
            <a:off x="4287918" y="42254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인터네트링크</a:t>
            </a:r>
            <a:endParaRPr lang="ko-KR" altLang="en-US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11F313-B9A3-6DD9-4742-205B6485F35A}"/>
              </a:ext>
            </a:extLst>
          </p:cNvPr>
          <p:cNvSpPr txBox="1"/>
          <p:nvPr/>
        </p:nvSpPr>
        <p:spPr>
          <a:xfrm>
            <a:off x="7753350" y="1809750"/>
            <a:ext cx="30498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WebGL </a:t>
            </a:r>
            <a:r>
              <a:rPr lang="ko-KR" altLang="en-US" dirty="0"/>
              <a:t>기반 스크롤 인터랙션</a:t>
            </a:r>
            <a:endParaRPr lang="en-US" altLang="ko-KR" dirty="0"/>
          </a:p>
          <a:p>
            <a:r>
              <a:rPr lang="ko-KR" altLang="en-US" dirty="0"/>
              <a:t>커스텀 포인트 커서 효과</a:t>
            </a:r>
            <a:endParaRPr lang="en-US" altLang="ko-KR" dirty="0"/>
          </a:p>
          <a:p>
            <a:r>
              <a:rPr lang="ko-KR" altLang="en-US" dirty="0" err="1"/>
              <a:t>리퀴드글래스</a:t>
            </a:r>
            <a:r>
              <a:rPr lang="en-US" altLang="ko-KR" dirty="0"/>
              <a:t>(Liquid Glass)</a:t>
            </a:r>
          </a:p>
          <a:p>
            <a:r>
              <a:rPr lang="ko-KR" altLang="en-US" dirty="0"/>
              <a:t>감각적</a:t>
            </a:r>
            <a:endParaRPr lang="en-US" altLang="ko-KR" dirty="0"/>
          </a:p>
          <a:p>
            <a:r>
              <a:rPr lang="ko-KR" altLang="en-US" dirty="0"/>
              <a:t>합리적이고 예측가능한</a:t>
            </a:r>
            <a:endParaRPr lang="en-US" altLang="ko-KR" dirty="0"/>
          </a:p>
          <a:p>
            <a:r>
              <a:rPr lang="ko-KR" altLang="en-US" dirty="0"/>
              <a:t>사이트 사용흐름전개</a:t>
            </a:r>
            <a:r>
              <a:rPr lang="en-US" altLang="ko-KR" dirty="0"/>
              <a:t>(UX)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7E1ABC-DF11-73B1-C72B-C86B8A623887}"/>
              </a:ext>
            </a:extLst>
          </p:cNvPr>
          <p:cNvSpPr txBox="1"/>
          <p:nvPr/>
        </p:nvSpPr>
        <p:spPr>
          <a:xfrm>
            <a:off x="8955121" y="14404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nPCheonRiMaChe SB" panose="02010600000101010101" pitchFamily="2" charset="-120"/>
                <a:ea typeface="PnPCheonRiMaChe SB" panose="02010600000101010101" pitchFamily="2" charset="-120"/>
              </a:rPr>
              <a:t>중요</a:t>
            </a:r>
          </a:p>
        </p:txBody>
      </p:sp>
    </p:spTree>
    <p:extLst>
      <p:ext uri="{BB962C8B-B14F-4D97-AF65-F5344CB8AC3E}">
        <p14:creationId xmlns:p14="http://schemas.microsoft.com/office/powerpoint/2010/main" val="4292657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F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C2278-D8A4-CB9D-BFC4-01308C2D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9823-C89B-D355-485D-5525653F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743" y="2375693"/>
            <a:ext cx="7176513" cy="1967707"/>
          </a:xfrm>
        </p:spPr>
        <p:txBody>
          <a:bodyPr>
            <a:noAutofit/>
          </a:bodyPr>
          <a:lstStyle/>
          <a:p>
            <a:pPr algn="ctr"/>
            <a:r>
              <a:rPr lang="ko-KR" altLang="en-US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디자인 레퍼런스 찾기</a:t>
            </a:r>
            <a:br>
              <a:rPr lang="en-US" altLang="ko-KR" sz="5001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</a:b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(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각 </a:t>
            </a:r>
            <a:r>
              <a:rPr lang="ko-KR" altLang="en-US" sz="18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여섯개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</a:t>
            </a:r>
            <a:r>
              <a:rPr lang="ko-KR" altLang="en-US" sz="18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메인콘텐츠들은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자기와 같은 결의 서브페이지로 이끌어갈 힘이 있어야 한다</a:t>
            </a: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.ex: 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여섯째 </a:t>
            </a:r>
            <a:r>
              <a:rPr lang="ko-KR" altLang="en-US" sz="18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같은 경우에는 </a:t>
            </a: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&lt;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세종문화회관</a:t>
            </a: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&gt; 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혹은 그 산하 서브페이지에 </a:t>
            </a:r>
            <a:r>
              <a:rPr lang="ko-KR" altLang="en-US" sz="18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보는이로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하여금 접근 가능토록 하는 </a:t>
            </a: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CTA</a:t>
            </a:r>
            <a:r>
              <a:rPr lang="ko-KR" altLang="en-US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적 요소가 반드시 </a:t>
            </a:r>
            <a:r>
              <a:rPr lang="ko-KR" altLang="en-US" sz="18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있어야한다</a:t>
            </a:r>
            <a:r>
              <a:rPr lang="en-US" altLang="ko-KR" sz="18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.</a:t>
            </a:r>
            <a:endParaRPr lang="ko-KR" altLang="en-US" sz="1800" dirty="0"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4491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1EB82-956B-A2BB-9717-53FE4618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A9F7B94-BA61-9CB3-E59B-C37E8376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3F14D-B36D-EDC3-73E6-E345295AC621}"/>
              </a:ext>
            </a:extLst>
          </p:cNvPr>
          <p:cNvSpPr txBox="1"/>
          <p:nvPr/>
        </p:nvSpPr>
        <p:spPr>
          <a:xfrm>
            <a:off x="154779" y="986632"/>
            <a:ext cx="5396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nPCheonRiMaChe SB" panose="02010600000101010101" pitchFamily="2" charset="-120"/>
                <a:ea typeface="PnPCheonRiMaChe SB" panose="02010600000101010101" pitchFamily="2" charset="-120"/>
              </a:rPr>
              <a:t>① 이번달의 문화예술 - 핵심 발견</a:t>
            </a:r>
            <a:endParaRPr lang="en-US" altLang="ko-KR" sz="2000" dirty="0">
              <a:latin typeface="PnPCheonRiMaChe SB" panose="02010600000101010101" pitchFamily="2" charset="-120"/>
              <a:ea typeface="PnPCheonRiMaChe SB" panose="02010600000101010101" pitchFamily="2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39855-4C6B-4E8E-443A-10276D9CE65D}"/>
              </a:ext>
            </a:extLst>
          </p:cNvPr>
          <p:cNvSpPr txBox="1"/>
          <p:nvPr/>
        </p:nvSpPr>
        <p:spPr>
          <a:xfrm>
            <a:off x="154781" y="1386742"/>
            <a:ext cx="1175147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단일 히어로 슬라이드 배너 레퍼런스 디자인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(</a:t>
            </a:r>
            <a:r>
              <a:rPr lang="ko-KR" altLang="en-US" sz="2000" dirty="0">
                <a:hlinkClick r:id="rId2"/>
              </a:rPr>
              <a:t>한국교통대</a:t>
            </a:r>
            <a:r>
              <a:rPr lang="en-US" altLang="ko-KR" sz="2000" dirty="0"/>
              <a:t>, </a:t>
            </a:r>
            <a:r>
              <a:rPr lang="ko-KR" altLang="en-US" sz="2000" dirty="0"/>
              <a:t>생동감 넘치는 동영상 단일 히어로</a:t>
            </a:r>
            <a:r>
              <a:rPr lang="en-US" altLang="ko-KR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(</a:t>
            </a:r>
            <a:r>
              <a:rPr lang="ko-KR" altLang="en-US" sz="2000" dirty="0" err="1">
                <a:hlinkClick r:id="rId3"/>
              </a:rPr>
              <a:t>원강금속</a:t>
            </a:r>
            <a:r>
              <a:rPr lang="en-US" altLang="ko-KR" sz="2000" dirty="0"/>
              <a:t>, </a:t>
            </a:r>
            <a:r>
              <a:rPr lang="ko-KR" altLang="en-US" sz="2000" dirty="0"/>
              <a:t>좌측의 </a:t>
            </a:r>
            <a:r>
              <a:rPr lang="en-US" altLang="ko-KR" sz="2000" dirty="0"/>
              <a:t>‘NEXT &gt;’</a:t>
            </a:r>
            <a:r>
              <a:rPr lang="ko-KR" altLang="en-US" sz="2000" dirty="0"/>
              <a:t>눌러야 넘어가는 수동 전환 인터랙션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(</a:t>
            </a:r>
            <a:r>
              <a:rPr lang="ko-KR" altLang="en-US" sz="2000" dirty="0">
                <a:hlinkClick r:id="rId4"/>
              </a:rPr>
              <a:t>우리은행 소개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생동감있는</a:t>
            </a:r>
            <a:r>
              <a:rPr lang="ko-KR" altLang="en-US" sz="2000" dirty="0"/>
              <a:t> 홍보 동영상 단일 히어로</a:t>
            </a:r>
            <a:r>
              <a:rPr lang="en-US" altLang="ko-KR" sz="2000" dirty="0"/>
              <a:t>, </a:t>
            </a:r>
            <a:r>
              <a:rPr lang="ko-KR" altLang="en-US" sz="2000" dirty="0"/>
              <a:t>히어로 자체에 </a:t>
            </a:r>
            <a:r>
              <a:rPr lang="en-US" altLang="ko-KR" sz="2000" dirty="0"/>
              <a:t>Radius </a:t>
            </a:r>
            <a:r>
              <a:rPr lang="ko-KR" altLang="en-US" sz="2000" dirty="0"/>
              <a:t>가 적용되어 있고 </a:t>
            </a:r>
            <a:r>
              <a:rPr lang="en-US" altLang="ko-KR" sz="2000" dirty="0"/>
              <a:t>GNB </a:t>
            </a:r>
            <a:r>
              <a:rPr lang="ko-KR" altLang="en-US" sz="2000" dirty="0"/>
              <a:t>섹션과의   매치가 </a:t>
            </a:r>
            <a:r>
              <a:rPr lang="ko-KR" altLang="en-US" sz="2000" dirty="0" err="1"/>
              <a:t>조화로워보임</a:t>
            </a:r>
            <a:r>
              <a:rPr lang="en-US" altLang="ko-KR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(</a:t>
            </a:r>
            <a:r>
              <a:rPr lang="ko-KR" altLang="en-US" sz="2000" dirty="0">
                <a:hlinkClick r:id="rId5"/>
              </a:rPr>
              <a:t>엠넷 플러스</a:t>
            </a:r>
            <a:r>
              <a:rPr lang="en-US" altLang="ko-KR" sz="2000" dirty="0"/>
              <a:t>, </a:t>
            </a:r>
            <a:r>
              <a:rPr lang="ko-KR" altLang="en-US" sz="2000" dirty="0"/>
              <a:t>한번에 하나만 보여주는 히어로 슬라이드 배너</a:t>
            </a:r>
            <a:r>
              <a:rPr lang="en-US" altLang="ko-KR" sz="2000" dirty="0"/>
              <a:t>, </a:t>
            </a:r>
            <a:r>
              <a:rPr lang="ko-KR" altLang="en-US" sz="2000" dirty="0"/>
              <a:t>양측면에서 전후의 배너를 살짝 보여주며 사용자에게 다음 배너</a:t>
            </a:r>
            <a:r>
              <a:rPr lang="en-US" altLang="ko-KR" sz="2000" dirty="0"/>
              <a:t>(</a:t>
            </a:r>
            <a:r>
              <a:rPr lang="ko-KR" altLang="en-US" sz="2000" dirty="0"/>
              <a:t>정보</a:t>
            </a:r>
            <a:r>
              <a:rPr lang="en-US" altLang="ko-KR" sz="2000" dirty="0"/>
              <a:t>)</a:t>
            </a:r>
            <a:r>
              <a:rPr lang="ko-KR" altLang="en-US" sz="2000" dirty="0"/>
              <a:t>가 있다는 것을 어필하며 기대감 불러오는듯</a:t>
            </a:r>
            <a:r>
              <a:rPr lang="en-US" altLang="ko-KR" sz="2000" dirty="0"/>
              <a:t>. </a:t>
            </a:r>
            <a:r>
              <a:rPr lang="ko-KR" altLang="en-US" sz="2000" dirty="0"/>
              <a:t>배너의 세로 종단 길이가 괜찮게 짧아 과도한 화면 차지 </a:t>
            </a:r>
            <a:r>
              <a:rPr lang="ko-KR" altLang="en-US" sz="2000" dirty="0" err="1"/>
              <a:t>안하는</a:t>
            </a:r>
            <a:r>
              <a:rPr lang="ko-KR" altLang="en-US" sz="2000" dirty="0"/>
              <a:t> 듯</a:t>
            </a:r>
            <a:r>
              <a:rPr lang="en-US" altLang="ko-KR" sz="2000" dirty="0"/>
              <a:t>.)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(</a:t>
            </a:r>
            <a:r>
              <a:rPr lang="ko-KR" altLang="ko-KR" b="1" dirty="0">
                <a:hlinkClick r:id="rId6"/>
              </a:rPr>
              <a:t>우리은행 </a:t>
            </a:r>
            <a:r>
              <a:rPr lang="ko-KR" altLang="ko-KR" b="1" dirty="0" err="1">
                <a:hlinkClick r:id="rId6"/>
              </a:rPr>
              <a:t>OpenAPI</a:t>
            </a:r>
            <a:r>
              <a:rPr lang="ko-KR" altLang="ko-KR" b="1" dirty="0">
                <a:hlinkClick r:id="rId6"/>
              </a:rPr>
              <a:t> 이음</a:t>
            </a:r>
            <a:r>
              <a:rPr lang="en-US" altLang="ko-KR" b="1" dirty="0"/>
              <a:t>, </a:t>
            </a:r>
            <a:r>
              <a:rPr lang="ko-KR" altLang="en-US" b="1" dirty="0"/>
              <a:t>슬라이드 인터랙션 없는 단일 히어로</a:t>
            </a:r>
            <a:r>
              <a:rPr lang="en-US" altLang="ko-KR" b="1" dirty="0"/>
              <a:t>,</a:t>
            </a:r>
          </a:p>
          <a:p>
            <a:r>
              <a:rPr lang="en-US" altLang="ko-KR" sz="2000" b="1" dirty="0"/>
              <a:t>        </a:t>
            </a:r>
            <a:r>
              <a:rPr lang="ko-KR" altLang="en-US" sz="2000" b="1" dirty="0"/>
              <a:t>다만 </a:t>
            </a:r>
            <a:r>
              <a:rPr lang="ko-KR" altLang="en-US" sz="2000" b="1" dirty="0" err="1"/>
              <a:t>레이어상으로</a:t>
            </a:r>
            <a:r>
              <a:rPr lang="ko-KR" altLang="en-US" sz="2000" b="1" dirty="0"/>
              <a:t> 히어로 위에 제목과 스퀘어 버튼 요소들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개 있고</a:t>
            </a:r>
            <a:r>
              <a:rPr lang="en-US" altLang="ko-KR" sz="2000" b="1" dirty="0"/>
              <a:t>, 3</a:t>
            </a:r>
            <a:r>
              <a:rPr lang="ko-KR" altLang="en-US" sz="2000" b="1" dirty="0"/>
              <a:t>개의 사각형들을 누르면</a:t>
            </a:r>
            <a:endParaRPr lang="en-US" altLang="ko-KR" sz="2000" b="1" dirty="0"/>
          </a:p>
          <a:p>
            <a:r>
              <a:rPr lang="en-US" altLang="ko-KR" sz="2000" b="1" dirty="0"/>
              <a:t>        </a:t>
            </a:r>
            <a:r>
              <a:rPr lang="ko-KR" altLang="en-US" sz="2000" b="1" dirty="0" err="1"/>
              <a:t>클로징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인</a:t>
            </a:r>
            <a:r>
              <a:rPr lang="en-US" altLang="ko-KR" sz="2000" b="1" dirty="0"/>
              <a:t>&amp;</a:t>
            </a:r>
            <a:r>
              <a:rPr lang="ko-KR" altLang="en-US" sz="2000" b="1" dirty="0" err="1"/>
              <a:t>페이드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인 방식으로 전환 인터랙션이 일어난다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이것이 신선한 전환으로 보였고</a:t>
            </a:r>
            <a:r>
              <a:rPr lang="en-US" altLang="ko-KR" sz="2000" b="1" dirty="0"/>
              <a:t>,</a:t>
            </a:r>
          </a:p>
          <a:p>
            <a:r>
              <a:rPr lang="en-US" altLang="ko-KR" sz="2000" b="1" dirty="0"/>
              <a:t>        </a:t>
            </a:r>
            <a:r>
              <a:rPr lang="ko-KR" altLang="en-US" sz="2000" b="1" dirty="0"/>
              <a:t>또한 저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개의 사각형 자리에 예매하기 및 시간정보를 보여주는 정보안내 요소로 활용이 </a:t>
            </a:r>
            <a:r>
              <a:rPr lang="ko-KR" altLang="en-US" sz="2000" b="1" dirty="0" err="1"/>
              <a:t>가능할수도</a:t>
            </a:r>
            <a:r>
              <a:rPr lang="en-US" altLang="ko-KR" sz="2000" dirty="0"/>
              <a:t>)</a:t>
            </a:r>
          </a:p>
          <a:p>
            <a:pPr marL="457200" indent="-457200">
              <a:buAutoNum type="arabicPeriod" startAt="6"/>
            </a:pPr>
            <a:r>
              <a:rPr lang="en-US" altLang="ko-KR" sz="2000" dirty="0"/>
              <a:t>(</a:t>
            </a:r>
            <a:r>
              <a:rPr lang="ko-KR" altLang="en-US" sz="2000" dirty="0" err="1">
                <a:hlinkClick r:id="rId7"/>
              </a:rPr>
              <a:t>뷰웰의원</a:t>
            </a:r>
            <a:r>
              <a:rPr lang="en-US" altLang="ko-KR" sz="2000" dirty="0"/>
              <a:t>, </a:t>
            </a:r>
            <a:r>
              <a:rPr lang="ko-KR" altLang="en-US" sz="2000" dirty="0"/>
              <a:t>한번에 하나씩만 보여주는 단일 슬라이드</a:t>
            </a:r>
            <a:endParaRPr lang="en-US" altLang="ko-KR" sz="2000" dirty="0"/>
          </a:p>
          <a:p>
            <a:r>
              <a:rPr lang="en-US" altLang="ko-KR" sz="2000" dirty="0"/>
              <a:t>        </a:t>
            </a:r>
            <a:r>
              <a:rPr lang="ko-KR" altLang="en-US" sz="2000" dirty="0"/>
              <a:t>배너 히어로</a:t>
            </a:r>
            <a:r>
              <a:rPr lang="en-US" altLang="ko-KR" sz="2000" dirty="0"/>
              <a:t>(</a:t>
            </a:r>
            <a:r>
              <a:rPr lang="ko-KR" altLang="en-US" sz="2000" dirty="0"/>
              <a:t>가 </a:t>
            </a:r>
            <a:r>
              <a:rPr lang="en-US" altLang="ko-KR" sz="2000" dirty="0"/>
              <a:t>3</a:t>
            </a:r>
            <a:r>
              <a:rPr lang="ko-KR" altLang="en-US" sz="2000" dirty="0" err="1"/>
              <a:t>개있다</a:t>
            </a:r>
            <a:r>
              <a:rPr lang="en-US" altLang="ko-KR" sz="2000" dirty="0"/>
              <a:t>. </a:t>
            </a:r>
            <a:r>
              <a:rPr lang="ko-KR" altLang="en-US" sz="2000" dirty="0"/>
              <a:t>동시에 작동</a:t>
            </a:r>
            <a:r>
              <a:rPr lang="en-US" altLang="ko-KR" sz="2000" dirty="0"/>
              <a:t>. </a:t>
            </a:r>
            <a:r>
              <a:rPr lang="ko-KR" altLang="en-US" sz="2000" dirty="0"/>
              <a:t>수동 클릭으로 전환되며</a:t>
            </a:r>
            <a:r>
              <a:rPr lang="en-US" altLang="ko-KR" sz="2000" dirty="0"/>
              <a:t>, </a:t>
            </a:r>
            <a:r>
              <a:rPr lang="ko-KR" altLang="en-US" sz="2000" dirty="0"/>
              <a:t>각각 서로 다른 이미지</a:t>
            </a:r>
            <a:r>
              <a:rPr lang="en-US" altLang="ko-KR" sz="2000" dirty="0"/>
              <a:t>(</a:t>
            </a:r>
            <a:r>
              <a:rPr lang="ko-KR" altLang="en-US" sz="2000" dirty="0"/>
              <a:t>정보</a:t>
            </a:r>
            <a:r>
              <a:rPr lang="en-US" altLang="ko-KR" sz="2000" dirty="0"/>
              <a:t>)</a:t>
            </a:r>
            <a:r>
              <a:rPr lang="ko-KR" altLang="en-US" sz="2000" dirty="0"/>
              <a:t>를 보여주고</a:t>
            </a:r>
            <a:endParaRPr lang="en-US" altLang="ko-KR" sz="2000" dirty="0"/>
          </a:p>
          <a:p>
            <a:r>
              <a:rPr lang="en-US" altLang="ko-KR" sz="2000" dirty="0"/>
              <a:t>        </a:t>
            </a:r>
            <a:r>
              <a:rPr lang="ko-KR" altLang="en-US" sz="2000" dirty="0"/>
              <a:t>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몇가지 배너 섹션에는 제목 등 텍스트 요소도 </a:t>
            </a:r>
            <a:r>
              <a:rPr lang="ko-KR" altLang="en-US" sz="2000" dirty="0" err="1"/>
              <a:t>있어보인다</a:t>
            </a:r>
            <a:r>
              <a:rPr lang="en-US" altLang="ko-KR" sz="2000" dirty="0"/>
              <a:t>. </a:t>
            </a:r>
            <a:r>
              <a:rPr lang="ko-KR" altLang="en-US" sz="2000" dirty="0"/>
              <a:t>이것을 프로그램 정보와 티켓오픈 시간 등</a:t>
            </a:r>
            <a:endParaRPr lang="en-US" altLang="ko-KR" sz="2000" dirty="0"/>
          </a:p>
          <a:p>
            <a:r>
              <a:rPr lang="en-US" altLang="ko-KR" sz="2000" dirty="0"/>
              <a:t>        </a:t>
            </a:r>
            <a:r>
              <a:rPr lang="ko-KR" altLang="en-US" sz="2000" dirty="0"/>
              <a:t>정보안내 </a:t>
            </a:r>
            <a:r>
              <a:rPr lang="ko-KR" altLang="en-US" sz="2000" dirty="0" err="1"/>
              <a:t>섹션으로도</a:t>
            </a:r>
            <a:r>
              <a:rPr lang="ko-KR" altLang="en-US" sz="2000" dirty="0"/>
              <a:t> 잘 활용할 수 </a:t>
            </a:r>
            <a:r>
              <a:rPr lang="ko-KR" altLang="en-US" sz="2000" dirty="0" err="1"/>
              <a:t>있을듯</a:t>
            </a:r>
            <a:r>
              <a:rPr lang="en-US" altLang="ko-KR" sz="2000" dirty="0"/>
              <a:t>. </a:t>
            </a:r>
            <a:r>
              <a:rPr lang="ko-KR" altLang="en-US" sz="2000" dirty="0"/>
              <a:t>히어로는 하나인데 배너 섹션은 </a:t>
            </a:r>
            <a:r>
              <a:rPr lang="en-US" altLang="ko-KR" sz="2000" dirty="0"/>
              <a:t>3</a:t>
            </a:r>
            <a:r>
              <a:rPr lang="ko-KR" altLang="en-US" sz="2000" dirty="0"/>
              <a:t>개</a:t>
            </a:r>
            <a:r>
              <a:rPr lang="en-US" altLang="ko-KR" sz="2000" dirty="0"/>
              <a:t>) </a:t>
            </a:r>
          </a:p>
          <a:p>
            <a:r>
              <a:rPr lang="en-US" altLang="ko-KR" sz="2000" dirty="0">
                <a:solidFill>
                  <a:prstClr val="black"/>
                </a:solidFill>
              </a:rPr>
              <a:t>7.    (</a:t>
            </a:r>
            <a:r>
              <a:rPr lang="en-US" altLang="ko-KR" sz="2000" dirty="0">
                <a:solidFill>
                  <a:prstClr val="black"/>
                </a:solidFill>
                <a:hlinkClick r:id="rId8"/>
              </a:rPr>
              <a:t>CJ 4D PLEX</a:t>
            </a:r>
            <a:r>
              <a:rPr lang="en-US" altLang="ko-KR" sz="2000" dirty="0">
                <a:solidFill>
                  <a:prstClr val="black"/>
                </a:solidFill>
              </a:rPr>
              <a:t>, ‘Connecting the world through diverse entertainment’)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C938B-B4A6-CEFA-E2F7-529495E9A455}"/>
              </a:ext>
            </a:extLst>
          </p:cNvPr>
          <p:cNvSpPr txBox="1"/>
          <p:nvPr/>
        </p:nvSpPr>
        <p:spPr>
          <a:xfrm>
            <a:off x="154780" y="586522"/>
            <a:ext cx="3678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err="1">
                <a:latin typeface="PnPCheonRiMaChe SB" panose="02010600000101010101" pitchFamily="2" charset="-120"/>
                <a:ea typeface="PnPCheonRiMaChe SB" panose="02010600000101010101" pitchFamily="2" charset="-120"/>
              </a:rPr>
              <a:t>메인콘텐츠</a:t>
            </a:r>
            <a:r>
              <a:rPr lang="ko-KR" altLang="en-US" sz="2000" dirty="0">
                <a:latin typeface="PnPCheonRiMaChe SB" panose="02010600000101010101" pitchFamily="2" charset="-120"/>
                <a:ea typeface="PnPCheonRiMaChe SB" panose="02010600000101010101" pitchFamily="2" charset="-120"/>
              </a:rPr>
              <a:t>             </a:t>
            </a:r>
            <a:r>
              <a:rPr lang="en-US" altLang="ko-KR" sz="2000" dirty="0">
                <a:latin typeface="PnPCheonRiMaChe SB" panose="02010600000101010101" pitchFamily="2" charset="-120"/>
                <a:ea typeface="PnPCheonRiMaChe SB" panose="02010600000101010101" pitchFamily="2" charset="-120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2150225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96D31-E571-6DC9-1FC9-628BD1C5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4029E6D-0EA7-5BFB-DEEE-33CED175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C0B38-ECC0-7527-2ECA-DB08E5865E07}"/>
              </a:ext>
            </a:extLst>
          </p:cNvPr>
          <p:cNvSpPr txBox="1"/>
          <p:nvPr/>
        </p:nvSpPr>
        <p:spPr>
          <a:xfrm>
            <a:off x="154779" y="986632"/>
            <a:ext cx="5396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① 이번달의 문화예술 - 핵심 발견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nPCheonRiMaChe SB" panose="02010600000101010101" pitchFamily="2" charset="-120"/>
              <a:ea typeface="PnPCheonRiMaChe SB" panose="02010600000101010101" pitchFamily="2" charset="-12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8CE5C-987B-C645-A690-FFF94B53BB79}"/>
              </a:ext>
            </a:extLst>
          </p:cNvPr>
          <p:cNvSpPr txBox="1"/>
          <p:nvPr/>
        </p:nvSpPr>
        <p:spPr>
          <a:xfrm>
            <a:off x="154781" y="1386742"/>
            <a:ext cx="117514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단일 히어로 슬라이드 배너 레퍼런스 디자인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8.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2"/>
              </a:rPr>
              <a:t>대한민국 청와대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히어로 및 히어로의 우측 사이드 패널 성격의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등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 섹션이 다음을 잘 구현할 수 있을 거라 판단했다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&lt;&lt;-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우측에는 현재시간과 다음 티켓오픈 시각을 보여주는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Liquid Glass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보조 영역 배치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&gt;&gt;)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9.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3"/>
              </a:rPr>
              <a:t>노랑풍선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중국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홍콩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대만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단독특가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최대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25%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즉시할인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!’,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노랑풍선 감사 페스티벌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OPEN!’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 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티켓오픈 등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타임인포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시간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정보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기타 뭐 현재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Hot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한 정보나 프로그램이나 기타 등등을 표시하기 좋아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693293-F811-EC3D-0B24-3F66AD98B956}"/>
              </a:ext>
            </a:extLst>
          </p:cNvPr>
          <p:cNvSpPr txBox="1"/>
          <p:nvPr/>
        </p:nvSpPr>
        <p:spPr>
          <a:xfrm>
            <a:off x="154780" y="586522"/>
            <a:ext cx="3678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583165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B334E-5087-8681-2875-A6A4637F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5D5BD0C-2A3C-3EE2-882C-A23ED72B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78749-4732-F2C3-B0BA-1197C9DD9B37}"/>
              </a:ext>
            </a:extLst>
          </p:cNvPr>
          <p:cNvSpPr txBox="1"/>
          <p:nvPr/>
        </p:nvSpPr>
        <p:spPr>
          <a:xfrm>
            <a:off x="154779" y="986632"/>
            <a:ext cx="5396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②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Quick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예매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빠른 탐색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예매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B0A21-52B6-9A78-3F0F-D6EFDDEC5DDB}"/>
              </a:ext>
            </a:extLst>
          </p:cNvPr>
          <p:cNvSpPr txBox="1"/>
          <p:nvPr/>
        </p:nvSpPr>
        <p:spPr>
          <a:xfrm>
            <a:off x="154781" y="1386742"/>
            <a:ext cx="117514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캘린더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선택 일자의 정보를 나란히 보여주는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1. 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2"/>
              </a:rPr>
              <a:t>몽키트래블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위계는 다르지만 그래도 캘린더 요소가 존재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상당히 변형하여 참고해야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할듯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2.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3"/>
              </a:rPr>
              <a:t>인덕대학교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학사일정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페이지에 캘린더들이 존재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월별로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가로로 긴 카드형태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좌측 캘린더 우측 정보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텍스트만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일자를 선택하면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호버적인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요소가 나오며 그 안에서 일자에 해당하는 이벤트를 보여줌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일정을 보고 빠른 예매를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하는데에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잘 쓸 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있을듯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배치와 전체적 골격을 제외하곤 편집을 거쳐야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활용할만할듯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3. (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SBS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골프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ko-KR" sz="2000" b="1" dirty="0"/>
              <a:t>응원선수 투표하기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과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‘KLPGA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리더보드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전체적으로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미니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캘린더로 일정을 빠르게 확인하고 최단에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빠르게 예매를 및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빠른탐색을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유도할수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있을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투표하러 가기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등 명확한 자체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가 있고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 내부 배치 및 구성요소의 편집을 거쳐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메인콘텐츠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섹션에 잘 활용할 수 있어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4.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5"/>
              </a:rPr>
              <a:t>춘천시의회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의사일정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 섹션의 구조를 일부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참고할수도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있을 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5.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6"/>
              </a:rPr>
              <a:t>강진군문화관광재단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예약유형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아래의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날짜선택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UI. &lt;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전남음악창작소 대연습실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등 프로그램 정보안내 텍스트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&amp;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미디어 등이 있는 카드의 배치를 이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와 함께하게 하고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디자인을 조금 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Radius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둥글고 부드럽게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하는등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꽤 수정하고 다듬으면 본 두번째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메인콘텐츠를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잘 제작하고 구성할 수 있을 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 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6. 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7"/>
              </a:rPr>
              <a:t>아트빌라스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‘Special Offers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스페셜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오퍼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주요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3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개의 프로그램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상품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을 보여주고 있으며 전체보기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적임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도 있음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“Quick”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한 경험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(UX)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보장해야한다는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이 두번째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메인콘텐츠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섹션의 소명과 역할을 잘 나타내고 진행할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992DB-6D26-19A7-F443-A66ED8445B48}"/>
              </a:ext>
            </a:extLst>
          </p:cNvPr>
          <p:cNvSpPr txBox="1"/>
          <p:nvPr/>
        </p:nvSpPr>
        <p:spPr>
          <a:xfrm>
            <a:off x="154781" y="586522"/>
            <a:ext cx="2847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1830986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533A1-2163-472F-B8D7-4E0CA3AE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F30E795-B0F6-E3FF-D8AE-2B13AC9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F4F77-20F3-EBA5-548F-799777684B7D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③ 프로그램 탐색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공연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전시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교육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기획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/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시즌 프로그램 전체 탐색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956F1-3CBB-3D3E-128D-BF8DAA9AEFB2}"/>
              </a:ext>
            </a:extLst>
          </p:cNvPr>
          <p:cNvSpPr txBox="1"/>
          <p:nvPr/>
        </p:nvSpPr>
        <p:spPr>
          <a:xfrm>
            <a:off x="154781" y="1386742"/>
            <a:ext cx="1175147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카드형 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좌우로 사용자가 슬라이딩 조작 가능하게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 상단에 각 목록의 버튼 존재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1. 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2"/>
              </a:rPr>
              <a:t>뉴오리진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다양한 세로 배너들이 존재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한번에 여러가지를 보여줌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레이어상 위로 은은한 검은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그라디언트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 하 단에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세로배너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넘김에 따라 우측으로 차오르는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프로그래스바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요소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히어로에 위치함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또는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뉴오리진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사이트의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연령대 별 맞춤상품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‘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섹션같이 디자인 해도 괜찮을 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혹은 이 둘이 믹스한 디자인을 해도 좋을 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2.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3"/>
              </a:rPr>
              <a:t>현대자동차그룹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현대자동차그룹이 이끄는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미래를 만나다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인 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참고 가치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있어보임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스크롤 다운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3.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네이버 클라우드 플랫폼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전시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행사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프로그램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캠페인 안내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Tip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등 이러한 정보안내에 특화된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네이버 클라우드 플랫폼의 최신 소식을 확인하세요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부분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4. 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5"/>
              </a:rPr>
              <a:t>그린카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그린카가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전하는 최신 뉴스를 만나보세요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소식 제공용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단순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심플의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미학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5. (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6"/>
              </a:rPr>
              <a:t>Melius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‘One subscription. Every image &amp; video model.’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섹션과 그 바로 위의 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위는 꽤 수정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아래는 조금만 손보면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고급스러면서도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전체 행사를 탐색하는데 꽤 나쁘지 않을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6.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7"/>
              </a:rPr>
              <a:t>노랑풍선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히어로에 위치한 세로 배너 슬라이드 히어로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DCE1F-B645-4FC7-9228-BC47057AAEFB}"/>
              </a:ext>
            </a:extLst>
          </p:cNvPr>
          <p:cNvSpPr txBox="1"/>
          <p:nvPr/>
        </p:nvSpPr>
        <p:spPr>
          <a:xfrm>
            <a:off x="154781" y="586522"/>
            <a:ext cx="3188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1299218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801F5-62BA-45AF-8D9F-18E66ABF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25C639C-554E-72DC-5331-2704B92A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9B810-B8B8-7F94-CDED-807F6AEB3D62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④ 이용 안내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방문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관람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·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시설 이용 지원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657F4-ACE5-9B15-9238-8F749821444F}"/>
              </a:ext>
            </a:extLst>
          </p:cNvPr>
          <p:cNvSpPr txBox="1"/>
          <p:nvPr/>
        </p:nvSpPr>
        <p:spPr>
          <a:xfrm>
            <a:off x="154781" y="1386742"/>
            <a:ext cx="117514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여러 비슷한 성격의 관련 정보를 한곳에서 접근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보는것도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접근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할 수 있도록 하는 디자인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1.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2"/>
              </a:rPr>
              <a:t>이와이드플러스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en-US" altLang="ko-KR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eWIDEPLUS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AI Platform &amp; Services’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 참고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사각형 내부에 제목 등 여러 텍스트와 미디어 위치 자리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미디어 자리에 지도 화면이나 약도를 넣고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아래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버튼을 수정해서 쓰는 등이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가능할듯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미디어 자리 위치를 세부적으로 나누어 요소를 배치하거나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버튼을 기존 활용 및 추가해서 이 섹션의 활용이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가능할듯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2.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3"/>
              </a:rPr>
              <a:t>인덕대학교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‘INDUK IN’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잘 편집하고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오마주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해서 이용 안내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이용정보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제공인 본연의 임무를 잘 다 할 수 있을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3.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4"/>
              </a:rPr>
              <a:t>더라운지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편안한 여행의 시작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공항라운지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 섹션을 구성하는 요소의 형태를 다른 것으로 하거나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미디어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&lt;-&gt;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텍스트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해시태그 요소를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적 버튼 요소로 하는 등 조금의 작업을 거치면 빠르게 이용관련정보를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볼수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섹션이 될 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4.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5"/>
              </a:rPr>
              <a:t>노랑풍선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‘Yellow Series’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2x2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즉 전체적인 섹션의 모습이 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아래 각각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2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개 카드인 형태이며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각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4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개 개별 카드에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호버시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카드가 뒤집어지는 부드러운 전환 인터랙션으로 핵심적인 짧은 정보가 보이며 그 안에 상세하게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볼수있도록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성격의 버튼이 있다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이러한 것은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보는이에게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소소한 재미와 좋은 경험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(UX)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를 선사하며 더 깊게 끌어들이는 효과가 있다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.(CTA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적인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5.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6"/>
              </a:rPr>
              <a:t>아트빌라스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‘REWARDS Member Benefits’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정적인 카드들이 가로로 길게 모인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카드바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형태이며 비슷한 류의 정보들을 하나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나타내기가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참고 가치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7991F-8EC4-396D-E8A6-41CFD6963299}"/>
              </a:ext>
            </a:extLst>
          </p:cNvPr>
          <p:cNvSpPr txBox="1"/>
          <p:nvPr/>
        </p:nvSpPr>
        <p:spPr>
          <a:xfrm>
            <a:off x="154781" y="586522"/>
            <a:ext cx="259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3850391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C573B-32D1-C123-D681-F63142C7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238E9C-D02B-7CBA-2B0F-D4BD327C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09D77-C8CA-2774-1995-6188603CB58B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⑤ 세종의 소식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&amp;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참여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소식 확인과 지속적인 관계 형성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F57F0-B254-AF79-6A6D-D4DAF77EA78E}"/>
              </a:ext>
            </a:extLst>
          </p:cNvPr>
          <p:cNvSpPr txBox="1"/>
          <p:nvPr/>
        </p:nvSpPr>
        <p:spPr>
          <a:xfrm>
            <a:off x="154781" y="1386742"/>
            <a:ext cx="1175147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소식 확인과 지속적인 관계 형성의 소임을 다하는 섹션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UI.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컨텐츠에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접근할수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있도록 하는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1. 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2"/>
              </a:rPr>
              <a:t>뉴버드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2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2"/>
              </a:rPr>
              <a:t>NEWBIRD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‘NEWBIRD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의 다양한 소식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 섹션은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아티클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들의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목록뷰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좌측에 썸네일이 부드럽게 떠다니고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유동적이고 부드러운 인터랙션이 인상적임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조금만 손보면 소식 및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아티클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등 컨텐츠들 보기 중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리스트뷰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쓸수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있을듯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2. (</a:t>
            </a:r>
            <a:r>
              <a:rPr lang="ko-KR" altLang="en-US" sz="2000" dirty="0" err="1">
                <a:solidFill>
                  <a:prstClr val="black"/>
                </a:solidFill>
                <a:hlinkClick r:id="rId3"/>
              </a:rPr>
              <a:t>포스코플로우</a:t>
            </a:r>
            <a:r>
              <a:rPr lang="en-US" altLang="ko-KR" sz="2000" dirty="0">
                <a:solidFill>
                  <a:prstClr val="black"/>
                </a:solidFill>
              </a:rPr>
              <a:t>, ‘</a:t>
            </a:r>
            <a:r>
              <a:rPr lang="ko-KR" altLang="ko-KR" b="1" dirty="0"/>
              <a:t>Media </a:t>
            </a:r>
            <a:r>
              <a:rPr lang="ko-KR" altLang="ko-KR" b="1" dirty="0" err="1"/>
              <a:t>Hub</a:t>
            </a:r>
            <a:r>
              <a:rPr lang="en-US" altLang="ko-KR" sz="2000" dirty="0">
                <a:solidFill>
                  <a:prstClr val="black"/>
                </a:solidFill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</a:rPr>
              <a:t>이 섹션</a:t>
            </a:r>
            <a:r>
              <a:rPr lang="en-US" altLang="ko-KR" sz="2000" dirty="0">
                <a:solidFill>
                  <a:prstClr val="black"/>
                </a:solidFill>
              </a:rPr>
              <a:t>. </a:t>
            </a:r>
            <a:r>
              <a:rPr lang="ko-KR" altLang="en-US" sz="2000" dirty="0" err="1">
                <a:solidFill>
                  <a:prstClr val="black"/>
                </a:solidFill>
              </a:rPr>
              <a:t>뉴버드에서</a:t>
            </a:r>
            <a:r>
              <a:rPr lang="ko-KR" altLang="en-US" sz="2000" dirty="0">
                <a:solidFill>
                  <a:prstClr val="black"/>
                </a:solidFill>
              </a:rPr>
              <a:t> 찾은 섹션과 달리 상대적으로 공적이고 차분한 레이아웃과 요소 디자인의 섹션</a:t>
            </a:r>
            <a:r>
              <a:rPr lang="en-US" altLang="ko-KR" sz="2000" dirty="0">
                <a:solidFill>
                  <a:prstClr val="black"/>
                </a:solidFill>
              </a:rPr>
              <a:t>. </a:t>
            </a:r>
            <a:r>
              <a:rPr lang="ko-KR" altLang="en-US" sz="2000" dirty="0">
                <a:solidFill>
                  <a:prstClr val="black"/>
                </a:solidFill>
              </a:rPr>
              <a:t>포스코 사이트에서 쓰이고 </a:t>
            </a:r>
            <a:r>
              <a:rPr lang="ko-KR" altLang="en-US" sz="2000" dirty="0" err="1">
                <a:solidFill>
                  <a:prstClr val="black"/>
                </a:solidFill>
              </a:rPr>
              <a:t>있는대로</a:t>
            </a:r>
            <a:r>
              <a:rPr lang="ko-KR" altLang="en-US" sz="2000" dirty="0">
                <a:solidFill>
                  <a:prstClr val="black"/>
                </a:solidFill>
              </a:rPr>
              <a:t> 보도자료 및 채용공고 및 기타 공지 등 공적성격이 상대적으로 강한 소식 알리기 용도에 </a:t>
            </a:r>
            <a:r>
              <a:rPr lang="ko-KR" altLang="en-US" sz="2000" dirty="0" err="1">
                <a:solidFill>
                  <a:prstClr val="black"/>
                </a:solidFill>
              </a:rPr>
              <a:t>오마주해서</a:t>
            </a:r>
            <a:r>
              <a:rPr lang="ko-KR" altLang="en-US" sz="2000" dirty="0">
                <a:solidFill>
                  <a:prstClr val="black"/>
                </a:solidFill>
              </a:rPr>
              <a:t> 사용할 수 있을 것으로 보인다</a:t>
            </a:r>
            <a:r>
              <a:rPr lang="en-US" altLang="ko-KR" sz="2000" dirty="0">
                <a:solidFill>
                  <a:prstClr val="black"/>
                </a:solidFill>
              </a:rPr>
              <a:t>.)</a:t>
            </a:r>
          </a:p>
          <a:p>
            <a:pPr lvl="0"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3. (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hlinkClick r:id="rId4"/>
              </a:rPr>
              <a:t>N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HN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클라우드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주요 솔루션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혹은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및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고객 사례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보도자료 및 뉴스레터 미리보기 등 세종문화회관의 소식을 종합적으로 전달할 수 있을만한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서브 페이지 등으로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이끌수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있을 능력이 되는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.(CTA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적이다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)</a:t>
            </a:r>
          </a:p>
          <a:p>
            <a:pPr lvl="0"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4.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5"/>
              </a:rPr>
              <a:t>월드비전 글로벌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5"/>
              </a:rPr>
              <a:t>6K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‘Pictures Of Global 6K’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세종문화회관의 몇가지 주요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최근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사건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이벤트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들을 미디어 중심적으로 확연하게 보여줌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그러므로 뇌리에 이미지들이 깊게 각인되게 할 수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있을수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있는 힘을 가지고 있는 것으로 보인다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이미지 효과적 각인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물리적인 이미지 자체이기도 하고 아무튼 여러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많이를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하는구나 등 활발히 활동하고 있다는 인식함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이미지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.)</a:t>
            </a:r>
          </a:p>
          <a:p>
            <a:pPr lvl="0"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5. (</a:t>
            </a:r>
            <a:r>
              <a:rPr lang="en-US" altLang="ko-KR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6"/>
              </a:rPr>
              <a:t>KaKaoBank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6"/>
              </a:rPr>
              <a:t> answer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놓치면 아쉬운 시리즈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같은 범주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큰 범주에서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모두 세종문화회관의 소식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“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이지만 이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섹션은 같은 소식이지만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3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개로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늬앙스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등에 따라 잘 분류함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또한 섹션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내부의 배치 구조 및 위계 질서가 명확하고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선명 깔끔하며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좋아보인다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7873B-31D1-16A5-FD78-D4D22469DDC8}"/>
              </a:ext>
            </a:extLst>
          </p:cNvPr>
          <p:cNvSpPr txBox="1"/>
          <p:nvPr/>
        </p:nvSpPr>
        <p:spPr>
          <a:xfrm>
            <a:off x="154781" y="586522"/>
            <a:ext cx="3789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18505984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4BC57-11F7-7A3A-E4F7-63F89C4F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6368B6C-C5C7-E132-D5D1-3DD0E5AA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B33FE-62BB-67DA-8743-1D154AD5D9A9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⑥ 세종문화회관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기관과 브랜드 이해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AC2D7-BBBA-932C-0233-53CB1553D63A}"/>
              </a:ext>
            </a:extLst>
          </p:cNvPr>
          <p:cNvSpPr txBox="1"/>
          <p:nvPr/>
        </p:nvSpPr>
        <p:spPr>
          <a:xfrm>
            <a:off x="154781" y="1386742"/>
            <a:ext cx="1175147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본 회관의 지향점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아이덴티티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전하고자 하는 감성과 느낌을 제대로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담아야 하는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가장 브랜딩 중요한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UI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1.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2"/>
              </a:rPr>
              <a:t>토스임팩트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사이트는 토스의 여정과 서비스적 사명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(ESG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느낌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을 담은 사이트임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토스가 만들어 온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금융의 기준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텍스트 아래의 섹션은 카드 형태로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3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가지의 텍스트들이 각각의 모서리에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위치해있으며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토스가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전달하고픈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메시지를 짧게 핵심을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보여주고있음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길고 지루하고 도표를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해석해야하는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단일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ESG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페이지가 아닌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또한 그 아래에는 많은 미니 카드 슬라이드들이 있으며 클릭하거나 드래그 해서 카드를 변경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카드를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볼수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이러한 섹션을 세종문화회관의 고유한 서사를 알리는데 쓰기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한마디로 서사를 알리는데 탁월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미디어 추가 등 보완조치 당연필요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2. 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3"/>
              </a:rPr>
              <a:t>포스코플로우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세계 곳곳에서 가치를 연결합니다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섹션같이 웅장한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실사적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동영상 배경에 수치를 미디어와 함께 강조하는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또한 각각의 수치가 표시되는 요소에 마우스를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호버하면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요소의 미디어가 요소를 전부 차지하며 성과 및 수치를 시각적으로 보여주고 있음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이러한 섹션은 사회공헌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(ESG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쪽 느낌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이나 이용객 만족도 수치 등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수치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강조하는데에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탁월할 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(UI)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로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3. (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4"/>
              </a:rPr>
              <a:t>SK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4"/>
              </a:rPr>
              <a:t>hynix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4"/>
              </a:rPr>
              <a:t> Talent Hub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끊임없이 도전하며 더 큰 행복을 만들어갈 당신을 기다립니다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우리의 즐거운 도전이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새로운 세상을 만드는 이야기가 됩니다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등이 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 두 섹션들은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섹션 중 제일 마지막에 해당하는 이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여섯번째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섹션의 목적인 기관과 브랜드 이해라는 목적을 잘 해낼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보는이에게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전달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섹션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UI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로 보임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.)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길지않은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핵심적인 메시지로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(Hooking)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 이의 이목을 끄는데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좋아보이며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서브 페이지로 이끌어갈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를 잘 배치하기도 최적화되어 있어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즉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보는이로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하여금 궁금하게 하여 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여섯번째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섹션과 같은 결의 서브 페이지로 이끌어갈 힘이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있어보임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3D11A-5803-0DB8-D6AE-53523ED27FE9}"/>
              </a:ext>
            </a:extLst>
          </p:cNvPr>
          <p:cNvSpPr txBox="1"/>
          <p:nvPr/>
        </p:nvSpPr>
        <p:spPr>
          <a:xfrm>
            <a:off x="154781" y="586522"/>
            <a:ext cx="3050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23195317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1B121-6F43-2DE5-966C-1244DBD5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EBB97F9-A910-6C4D-5BDB-6D64551B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61863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메인콘텐츠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레퍼런스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A1407-3639-EC25-038E-CB5374325B7E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⑥ 세종문화회관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-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기관과 브랜드 이해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19812-BB8C-1478-9033-6CE11990B5F5}"/>
              </a:ext>
            </a:extLst>
          </p:cNvPr>
          <p:cNvSpPr txBox="1"/>
          <p:nvPr/>
        </p:nvSpPr>
        <p:spPr>
          <a:xfrm>
            <a:off x="154781" y="1386742"/>
            <a:ext cx="1175147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본 회관의 지향점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아이덴티티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전하고자 하는 감성과 느낌을 제대로 담아야 하는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가장 브랜딩 중요한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UI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4. (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  <a:hlinkClick r:id="rId2"/>
              </a:rPr>
              <a:t>핀사이트랩스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‘Architecture of Wealth’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세종문회회관이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지니고 또 주창하고 있는 가치 및 철학적인 것들을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시각화하여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또한 구조계층적 다이어그램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그래픽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도표 등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으로 표현한다면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보는이로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하여금 세종문화회관이 무엇을 중히 여기는지 빠르고 직관적으로 알 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5. 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3"/>
              </a:rPr>
              <a:t>대한민국 청와대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국정비전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’, ‘123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대 국정과제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‘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섹션을 잘 수정하고 활용한다면 세종문화회관의 목표 및 과업 과제에 대해 홍보하는데 좋을 것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또한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자세히보기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등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CTA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적 요소들을 추가 및 기존요소 개선을 통해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관련있는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서브 사이트로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방문하겠금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유도 또한 가능할 것으로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6. (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GC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  <a:hlinkClick r:id="rId4"/>
              </a:rPr>
              <a:t>녹십자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사이트 전체는 이 여섯째 콘텐츠와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관련있는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서브 페이지 자체를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만들때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오마주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하는 등 상당히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활용할수도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보이고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, ‘ESG’, ‘Newsroom’, ‘Contact us’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등은 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여섯번째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컨텐츠를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만들때에도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상당히 참고할 수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있을것으로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보임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특히 레이아웃이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깔끔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선명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직관적이고 감각적으로 브랜드 이미지 각인하는데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좋을것으로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보인다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D4912-7404-4177-7EC1-906AFD82F94E}"/>
              </a:ext>
            </a:extLst>
          </p:cNvPr>
          <p:cNvSpPr txBox="1"/>
          <p:nvPr/>
        </p:nvSpPr>
        <p:spPr>
          <a:xfrm>
            <a:off x="154781" y="586522"/>
            <a:ext cx="3050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41728229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3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FC533-A555-D9EF-8FC4-157744DA9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A5180F3-7790-E62A-015D-9AB8E208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751470" cy="662782"/>
          </a:xfrm>
        </p:spPr>
        <p:txBody>
          <a:bodyPr>
            <a:noAutofit/>
          </a:bodyPr>
          <a:lstStyle/>
          <a:p>
            <a:pPr algn="ctr"/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번외</a:t>
            </a:r>
            <a:r>
              <a:rPr lang="en-US" altLang="ko-KR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) </a:t>
            </a:r>
            <a:r>
              <a:rPr lang="ko-KR" altLang="en-US" sz="32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추가적인 레퍼런스 </a:t>
            </a:r>
            <a:r>
              <a:rPr lang="en-US" altLang="ko-KR" sz="14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&lt;</a:t>
            </a:r>
            <a:r>
              <a:rPr lang="ko-KR" altLang="en-US" sz="14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리뉴얼해서</a:t>
            </a:r>
            <a:r>
              <a:rPr lang="ko-KR" altLang="en-US" sz="14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만들어질 사이트에 있으면 </a:t>
            </a:r>
            <a:r>
              <a:rPr lang="ko-KR" altLang="en-US" sz="1400" dirty="0" err="1">
                <a:latin typeface="PnPCheonRiMaChe UB" panose="02010600000101010101" pitchFamily="2" charset="-120"/>
                <a:ea typeface="PnPCheonRiMaChe UB" panose="02010600000101010101" pitchFamily="2" charset="-120"/>
              </a:rPr>
              <a:t>좋을듯한</a:t>
            </a:r>
            <a:r>
              <a:rPr lang="ko-KR" altLang="en-US" sz="14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 효과 및 인터랙션 아이디어</a:t>
            </a:r>
            <a:r>
              <a:rPr lang="en-US" altLang="ko-KR" sz="1400" dirty="0">
                <a:latin typeface="PnPCheonRiMaChe UB" panose="02010600000101010101" pitchFamily="2" charset="-120"/>
                <a:ea typeface="PnPCheonRiMaChe UB" panose="02010600000101010101" pitchFamily="2" charset="-120"/>
              </a:rPr>
              <a:t>&gt;</a:t>
            </a:r>
            <a:endParaRPr lang="ko-KR" altLang="en-US" sz="1400" dirty="0">
              <a:latin typeface="PnPCheonRiMaChe UB" panose="02010600000101010101" pitchFamily="2" charset="-120"/>
              <a:ea typeface="PnPCheonRiMaChe UB" panose="02010600000101010101" pitchFamily="2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FCCB2-9424-7500-25D1-5CDBAFACBA3C}"/>
              </a:ext>
            </a:extLst>
          </p:cNvPr>
          <p:cNvSpPr txBox="1"/>
          <p:nvPr/>
        </p:nvSpPr>
        <p:spPr>
          <a:xfrm>
            <a:off x="154781" y="986632"/>
            <a:ext cx="862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Ⓐ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번외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추가적인 레퍼런스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F864C-8E88-6C88-9E1F-43910AB6F4AB}"/>
              </a:ext>
            </a:extLst>
          </p:cNvPr>
          <p:cNvSpPr txBox="1"/>
          <p:nvPr/>
        </p:nvSpPr>
        <p:spPr>
          <a:xfrm>
            <a:off x="154781" y="1386742"/>
            <a:ext cx="117514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사이트를 디자인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만드는 전과정을 이하 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디자인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&gt;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이라 명명한다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.)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하는데에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적용하면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좋을듯한</a:t>
            </a:r>
            <a:endParaRPr lang="en-US" altLang="ko-KR" sz="2000" dirty="0">
              <a:solidFill>
                <a:prstClr val="black"/>
              </a:solidFill>
              <a:latin typeface="페이퍼로지 6 SemiBold"/>
              <a:ea typeface="페이퍼로지 6 SemiBold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각종 디자인 아이디어 등</a:t>
            </a:r>
            <a:endParaRPr lang="en-US" altLang="ko-KR" sz="2000" dirty="0">
              <a:solidFill>
                <a:prstClr val="black"/>
              </a:solidFill>
              <a:latin typeface="페이퍼로지 6 SemiBold"/>
              <a:ea typeface="페이퍼로지 6 SemiBold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1. 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  <a:hlinkClick r:id="rId2"/>
              </a:rPr>
              <a:t>핀사이트랩스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경험이 설계의 차이를 만듭니다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’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섹션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이 섹션이 등장하고 계속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스크롤다운하면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길고 얇은 직선이 세로 높이가 넓어지며 마치 창문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하늘이 열리는듯한 효과를 보여준다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애초 이 직선 안에는 그래픽 등 또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다른것이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보이지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않은채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있었고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스크롤다운 하면서 안에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있는것들이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 보이는 것이다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사이트를 접속할 때에 이러한 효과가 나오고 직선이 직사각형이 되면서 그 안에 사이트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최상단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/>
                <a:ea typeface="페이퍼로지 6 SemiBold"/>
                <a:cs typeface="+mn-cs"/>
              </a:rPr>
              <a:t>히어로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부터 보이게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하는것이다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보는이로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하여금 사이트 초입부터 몰입감을 </a:t>
            </a:r>
            <a:r>
              <a:rPr lang="ko-KR" altLang="en-US" sz="2000" dirty="0" err="1">
                <a:solidFill>
                  <a:prstClr val="black"/>
                </a:solidFill>
                <a:latin typeface="페이퍼로지 6 SemiBold"/>
                <a:ea typeface="페이퍼로지 6 SemiBold"/>
              </a:rPr>
              <a:t>줄수가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 있다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다만 지나치게 효과 진행시간이 길면 체류 이탈로 이어질 수 있으니 주의하자</a:t>
            </a:r>
            <a:r>
              <a:rPr lang="en-US" altLang="ko-KR" sz="2000" dirty="0">
                <a:solidFill>
                  <a:prstClr val="black"/>
                </a:solidFill>
                <a:latin typeface="페이퍼로지 6 SemiBold"/>
                <a:ea typeface="페이퍼로지 6 SemiBold"/>
              </a:rPr>
              <a:t>.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/>
              <a:ea typeface="페이퍼로지 6 Semi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F3C0A-E9D7-0BE0-2C19-92E84D41BB67}"/>
              </a:ext>
            </a:extLst>
          </p:cNvPr>
          <p:cNvSpPr txBox="1"/>
          <p:nvPr/>
        </p:nvSpPr>
        <p:spPr>
          <a:xfrm>
            <a:off x="154781" y="586522"/>
            <a:ext cx="3050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메인콘텐츠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nPCheonRiMaChe SB" panose="02010600000101010101" pitchFamily="2" charset="-120"/>
                <a:ea typeface="PnPCheonRiMaChe SB" panose="02010600000101010101" pitchFamily="2" charset="-120"/>
                <a:cs typeface="+mn-cs"/>
              </a:rPr>
              <a:t>CTA</a:t>
            </a:r>
          </a:p>
        </p:txBody>
      </p:sp>
    </p:spTree>
    <p:extLst>
      <p:ext uri="{BB962C8B-B14F-4D97-AF65-F5344CB8AC3E}">
        <p14:creationId xmlns:p14="http://schemas.microsoft.com/office/powerpoint/2010/main" val="781600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D6CB-D50B-5F4F-DBA3-703D89E4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EF15FD-0A46-7133-5824-24D1385C3828}"/>
              </a:ext>
            </a:extLst>
          </p:cNvPr>
          <p:cNvSpPr txBox="1"/>
          <p:nvPr/>
        </p:nvSpPr>
        <p:spPr>
          <a:xfrm>
            <a:off x="4731684" y="203200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사이트맵</a:t>
            </a:r>
            <a:r>
              <a:rPr lang="en-US" altLang="ko-KR" dirty="0"/>
              <a:t>, IA</a:t>
            </a:r>
            <a:r>
              <a:rPr lang="ko-KR" altLang="en-US" dirty="0"/>
              <a:t> 등 </a:t>
            </a:r>
            <a:r>
              <a:rPr lang="ko-KR" altLang="en-US" dirty="0" err="1"/>
              <a:t>작업물</a:t>
            </a:r>
            <a:r>
              <a:rPr lang="ko-KR" altLang="en-US" dirty="0"/>
              <a:t> 모음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767E00-AA0B-C6C1-CBCA-22796540517A}"/>
              </a:ext>
            </a:extLst>
          </p:cNvPr>
          <p:cNvSpPr txBox="1"/>
          <p:nvPr/>
        </p:nvSpPr>
        <p:spPr>
          <a:xfrm>
            <a:off x="293612" y="771236"/>
            <a:ext cx="929132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기존사이트분석</a:t>
            </a:r>
            <a:r>
              <a:rPr lang="en-US" altLang="ko-KR" dirty="0"/>
              <a:t>(</a:t>
            </a:r>
            <a:r>
              <a:rPr lang="ko-KR" altLang="en-US" dirty="0" err="1"/>
              <a:t>스튜디오카일</a:t>
            </a:r>
            <a:r>
              <a:rPr lang="en-US" altLang="ko-KR" dirty="0"/>
              <a:t>): </a:t>
            </a:r>
            <a:r>
              <a:rPr lang="en-US" altLang="ko-KR" dirty="0">
                <a:hlinkClick r:id="rId2"/>
              </a:rPr>
              <a:t>https://studiokyle.kr/main/index.php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분석내용정리 </a:t>
            </a:r>
            <a:r>
              <a:rPr lang="en-US" altLang="ko-KR" dirty="0"/>
              <a:t>PDF&gt; </a:t>
            </a:r>
            <a:r>
              <a:rPr lang="ko-KR" altLang="en-US" dirty="0">
                <a:hlinkClick r:id="rId3"/>
              </a:rPr>
              <a:t>링크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리뉴얼사이트</a:t>
            </a:r>
            <a:r>
              <a:rPr lang="ko-KR" altLang="ko-KR" dirty="0"/>
              <a:t> 분석</a:t>
            </a:r>
            <a:r>
              <a:rPr lang="en-US" altLang="ko-KR" dirty="0"/>
              <a:t>(</a:t>
            </a:r>
            <a:r>
              <a:rPr lang="ko-KR" altLang="en-US" dirty="0"/>
              <a:t>세종문화회관</a:t>
            </a:r>
            <a:r>
              <a:rPr lang="en-US" altLang="ko-KR" dirty="0"/>
              <a:t>): </a:t>
            </a:r>
            <a:r>
              <a:rPr lang="en-US" altLang="ko-KR" dirty="0">
                <a:hlinkClick r:id="rId4"/>
              </a:rPr>
              <a:t>https://www.sejongpac.or.kr/portal/main/main.do</a:t>
            </a:r>
            <a:endParaRPr lang="en-US" altLang="ko-KR" dirty="0"/>
          </a:p>
          <a:p>
            <a:r>
              <a:rPr lang="ko-KR" altLang="en-US" dirty="0" err="1"/>
              <a:t>메인콘텐츠순서</a:t>
            </a:r>
            <a:r>
              <a:rPr lang="en-US" altLang="ko-KR" dirty="0"/>
              <a:t>: </a:t>
            </a:r>
            <a:r>
              <a:rPr lang="ko-KR" altLang="en-US" dirty="0">
                <a:hlinkClick r:id="rId5" action="ppaction://hlinksldjump"/>
              </a:rPr>
              <a:t>본 문서 </a:t>
            </a:r>
            <a:r>
              <a:rPr lang="en-US" altLang="ko-KR" dirty="0">
                <a:hlinkClick r:id="rId5" action="ppaction://hlinksldjump"/>
              </a:rPr>
              <a:t>p45</a:t>
            </a:r>
            <a:endParaRPr lang="en-US" altLang="ko-KR" dirty="0"/>
          </a:p>
          <a:p>
            <a:r>
              <a:rPr lang="ko-KR" altLang="en-US" dirty="0" err="1"/>
              <a:t>사이트맵</a:t>
            </a:r>
            <a:r>
              <a:rPr lang="en-US" altLang="ko-KR" dirty="0"/>
              <a:t>(</a:t>
            </a:r>
            <a:r>
              <a:rPr lang="ko-KR" altLang="en-US" dirty="0"/>
              <a:t>네비게이션</a:t>
            </a:r>
            <a:r>
              <a:rPr lang="en-US" altLang="ko-KR" dirty="0"/>
              <a:t>): </a:t>
            </a:r>
            <a:r>
              <a:rPr lang="ko-KR" altLang="en-US" dirty="0">
                <a:hlinkClick r:id="rId6"/>
              </a:rPr>
              <a:t>링크</a:t>
            </a:r>
            <a:endParaRPr lang="en-US" altLang="ko-KR" dirty="0"/>
          </a:p>
          <a:p>
            <a:r>
              <a:rPr lang="ko-KR" altLang="en-US" dirty="0"/>
              <a:t>와이어프레임</a:t>
            </a:r>
            <a:r>
              <a:rPr lang="en-US" altLang="ko-KR" dirty="0"/>
              <a:t>: </a:t>
            </a:r>
            <a:r>
              <a:rPr lang="ko-KR" altLang="en-US" dirty="0">
                <a:hlinkClick r:id="rId6"/>
              </a:rPr>
              <a:t>링크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피그마</a:t>
            </a:r>
            <a:r>
              <a:rPr lang="ko-KR" altLang="en-US" dirty="0"/>
              <a:t> 실습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&lt;</a:t>
            </a:r>
            <a:r>
              <a:rPr lang="ko-KR" altLang="en-US" dirty="0"/>
              <a:t>컴포넌트</a:t>
            </a:r>
            <a:r>
              <a:rPr lang="en-US" altLang="ko-KR" dirty="0"/>
              <a:t>&gt; </a:t>
            </a:r>
            <a:r>
              <a:rPr lang="ko-KR" altLang="en-US" dirty="0">
                <a:hlinkClick r:id="rId7"/>
              </a:rPr>
              <a:t>링크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 err="1"/>
              <a:t>버거킹</a:t>
            </a:r>
            <a:r>
              <a:rPr lang="ko-KR" altLang="en-US" dirty="0"/>
              <a:t> 로그인 디자인</a:t>
            </a:r>
            <a:r>
              <a:rPr lang="en-US" altLang="ko-KR" dirty="0"/>
              <a:t>&gt; </a:t>
            </a:r>
            <a:r>
              <a:rPr lang="ko-KR" altLang="en-US" dirty="0">
                <a:hlinkClick r:id="rId8"/>
              </a:rPr>
              <a:t>링크</a:t>
            </a:r>
            <a:endParaRPr lang="en-US" altLang="ko-KR" dirty="0"/>
          </a:p>
          <a:p>
            <a:r>
              <a:rPr lang="en-US" altLang="ko-KR" dirty="0"/>
              <a:t>&lt;Layout &amp; Grid&gt; </a:t>
            </a:r>
            <a:r>
              <a:rPr lang="ko-KR" altLang="en-US" dirty="0">
                <a:hlinkClick r:id="rId9"/>
              </a:rPr>
              <a:t>링크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ChatGPT</a:t>
            </a:r>
          </a:p>
          <a:p>
            <a:r>
              <a:rPr lang="en-US" altLang="ko-KR" dirty="0"/>
              <a:t>&lt;</a:t>
            </a:r>
            <a:r>
              <a:rPr lang="ko-KR" altLang="en-US" dirty="0"/>
              <a:t>프로젝트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dirty="0">
                <a:hlinkClick r:id="rId10"/>
              </a:rPr>
              <a:t>링크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0509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페이퍼로지 6 SemiBold">
      <a:majorFont>
        <a:latin typeface="페이퍼로지 6 SemiBold"/>
        <a:ea typeface="페이퍼로지 6 SemiBold"/>
        <a:cs typeface=""/>
      </a:majorFont>
      <a:minorFont>
        <a:latin typeface="페이퍼로지 6 SemiBold"/>
        <a:ea typeface="페이퍼로지 6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1007</TotalTime>
  <Words>6883</Words>
  <Application>Microsoft Office PowerPoint</Application>
  <PresentationFormat>와이드스크린</PresentationFormat>
  <Paragraphs>626</Paragraphs>
  <Slides>62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5" baseType="lpstr">
      <vt:lpstr>맑은 고딕</vt:lpstr>
      <vt:lpstr>PnPCheonRiMaChe LB</vt:lpstr>
      <vt:lpstr>PnPCheonRiMaChe SB</vt:lpstr>
      <vt:lpstr>Arial</vt:lpstr>
      <vt:lpstr>PnPCheonRiMaChe UB</vt:lpstr>
      <vt:lpstr>PKS 제목명조체</vt:lpstr>
      <vt:lpstr>PKS 붓글체-굵은</vt:lpstr>
      <vt:lpstr>PKS 장고직체-가는</vt:lpstr>
      <vt:lpstr>PKS 흘림체-흑</vt:lpstr>
      <vt:lpstr>PKS 붓글체-가는</vt:lpstr>
      <vt:lpstr>PKS 붓글체</vt:lpstr>
      <vt:lpstr>페이퍼로지 6 SemiBold</vt:lpstr>
      <vt:lpstr>Office 테마</vt:lpstr>
      <vt:lpstr>PowerPoint 프레젠테이션</vt:lpstr>
      <vt:lpstr>PowerPoint 프레젠테이션</vt:lpstr>
      <vt:lpstr>리뉴얼 필요 의견 이유</vt:lpstr>
      <vt:lpstr>무엇을 하는 조직이고 무엇을 제공하는가</vt:lpstr>
      <vt:lpstr>무엇을 하는 조직이고 무엇을 제공하는가</vt:lpstr>
      <vt:lpstr>본 사이트 주 이용자는?</vt:lpstr>
      <vt:lpstr>본 사이트 주 이용자는?</vt:lpstr>
      <vt:lpstr>본 사이트의 목적은?</vt:lpstr>
      <vt:lpstr>사이트의 히어로 분석</vt:lpstr>
      <vt:lpstr>사이트의 히어로 분석</vt:lpstr>
      <vt:lpstr>사이트의 히어로 분석</vt:lpstr>
      <vt:lpstr>콘텐츠 흐름은 어떠한가?</vt:lpstr>
      <vt:lpstr>콘텐츠 흐름은 어떠한가?</vt:lpstr>
      <vt:lpstr>마케팅: 설득</vt:lpstr>
      <vt:lpstr>어떤 행동을 하길 원하는가?</vt:lpstr>
      <vt:lpstr>BRANDING?</vt:lpstr>
      <vt:lpstr>BRANDING?</vt:lpstr>
      <vt:lpstr>디자인으로 표현함</vt:lpstr>
      <vt:lpstr>디자인으로 표현함</vt:lpstr>
      <vt:lpstr>디자인으로 표현함</vt:lpstr>
      <vt:lpstr>정리</vt:lpstr>
      <vt:lpstr>분석 내용을 정리하다</vt:lpstr>
      <vt:lpstr>세종문화회관 홈페지 문제 3가지</vt:lpstr>
      <vt:lpstr>1. 먼저 기준이 되는 기존 문제</vt:lpstr>
      <vt:lpstr>레퍼런스(구조참고용)</vt:lpstr>
      <vt:lpstr>A. 모두예술극장</vt:lpstr>
      <vt:lpstr>A. 모두예술극장</vt:lpstr>
      <vt:lpstr>B. 서울아트마켓</vt:lpstr>
      <vt:lpstr>B. 서울아트마켓</vt:lpstr>
      <vt:lpstr>B. 서울아트마켓</vt:lpstr>
      <vt:lpstr>C. 강진군문화관광재단</vt:lpstr>
      <vt:lpstr>C. 강진군문화관광재단</vt:lpstr>
      <vt:lpstr>정리</vt:lpstr>
      <vt:lpstr>2. 세 레퍼런스의 종합 분석</vt:lpstr>
      <vt:lpstr>3. 최종적으로 참고할 방향</vt:lpstr>
      <vt:lpstr>3. 최종적으로 참고할 방향</vt:lpstr>
      <vt:lpstr>레퍼런스(디자인참고용)</vt:lpstr>
      <vt:lpstr>PowerPoint 프레젠테이션</vt:lpstr>
      <vt:lpstr>PowerPoint 프레젠테이션</vt:lpstr>
      <vt:lpstr>PowerPoint 프레젠테이션</vt:lpstr>
      <vt:lpstr>PowerPoint 프레젠테이션</vt:lpstr>
      <vt:lpstr>정보구조설계시안도</vt:lpstr>
      <vt:lpstr>PowerPoint 프레젠테이션</vt:lpstr>
      <vt:lpstr>PowerPoint 프레젠테이션</vt:lpstr>
      <vt:lpstr>메인콘텐츠 및 최상위 네비게이션 메뉴 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디자인 레퍼런스 찾기 (각 여섯개 메인콘텐츠들은 자기와 같은 결의 서브페이지로 이끌어갈 힘이 있어야 한다.ex: 여섯째 메인콘텐츠 같은 경우에는 &lt;세종문화회관&gt; 혹은 그 산하 서브페이지에 보는이로 하여금 접근 가능토록 하는 CTA적 요소가 반드시 있어야한다.</vt:lpstr>
      <vt:lpstr>메인콘텐츠 레퍼런스</vt:lpstr>
      <vt:lpstr>메인콘텐츠 레퍼런스</vt:lpstr>
      <vt:lpstr>메인콘텐츠 레퍼런스</vt:lpstr>
      <vt:lpstr>메인콘텐츠 레퍼런스</vt:lpstr>
      <vt:lpstr>메인콘텐츠 레퍼런스</vt:lpstr>
      <vt:lpstr>메인콘텐츠 레퍼런스</vt:lpstr>
      <vt:lpstr>메인콘텐츠 레퍼런스</vt:lpstr>
      <vt:lpstr>메인콘텐츠 레퍼런스</vt:lpstr>
      <vt:lpstr>번외) 추가적인 레퍼런스 &lt;리뉴얼해서 만들어질 사이트에 있으면 좋을듯한 효과 및 인터랙션 아이디어&gt;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이호세</dc:creator>
  <cp:lastModifiedBy>hi</cp:lastModifiedBy>
  <cp:revision>68</cp:revision>
  <dcterms:created xsi:type="dcterms:W3CDTF">2026-08-25T04:05:50Z</dcterms:created>
  <dcterms:modified xsi:type="dcterms:W3CDTF">2026-09-23T00:33:13Z</dcterms:modified>
</cp:coreProperties>
</file>